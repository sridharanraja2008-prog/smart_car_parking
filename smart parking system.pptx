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42BF39-F161-4E7A-870E-2F772FDC376D}" v="1" dt="2026-06-20T13:18:29.5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80" autoAdjust="0"/>
    <p:restoredTop sz="89063" autoAdjust="0"/>
  </p:normalViewPr>
  <p:slideViewPr>
    <p:cSldViewPr snapToGrid="0" snapToObjects="1">
      <p:cViewPr varScale="1">
        <p:scale>
          <a:sx n="81" d="100"/>
          <a:sy n="81" d="100"/>
        </p:scale>
        <p:origin x="57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2942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457200" y="228600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Thinking &amp; Innovation</a:t>
            </a:r>
            <a:endParaRPr lang="en-US" sz="4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457200" y="331012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kern="0" spc="50" dirty="0">
                <a:solidFill>
                  <a:schemeClr val="accent4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Empathy Talk Presentation</a:t>
            </a:r>
            <a:endParaRPr lang="en-US" sz="28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7" name="Shape 4"/>
          <p:cNvSpPr/>
          <p:nvPr/>
        </p:nvSpPr>
        <p:spPr>
          <a:xfrm>
            <a:off x="640080" y="4361688"/>
            <a:ext cx="5285232" cy="1755648"/>
          </a:xfrm>
          <a:prstGeom prst="roundRect">
            <a:avLst>
              <a:gd name="adj" fmla="val 5208"/>
            </a:avLst>
          </a:prstGeom>
          <a:solidFill>
            <a:srgbClr val="0E2A5E"/>
          </a:solidFill>
          <a:ln w="12700">
            <a:solidFill>
              <a:srgbClr val="24467F"/>
            </a:solidFill>
            <a:prstDash val="solid"/>
          </a:ln>
          <a:effectLst>
            <a:outerShdw blurRad="88900" dist="38100" dir="5400000" algn="bl" rotWithShape="0">
              <a:srgbClr val="071A45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6008" y="4560637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71728" y="4822972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/ Batch No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150" dirty="0">
                <a:solidFill>
                  <a:srgbClr val="C3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Team Aqua</a:t>
            </a:r>
            <a:endParaRPr lang="en-US" sz="11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&amp; Dept / Section: </a:t>
            </a:r>
            <a:r>
              <a:rPr lang="en-US" sz="1150" b="1" dirty="0">
                <a:solidFill>
                  <a:srgbClr val="C3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II Year-</a:t>
            </a:r>
            <a:r>
              <a:rPr lang="en-US" sz="1150" b="1" dirty="0" err="1">
                <a:solidFill>
                  <a:srgbClr val="C3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</a:t>
            </a:r>
            <a:endParaRPr lang="en-US" sz="11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Members:  </a:t>
            </a:r>
            <a:endParaRPr lang="en-US" sz="11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C3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Nishanth - 25SY042 </a:t>
            </a:r>
            <a:endParaRPr lang="en-US" sz="11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C3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Sridharan - 25SY050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4361688"/>
            <a:ext cx="5285232" cy="1755648"/>
          </a:xfrm>
          <a:prstGeom prst="roundRect">
            <a:avLst>
              <a:gd name="adj" fmla="val 5208"/>
            </a:avLst>
          </a:prstGeom>
          <a:solidFill>
            <a:srgbClr val="0E2A5E"/>
          </a:solidFill>
          <a:ln w="12700">
            <a:solidFill>
              <a:srgbClr val="24467F"/>
            </a:solidFill>
            <a:prstDash val="solid"/>
          </a:ln>
          <a:effectLst>
            <a:outerShdw blurRad="88900" dist="38100" dir="5400000" algn="bl" rotWithShape="0">
              <a:srgbClr val="071A45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519672" y="4510421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MENTOR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542532" y="4693301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 </a:t>
            </a:r>
            <a:r>
              <a:rPr lang="en-US" sz="1150" b="1" dirty="0" err="1">
                <a:solidFill>
                  <a:srgbClr val="C3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Mrs.B.Suchitra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Designation:  </a:t>
            </a:r>
            <a:r>
              <a:rPr lang="en-US" sz="1150" b="1" dirty="0">
                <a:solidFill>
                  <a:srgbClr val="C3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</a:t>
            </a:r>
            <a:r>
              <a:rPr lang="en-US" sz="1150" b="1" dirty="0" err="1">
                <a:solidFill>
                  <a:srgbClr val="C3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Proffesor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Department:  </a:t>
            </a:r>
            <a:r>
              <a:rPr lang="en-US" sz="1150" b="1" dirty="0">
                <a:solidFill>
                  <a:srgbClr val="C3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</a:t>
            </a:r>
            <a:r>
              <a:rPr lang="en-US" sz="1150" b="1" dirty="0" err="1">
                <a:solidFill>
                  <a:srgbClr val="C3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Secyrity</a:t>
            </a:r>
            <a:endParaRPr lang="en-US" sz="11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BB6F3AC-A25B-FA81-D01B-8830AA316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9471" y="766875"/>
            <a:ext cx="4462991" cy="12424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5C50F42-22C5-4882-0565-C577D168A2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3654" y="371776"/>
            <a:ext cx="1325426" cy="6035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n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37744"/>
            <a:ext cx="2212848" cy="61630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2920" y="914400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7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Our User</a:t>
            </a:r>
            <a:endParaRPr lang="en-US" sz="2900" dirty="0"/>
          </a:p>
        </p:txBody>
      </p:sp>
      <p:sp>
        <p:nvSpPr>
          <p:cNvPr id="5" name="Shape 1"/>
          <p:cNvSpPr/>
          <p:nvPr/>
        </p:nvSpPr>
        <p:spPr>
          <a:xfrm>
            <a:off x="640080" y="1691640"/>
            <a:ext cx="3977640" cy="4297680"/>
          </a:xfrm>
          <a:prstGeom prst="roundRect">
            <a:avLst>
              <a:gd name="adj" fmla="val 2299"/>
            </a:avLst>
          </a:prstGeom>
          <a:solidFill>
            <a:srgbClr val="EDEFF5"/>
          </a:solidFill>
          <a:ln w="12700">
            <a:solidFill>
              <a:srgbClr val="DFE4EE"/>
            </a:solidFill>
            <a:prstDash val="solid"/>
          </a:ln>
          <a:effectLst>
            <a:outerShdw blurRad="88900" dist="38100" dir="5400000" algn="bl" rotWithShape="0">
              <a:srgbClr val="071A45">
                <a:alpha val="12000"/>
              </a:srgbClr>
            </a:outerShdw>
          </a:effectLst>
        </p:spPr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1720" y="3246120"/>
            <a:ext cx="594360" cy="59436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914400" y="39776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photo or sketch of your user</a:t>
            </a:r>
            <a:endParaRPr lang="en-US" sz="1100" dirty="0"/>
          </a:p>
        </p:txBody>
      </p:sp>
      <p:sp>
        <p:nvSpPr>
          <p:cNvPr id="8" name="Shape 3"/>
          <p:cNvSpPr/>
          <p:nvPr/>
        </p:nvSpPr>
        <p:spPr>
          <a:xfrm>
            <a:off x="4937760" y="1691640"/>
            <a:ext cx="6629400" cy="713232"/>
          </a:xfrm>
          <a:prstGeom prst="roundRect">
            <a:avLst>
              <a:gd name="adj" fmla="val 8974"/>
            </a:avLst>
          </a:prstGeom>
          <a:solidFill>
            <a:srgbClr val="F5F7FB"/>
          </a:solidFill>
          <a:ln w="12700">
            <a:solidFill>
              <a:srgbClr val="DFE4EE"/>
            </a:solidFill>
            <a:prstDash val="solid"/>
          </a:ln>
          <a:effectLst>
            <a:outerShdw blurRad="88900" dist="38100" dir="5400000" algn="bl" rotWithShape="0">
              <a:srgbClr val="071A45">
                <a:alpha val="12000"/>
              </a:srgbClr>
            </a:outerShdw>
          </a:effectLst>
        </p:spPr>
      </p:sp>
      <p:sp>
        <p:nvSpPr>
          <p:cNvPr id="9" name="Text 4"/>
          <p:cNvSpPr/>
          <p:nvPr/>
        </p:nvSpPr>
        <p:spPr>
          <a:xfrm>
            <a:off x="5138928" y="1837944"/>
            <a:ext cx="6263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5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they?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5138928" y="2042000"/>
            <a:ext cx="6263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i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daily commuter who drives to shopping malls, hospitals, colleges, airports, railway stations and office buildings.</a:t>
            </a:r>
            <a:endParaRPr lang="en-US" sz="1000" dirty="0"/>
          </a:p>
        </p:txBody>
      </p:sp>
      <p:sp>
        <p:nvSpPr>
          <p:cNvPr id="11" name="Shape 6"/>
          <p:cNvSpPr/>
          <p:nvPr/>
        </p:nvSpPr>
        <p:spPr>
          <a:xfrm>
            <a:off x="4937760" y="2514600"/>
            <a:ext cx="3200400" cy="713232"/>
          </a:xfrm>
          <a:prstGeom prst="roundRect">
            <a:avLst>
              <a:gd name="adj" fmla="val 8974"/>
            </a:avLst>
          </a:prstGeom>
          <a:solidFill>
            <a:srgbClr val="F5F7FB"/>
          </a:solidFill>
          <a:ln w="12700">
            <a:solidFill>
              <a:srgbClr val="DFE4EE"/>
            </a:solidFill>
            <a:prstDash val="solid"/>
          </a:ln>
          <a:effectLst>
            <a:outerShdw blurRad="88900" dist="38100" dir="5400000" algn="bl" rotWithShape="0">
              <a:srgbClr val="071A45">
                <a:alpha val="12000"/>
              </a:srgbClr>
            </a:outerShdw>
          </a:effectLst>
        </p:spPr>
      </p:sp>
      <p:sp>
        <p:nvSpPr>
          <p:cNvPr id="12" name="Text 7"/>
          <p:cNvSpPr/>
          <p:nvPr/>
        </p:nvSpPr>
        <p:spPr>
          <a:xfrm>
            <a:off x="5138928" y="266090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5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/ Occupation: Working professional / daily driver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8366760" y="2514600"/>
            <a:ext cx="3200400" cy="713232"/>
          </a:xfrm>
          <a:prstGeom prst="roundRect">
            <a:avLst>
              <a:gd name="adj" fmla="val 8974"/>
            </a:avLst>
          </a:prstGeom>
          <a:solidFill>
            <a:srgbClr val="F5F7FB"/>
          </a:solidFill>
          <a:ln w="12700">
            <a:solidFill>
              <a:srgbClr val="DFE4EE"/>
            </a:solidFill>
            <a:prstDash val="solid"/>
          </a:ln>
          <a:effectLst>
            <a:outerShdw blurRad="88900" dist="38100" dir="5400000" algn="bl" rotWithShape="0">
              <a:srgbClr val="071A45">
                <a:alpha val="12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8567928" y="266090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5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group: 25 - 45 years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4937760" y="3337560"/>
            <a:ext cx="3200400" cy="713232"/>
          </a:xfrm>
          <a:prstGeom prst="roundRect">
            <a:avLst>
              <a:gd name="adj" fmla="val 8974"/>
            </a:avLst>
          </a:prstGeom>
          <a:solidFill>
            <a:srgbClr val="F5F7FB"/>
          </a:solidFill>
          <a:ln w="12700">
            <a:solidFill>
              <a:srgbClr val="DFE4EE"/>
            </a:solidFill>
            <a:prstDash val="solid"/>
          </a:ln>
          <a:effectLst>
            <a:outerShdw blurRad="88900" dist="38100" dir="5400000" algn="bl" rotWithShape="0">
              <a:srgbClr val="071A45">
                <a:alpha val="12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5120640" y="338808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5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Urban area with crowded parking facilities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5138928" y="3697545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i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 the city; drives daily to work, malls, hospitals and other crowded places.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8366760" y="3337560"/>
            <a:ext cx="3200400" cy="713232"/>
          </a:xfrm>
          <a:prstGeom prst="roundRect">
            <a:avLst>
              <a:gd name="adj" fmla="val 8974"/>
            </a:avLst>
          </a:prstGeom>
          <a:solidFill>
            <a:srgbClr val="F5F7FB"/>
          </a:solidFill>
          <a:ln w="12700">
            <a:solidFill>
              <a:srgbClr val="DFE4EE"/>
            </a:solidFill>
            <a:prstDash val="solid"/>
          </a:ln>
          <a:effectLst>
            <a:outerShdw blurRad="88900" dist="38100" dir="5400000" algn="bl" rotWithShape="0">
              <a:srgbClr val="071A45">
                <a:alpha val="12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8567928" y="348386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5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met them: Shopping mall parking lot during peak hours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4937760" y="4224528"/>
            <a:ext cx="6629400" cy="1764792"/>
          </a:xfrm>
          <a:prstGeom prst="roundRect">
            <a:avLst>
              <a:gd name="adj" fmla="val 5181"/>
            </a:avLst>
          </a:prstGeom>
          <a:solidFill>
            <a:srgbClr val="FFF6DD"/>
          </a:solidFill>
          <a:ln w="12700">
            <a:solidFill>
              <a:srgbClr val="F2D98A"/>
            </a:solidFill>
            <a:prstDash val="solid"/>
          </a:ln>
          <a:effectLst>
            <a:outerShdw blurRad="88900" dist="38100" dir="5400000" algn="bl" rotWithShape="0">
              <a:srgbClr val="071A45">
                <a:alpha val="12000"/>
              </a:srgbClr>
            </a:outerShdw>
          </a:effectLst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3792" y="448056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715000" y="444398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their words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5212080" y="4846320"/>
            <a:ext cx="6080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6A5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circled the parking lot three times and still couldn’t find an empty slot — I was already late."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Eshwar College of Engineering  ·  Design Thinking &amp; Innovation</a:t>
            </a:r>
            <a:endParaRPr lang="en-US" sz="9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DD1C5338-9F12-2A72-0991-47C52A36BD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3654" y="371776"/>
            <a:ext cx="1325426" cy="60350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10B7EE5-CC14-3159-4CE0-F37AD18A88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043" y="2404871"/>
            <a:ext cx="3945308" cy="295898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n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37744"/>
            <a:ext cx="2212848" cy="61630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2920" y="914400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7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Built Empathy</a:t>
            </a:r>
            <a:endParaRPr lang="en-US" sz="2900" dirty="0"/>
          </a:p>
        </p:txBody>
      </p:sp>
      <p:sp>
        <p:nvSpPr>
          <p:cNvPr id="5" name="Text 1"/>
          <p:cNvSpPr/>
          <p:nvPr/>
        </p:nvSpPr>
        <p:spPr>
          <a:xfrm>
            <a:off x="502920" y="14630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7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do:  </a:t>
            </a:r>
            <a:r>
              <a:rPr lang="en-US" sz="135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each step, write what YOUR team actually did to understand your user. </a:t>
            </a:r>
            <a:r>
              <a:rPr lang="en-US" sz="1350" i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sample is shown in grey — replace it with your own.</a:t>
            </a:r>
            <a:endParaRPr lang="en-US" sz="1350" dirty="0"/>
          </a:p>
        </p:txBody>
      </p:sp>
      <p:sp>
        <p:nvSpPr>
          <p:cNvPr id="6" name="Shape 2"/>
          <p:cNvSpPr/>
          <p:nvPr/>
        </p:nvSpPr>
        <p:spPr>
          <a:xfrm>
            <a:off x="640080" y="2011680"/>
            <a:ext cx="3529584" cy="4069080"/>
          </a:xfrm>
          <a:prstGeom prst="roundRect">
            <a:avLst>
              <a:gd name="adj" fmla="val 2591"/>
            </a:avLst>
          </a:prstGeom>
          <a:solidFill>
            <a:srgbClr val="F5F7FB"/>
          </a:solidFill>
          <a:ln w="12700">
            <a:solidFill>
              <a:srgbClr val="DFE4EE"/>
            </a:solidFill>
            <a:prstDash val="solid"/>
          </a:ln>
          <a:effectLst>
            <a:outerShdw blurRad="88900" dist="38100" dir="5400000" algn="bl" rotWithShape="0">
              <a:srgbClr val="071A45">
                <a:alpha val="12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1965960" y="2304288"/>
            <a:ext cx="877824" cy="877824"/>
          </a:xfrm>
          <a:prstGeom prst="ellipse">
            <a:avLst/>
          </a:prstGeom>
          <a:solidFill>
            <a:srgbClr val="E9EFFC"/>
          </a:solidFill>
          <a:ln w="12700">
            <a:solidFill>
              <a:srgbClr val="D2DEF8"/>
            </a:solidFill>
            <a:prstDash val="solid"/>
          </a:ln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7984" y="2487168"/>
            <a:ext cx="493776" cy="493776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859536" y="2231136"/>
            <a:ext cx="365760" cy="365760"/>
          </a:xfrm>
          <a:prstGeom prst="ellipse">
            <a:avLst/>
          </a:prstGeom>
          <a:solidFill>
            <a:srgbClr val="FFC01E"/>
          </a:solidFill>
          <a:ln/>
        </p:spPr>
      </p:sp>
      <p:sp>
        <p:nvSpPr>
          <p:cNvPr id="10" name="Text 5"/>
          <p:cNvSpPr/>
          <p:nvPr/>
        </p:nvSpPr>
        <p:spPr>
          <a:xfrm>
            <a:off x="859536" y="2231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640080" y="3310128"/>
            <a:ext cx="3529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7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914400" y="3749040"/>
            <a:ext cx="2980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them in their real setting. What do they struggle with — without saying a word?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896112" y="4709160"/>
            <a:ext cx="3017520" cy="1207008"/>
          </a:xfrm>
          <a:prstGeom prst="roundRect">
            <a:avLst>
              <a:gd name="adj" fmla="val 5303"/>
            </a:avLst>
          </a:prstGeom>
          <a:solidFill>
            <a:srgbClr val="FFF6DD"/>
          </a:solidFill>
          <a:ln w="12700">
            <a:solidFill>
              <a:srgbClr val="F2D98A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1024128" y="4800600"/>
            <a:ext cx="2798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B58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FINDING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1024128" y="5029200"/>
            <a:ext cx="27614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7A5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observed drivers circling repeatedly around mall and hospital parking lots during peak hours, wasting several minutes searching for a vacant slot.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453128" y="2011680"/>
            <a:ext cx="3529584" cy="4069080"/>
          </a:xfrm>
          <a:prstGeom prst="roundRect">
            <a:avLst>
              <a:gd name="adj" fmla="val 2591"/>
            </a:avLst>
          </a:prstGeom>
          <a:solidFill>
            <a:srgbClr val="F5F7FB"/>
          </a:solidFill>
          <a:ln w="12700">
            <a:solidFill>
              <a:srgbClr val="DFE4EE"/>
            </a:solidFill>
            <a:prstDash val="solid"/>
          </a:ln>
          <a:effectLst>
            <a:outerShdw blurRad="88900" dist="38100" dir="5400000" algn="bl" rotWithShape="0">
              <a:srgbClr val="071A45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5779008" y="2304288"/>
            <a:ext cx="877824" cy="877824"/>
          </a:xfrm>
          <a:prstGeom prst="ellipse">
            <a:avLst/>
          </a:prstGeom>
          <a:solidFill>
            <a:srgbClr val="E9EFFC"/>
          </a:solidFill>
          <a:ln w="12700">
            <a:solidFill>
              <a:srgbClr val="D2DEF8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1032" y="2487168"/>
            <a:ext cx="493776" cy="493776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4672584" y="2231136"/>
            <a:ext cx="365760" cy="365760"/>
          </a:xfrm>
          <a:prstGeom prst="ellipse">
            <a:avLst/>
          </a:prstGeom>
          <a:solidFill>
            <a:srgbClr val="FFC01E"/>
          </a:solidFill>
          <a:ln/>
        </p:spPr>
      </p:sp>
      <p:sp>
        <p:nvSpPr>
          <p:cNvPr id="20" name="Text 14"/>
          <p:cNvSpPr/>
          <p:nvPr/>
        </p:nvSpPr>
        <p:spPr>
          <a:xfrm>
            <a:off x="4672584" y="2231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4453128" y="3310128"/>
            <a:ext cx="3529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7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</a:t>
            </a:r>
            <a:endParaRPr lang="en-US" sz="2000" dirty="0"/>
          </a:p>
        </p:txBody>
      </p:sp>
      <p:sp>
        <p:nvSpPr>
          <p:cNvPr id="22" name="Text 16"/>
          <p:cNvSpPr/>
          <p:nvPr/>
        </p:nvSpPr>
        <p:spPr>
          <a:xfrm>
            <a:off x="4727448" y="3749040"/>
            <a:ext cx="2980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and listen. Ask “why” until you reach the real reason.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4709160" y="4709160"/>
            <a:ext cx="3017520" cy="1207008"/>
          </a:xfrm>
          <a:prstGeom prst="roundRect">
            <a:avLst>
              <a:gd name="adj" fmla="val 5303"/>
            </a:avLst>
          </a:prstGeom>
          <a:solidFill>
            <a:srgbClr val="FFF6DD"/>
          </a:solidFill>
          <a:ln w="12700">
            <a:solidFill>
              <a:srgbClr val="F2D98A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4837176" y="4800600"/>
            <a:ext cx="2798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B58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FINDING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4837176" y="5029200"/>
            <a:ext cx="27614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7A5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asked drivers and parking attendants why parking took so long; they said there was no way to know which slots were free before entering.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8266176" y="2011680"/>
            <a:ext cx="3529584" cy="4069080"/>
          </a:xfrm>
          <a:prstGeom prst="roundRect">
            <a:avLst>
              <a:gd name="adj" fmla="val 2591"/>
            </a:avLst>
          </a:prstGeom>
          <a:solidFill>
            <a:srgbClr val="F5F7FB"/>
          </a:solidFill>
          <a:ln w="12700">
            <a:solidFill>
              <a:srgbClr val="DFE4EE"/>
            </a:solidFill>
            <a:prstDash val="solid"/>
          </a:ln>
          <a:effectLst>
            <a:outerShdw blurRad="88900" dist="38100" dir="5400000" algn="bl" rotWithShape="0">
              <a:srgbClr val="071A45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9592056" y="2304288"/>
            <a:ext cx="877824" cy="877824"/>
          </a:xfrm>
          <a:prstGeom prst="ellipse">
            <a:avLst/>
          </a:prstGeom>
          <a:solidFill>
            <a:srgbClr val="E9EFFC"/>
          </a:solidFill>
          <a:ln w="12700">
            <a:solidFill>
              <a:srgbClr val="D2DEF8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4080" y="2487168"/>
            <a:ext cx="493776" cy="493776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8485632" y="2231136"/>
            <a:ext cx="365760" cy="365760"/>
          </a:xfrm>
          <a:prstGeom prst="ellipse">
            <a:avLst/>
          </a:prstGeom>
          <a:solidFill>
            <a:srgbClr val="FFC01E"/>
          </a:solidFill>
          <a:ln/>
        </p:spPr>
      </p:sp>
      <p:sp>
        <p:nvSpPr>
          <p:cNvPr id="30" name="Text 23"/>
          <p:cNvSpPr/>
          <p:nvPr/>
        </p:nvSpPr>
        <p:spPr>
          <a:xfrm>
            <a:off x="8485632" y="2231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8266176" y="3310128"/>
            <a:ext cx="3529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7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2000" dirty="0"/>
          </a:p>
        </p:txBody>
      </p:sp>
      <p:sp>
        <p:nvSpPr>
          <p:cNvPr id="32" name="Text 25"/>
          <p:cNvSpPr/>
          <p:nvPr/>
        </p:nvSpPr>
        <p:spPr>
          <a:xfrm>
            <a:off x="8540496" y="3749040"/>
            <a:ext cx="2980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into their shoes. Separate what they say from what they truly need.</a:t>
            </a:r>
            <a:endParaRPr lang="en-US" sz="1200" dirty="0"/>
          </a:p>
        </p:txBody>
      </p:sp>
      <p:sp>
        <p:nvSpPr>
          <p:cNvPr id="33" name="Shape 26"/>
          <p:cNvSpPr/>
          <p:nvPr/>
        </p:nvSpPr>
        <p:spPr>
          <a:xfrm>
            <a:off x="8522208" y="4709160"/>
            <a:ext cx="3017520" cy="1207008"/>
          </a:xfrm>
          <a:prstGeom prst="roundRect">
            <a:avLst>
              <a:gd name="adj" fmla="val 5303"/>
            </a:avLst>
          </a:prstGeom>
          <a:solidFill>
            <a:srgbClr val="FFF6DD"/>
          </a:solidFill>
          <a:ln w="12700">
            <a:solidFill>
              <a:srgbClr val="F2D98A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8650224" y="4800600"/>
            <a:ext cx="2798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B58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FINDING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8650224" y="5029200"/>
            <a:ext cx="27614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7A5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real need isn’t more parking space — it’s real-time information about vacant slots so they don’t waste time, fuel, or get frustrated.</a:t>
            </a:r>
            <a:endParaRPr lang="en-US" sz="1050" dirty="0"/>
          </a:p>
        </p:txBody>
      </p:sp>
      <p:sp>
        <p:nvSpPr>
          <p:cNvPr id="36" name="Text 29"/>
          <p:cNvSpPr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Eshwar College of Engineering  ·  Design Thinking &amp; Innovation</a:t>
            </a:r>
            <a:endParaRPr lang="en-US" sz="900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5DF41527-7ADC-6ED2-9B93-C5B26E8DD9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63654" y="371776"/>
            <a:ext cx="1325426" cy="6035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n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37744"/>
            <a:ext cx="2212848" cy="61630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2920" y="914400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7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Interview</a:t>
            </a:r>
            <a:endParaRPr lang="en-US" sz="2900" dirty="0"/>
          </a:p>
        </p:txBody>
      </p:sp>
      <p:sp>
        <p:nvSpPr>
          <p:cNvPr id="5" name="Text 1"/>
          <p:cNvSpPr/>
          <p:nvPr/>
        </p:nvSpPr>
        <p:spPr>
          <a:xfrm>
            <a:off x="502920" y="14630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the recorded interview with your user during the presentation.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640080" y="2011680"/>
            <a:ext cx="6035040" cy="3749040"/>
          </a:xfrm>
          <a:prstGeom prst="roundRect">
            <a:avLst>
              <a:gd name="adj" fmla="val 2439"/>
            </a:avLst>
          </a:prstGeom>
          <a:solidFill>
            <a:srgbClr val="F5F7FB"/>
          </a:solidFill>
          <a:ln w="12700">
            <a:solidFill>
              <a:srgbClr val="DFE4EE"/>
            </a:solidFill>
            <a:prstDash val="solid"/>
          </a:ln>
          <a:effectLst>
            <a:outerShdw blurRad="88900" dist="38100" dir="5400000" algn="bl" rotWithShape="0">
              <a:srgbClr val="071A45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1097280" y="228600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7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your video link or Google Drive link of the video you captured in the user interview.</a:t>
            </a:r>
            <a:endParaRPr lang="en-US" sz="1500" dirty="0"/>
          </a:p>
        </p:txBody>
      </p:sp>
      <p:sp>
        <p:nvSpPr>
          <p:cNvPr id="8" name="Shape 4">
            <a:hlinkClick r:id="" action="ppaction://noaction"/>
          </p:cNvPr>
          <p:cNvSpPr/>
          <p:nvPr/>
        </p:nvSpPr>
        <p:spPr>
          <a:xfrm>
            <a:off x="3090672" y="3246120"/>
            <a:ext cx="1133856" cy="1133856"/>
          </a:xfrm>
          <a:prstGeom prst="ellipse">
            <a:avLst/>
          </a:prstGeom>
          <a:solidFill>
            <a:srgbClr val="FFC01E"/>
          </a:solidFill>
          <a:ln/>
          <a:effectLst>
            <a:outerShdw blurRad="88900" dist="38100" dir="5400000" algn="bl" rotWithShape="0">
              <a:srgbClr val="071A45">
                <a:alpha val="12000"/>
              </a:srgbClr>
            </a:outerShdw>
          </a:effectLst>
        </p:spPr>
      </p:sp>
      <p:pic>
        <p:nvPicPr>
          <p:cNvPr id="9" name="Image 2" descr="preencoded.png">
            <a:hlinkClick r:id="" action="ppaction://noaction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1296" y="3575304"/>
            <a:ext cx="384048" cy="457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97280" y="445312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play</a:t>
            </a:r>
            <a:endParaRPr lang="en-US" sz="1300" dirty="0"/>
          </a:p>
        </p:txBody>
      </p:sp>
      <p:sp>
        <p:nvSpPr>
          <p:cNvPr id="11" name="Shape 6"/>
          <p:cNvSpPr/>
          <p:nvPr/>
        </p:nvSpPr>
        <p:spPr>
          <a:xfrm>
            <a:off x="1097280" y="5074920"/>
            <a:ext cx="51206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9D2E2"/>
            </a:solidFill>
            <a:prstDash val="solid"/>
          </a:ln>
        </p:spPr>
      </p:sp>
      <p:sp>
        <p:nvSpPr>
          <p:cNvPr id="12" name="Text 7">
            <a:hlinkClick r:id="" action="ppaction://noaction"/>
          </p:cNvPr>
          <p:cNvSpPr/>
          <p:nvPr/>
        </p:nvSpPr>
        <p:spPr>
          <a:xfrm>
            <a:off x="1280160" y="50749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C52C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 Video link:  </a:t>
            </a:r>
            <a:r>
              <a:rPr lang="en-US" sz="1200" i="1" u="sng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 paste YouTube / Google Drive link here ]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6995160" y="2011680"/>
            <a:ext cx="4572000" cy="1783080"/>
          </a:xfrm>
          <a:prstGeom prst="roundRect">
            <a:avLst>
              <a:gd name="adj" fmla="val 3590"/>
            </a:avLst>
          </a:prstGeom>
          <a:solidFill>
            <a:srgbClr val="F5F7FB"/>
          </a:solidFill>
          <a:ln w="12700">
            <a:solidFill>
              <a:srgbClr val="DFE4EE"/>
            </a:solidFill>
            <a:prstDash val="solid"/>
          </a:ln>
          <a:effectLst>
            <a:outerShdw blurRad="88900" dist="38100" dir="5400000" algn="bl" rotWithShape="0">
              <a:srgbClr val="071A45">
                <a:alpha val="12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7196328" y="215798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5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7196328" y="24688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i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spend several minutes searching for parking in crowded areas like malls, hospitals, colleges and offices, causing traffic congestion, fuel wastage and frustration; manual monitoring gives no real-time availability information.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6995160" y="3977640"/>
            <a:ext cx="4572000" cy="1783080"/>
          </a:xfrm>
          <a:prstGeom prst="roundRect">
            <a:avLst>
              <a:gd name="adj" fmla="val 3590"/>
            </a:avLst>
          </a:prstGeom>
          <a:solidFill>
            <a:srgbClr val="F5F7FB"/>
          </a:solidFill>
          <a:ln w="12700">
            <a:solidFill>
              <a:srgbClr val="DFE4EE"/>
            </a:solidFill>
            <a:prstDash val="solid"/>
          </a:ln>
          <a:effectLst>
            <a:outerShdw blurRad="88900" dist="38100" dir="5400000" algn="bl" rotWithShape="0">
              <a:srgbClr val="071A45">
                <a:alpha val="12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7196328" y="412394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5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surprised us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7196328" y="44348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i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were surprised how much time and fuel is wasted daily over something as simple as not knowing which slots are vacant, and how stressful this becomes during peak hours.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Eshwar College of Engineering  ·  Design Thinking &amp; Innovation</a:t>
            </a:r>
            <a:endParaRPr lang="en-US" sz="9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2C7C975-679B-7B79-370E-03D825CB39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3654" y="371776"/>
            <a:ext cx="1325426" cy="6035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n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37744"/>
            <a:ext cx="2212848" cy="61630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2920" y="914400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7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Empathy Map Canvas</a:t>
            </a:r>
            <a:endParaRPr lang="en-US" sz="2900" dirty="0"/>
          </a:p>
        </p:txBody>
      </p:sp>
      <p:sp>
        <p:nvSpPr>
          <p:cNvPr id="5" name="Text 1"/>
          <p:cNvSpPr/>
          <p:nvPr/>
        </p:nvSpPr>
        <p:spPr>
          <a:xfrm>
            <a:off x="502920" y="142646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7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for:  </a:t>
            </a:r>
            <a:r>
              <a:rPr lang="en-US" sz="1050" i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Drivers/commuters looking for parking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3291840" y="142646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7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by:  </a:t>
            </a:r>
            <a:r>
              <a:rPr lang="en-US" sz="1050" i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Team Aqua ]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6766560" y="1426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7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 </a:t>
            </a:r>
            <a:r>
              <a:rPr lang="en-US" sz="1050" i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06 July 2026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9098280" y="1426464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7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Version: V1.0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5541264" y="173736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FC01E"/>
          </a:solidFill>
          <a:ln/>
        </p:spPr>
      </p:sp>
      <p:sp>
        <p:nvSpPr>
          <p:cNvPr id="10" name="Text 6"/>
          <p:cNvSpPr/>
          <p:nvPr/>
        </p:nvSpPr>
        <p:spPr>
          <a:xfrm>
            <a:off x="5541264" y="17373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07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02920" y="2103120"/>
            <a:ext cx="5486400" cy="868680"/>
          </a:xfrm>
          <a:prstGeom prst="roundRect">
            <a:avLst>
              <a:gd name="adj" fmla="val 7368"/>
            </a:avLst>
          </a:prstGeom>
          <a:solidFill>
            <a:srgbClr val="EDEFF5"/>
          </a:solidFill>
          <a:ln w="12700">
            <a:solidFill>
              <a:srgbClr val="DFE4EE"/>
            </a:solidFill>
            <a:prstDash val="solid"/>
          </a:ln>
          <a:effectLst>
            <a:outerShdw blurRad="88900" dist="38100" dir="5400000" algn="bl" rotWithShape="0">
              <a:srgbClr val="071A45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" y="2267712"/>
            <a:ext cx="347472" cy="347472"/>
          </a:xfrm>
          <a:prstGeom prst="ellipse">
            <a:avLst/>
          </a:prstGeom>
          <a:solidFill>
            <a:srgbClr val="FFC01E"/>
          </a:solidFill>
          <a:ln/>
        </p:spPr>
      </p:sp>
      <p:sp>
        <p:nvSpPr>
          <p:cNvPr id="13" name="Text 9"/>
          <p:cNvSpPr/>
          <p:nvPr/>
        </p:nvSpPr>
        <p:spPr>
          <a:xfrm>
            <a:off x="685800" y="2267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179576" y="2249424"/>
            <a:ext cx="4626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5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we empathizing with?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1179576" y="2560320"/>
            <a:ext cx="4626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i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and commuters trying to park in crowded malls, hospitals, colleges, airports, railway stations and office buildings.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199632" y="2103120"/>
            <a:ext cx="5486400" cy="868680"/>
          </a:xfrm>
          <a:prstGeom prst="roundRect">
            <a:avLst>
              <a:gd name="adj" fmla="val 7368"/>
            </a:avLst>
          </a:prstGeom>
          <a:solidFill>
            <a:srgbClr val="EDEFF5"/>
          </a:solidFill>
          <a:ln w="12700">
            <a:solidFill>
              <a:srgbClr val="DFE4EE"/>
            </a:solidFill>
            <a:prstDash val="solid"/>
          </a:ln>
          <a:effectLst>
            <a:outerShdw blurRad="88900" dist="38100" dir="5400000" algn="bl" rotWithShape="0">
              <a:srgbClr val="071A45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382512" y="2267712"/>
            <a:ext cx="347472" cy="347472"/>
          </a:xfrm>
          <a:prstGeom prst="ellipse">
            <a:avLst/>
          </a:prstGeom>
          <a:solidFill>
            <a:srgbClr val="FFC01E"/>
          </a:solidFill>
          <a:ln/>
        </p:spPr>
      </p:sp>
      <p:sp>
        <p:nvSpPr>
          <p:cNvPr id="18" name="Text 14"/>
          <p:cNvSpPr/>
          <p:nvPr/>
        </p:nvSpPr>
        <p:spPr>
          <a:xfrm>
            <a:off x="6382512" y="2267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6876288" y="2249424"/>
            <a:ext cx="4626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5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they need to DO?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6876288" y="2560320"/>
            <a:ext cx="4626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i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need to quickly find and reach a vacant parking slot without wasting time, fuel or getting stuck in traffic.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502920" y="3090672"/>
            <a:ext cx="3566160" cy="1225296"/>
          </a:xfrm>
          <a:prstGeom prst="roundRect">
            <a:avLst>
              <a:gd name="adj" fmla="val 5224"/>
            </a:avLst>
          </a:prstGeom>
          <a:solidFill>
            <a:srgbClr val="F5F7FB"/>
          </a:solidFill>
          <a:ln w="12700">
            <a:solidFill>
              <a:srgbClr val="DFE4EE"/>
            </a:solidFill>
            <a:prstDash val="solid"/>
          </a:ln>
          <a:effectLst>
            <a:outerShdw blurRad="88900" dist="38100" dir="5400000" algn="bl" rotWithShape="0">
              <a:srgbClr val="071A45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85800" y="3255264"/>
            <a:ext cx="347472" cy="347472"/>
          </a:xfrm>
          <a:prstGeom prst="ellipse">
            <a:avLst/>
          </a:prstGeom>
          <a:solidFill>
            <a:srgbClr val="FFC01E"/>
          </a:solidFill>
          <a:ln/>
        </p:spPr>
      </p:sp>
      <p:sp>
        <p:nvSpPr>
          <p:cNvPr id="23" name="Text 19"/>
          <p:cNvSpPr/>
          <p:nvPr/>
        </p:nvSpPr>
        <p:spPr>
          <a:xfrm>
            <a:off x="685800" y="32552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1179576" y="3236976"/>
            <a:ext cx="2706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5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they SEE?</a:t>
            </a:r>
            <a:endParaRPr lang="en-US" sz="1350" dirty="0"/>
          </a:p>
        </p:txBody>
      </p:sp>
      <p:sp>
        <p:nvSpPr>
          <p:cNvPr id="25" name="Text 21"/>
          <p:cNvSpPr/>
          <p:nvPr/>
        </p:nvSpPr>
        <p:spPr>
          <a:xfrm>
            <a:off x="1179576" y="3547872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i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queues of vehicles, full parking lots, no display board of vacant slots, other drivers also circling and getting frustrated.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4233672" y="3090672"/>
            <a:ext cx="3566160" cy="1225296"/>
          </a:xfrm>
          <a:prstGeom prst="roundRect">
            <a:avLst>
              <a:gd name="adj" fmla="val 5224"/>
            </a:avLst>
          </a:prstGeom>
          <a:solidFill>
            <a:srgbClr val="F5F7FB"/>
          </a:solidFill>
          <a:ln w="12700">
            <a:solidFill>
              <a:srgbClr val="DFE4EE"/>
            </a:solidFill>
            <a:prstDash val="solid"/>
          </a:ln>
          <a:effectLst>
            <a:outerShdw blurRad="88900" dist="38100" dir="5400000" algn="bl" rotWithShape="0">
              <a:srgbClr val="071A45">
                <a:alpha val="12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4416552" y="3255264"/>
            <a:ext cx="347472" cy="347472"/>
          </a:xfrm>
          <a:prstGeom prst="ellipse">
            <a:avLst/>
          </a:prstGeom>
          <a:solidFill>
            <a:srgbClr val="FFC01E"/>
          </a:solidFill>
          <a:ln/>
        </p:spPr>
      </p:sp>
      <p:sp>
        <p:nvSpPr>
          <p:cNvPr id="28" name="Text 24"/>
          <p:cNvSpPr/>
          <p:nvPr/>
        </p:nvSpPr>
        <p:spPr>
          <a:xfrm>
            <a:off x="4416552" y="32552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4910328" y="3236976"/>
            <a:ext cx="2706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5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they SAY?</a:t>
            </a:r>
            <a:endParaRPr lang="en-US" sz="1350" dirty="0"/>
          </a:p>
        </p:txBody>
      </p:sp>
      <p:sp>
        <p:nvSpPr>
          <p:cNvPr id="30" name="Text 26"/>
          <p:cNvSpPr/>
          <p:nvPr/>
        </p:nvSpPr>
        <p:spPr>
          <a:xfrm>
            <a:off x="4910328" y="3547872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i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“I’ve been circling for 10 minutes.” “Is there space inside?” “Why isn’t there a display board?”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7964424" y="3090672"/>
            <a:ext cx="3566160" cy="1225296"/>
          </a:xfrm>
          <a:prstGeom prst="roundRect">
            <a:avLst>
              <a:gd name="adj" fmla="val 5224"/>
            </a:avLst>
          </a:prstGeom>
          <a:solidFill>
            <a:srgbClr val="F5F7FB"/>
          </a:solidFill>
          <a:ln w="12700">
            <a:solidFill>
              <a:srgbClr val="DFE4EE"/>
            </a:solidFill>
            <a:prstDash val="solid"/>
          </a:ln>
          <a:effectLst>
            <a:outerShdw blurRad="88900" dist="38100" dir="5400000" algn="bl" rotWithShape="0">
              <a:srgbClr val="071A45">
                <a:alpha val="12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8147304" y="3255264"/>
            <a:ext cx="347472" cy="347472"/>
          </a:xfrm>
          <a:prstGeom prst="ellipse">
            <a:avLst/>
          </a:prstGeom>
          <a:solidFill>
            <a:srgbClr val="FFC01E"/>
          </a:solidFill>
          <a:ln/>
        </p:spPr>
      </p:sp>
      <p:sp>
        <p:nvSpPr>
          <p:cNvPr id="33" name="Text 29"/>
          <p:cNvSpPr/>
          <p:nvPr/>
        </p:nvSpPr>
        <p:spPr>
          <a:xfrm>
            <a:off x="8147304" y="32552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30"/>
          <p:cNvSpPr/>
          <p:nvPr/>
        </p:nvSpPr>
        <p:spPr>
          <a:xfrm>
            <a:off x="8641080" y="3236976"/>
            <a:ext cx="2706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5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they DO?</a:t>
            </a:r>
            <a:endParaRPr lang="en-US" sz="1350" dirty="0"/>
          </a:p>
        </p:txBody>
      </p:sp>
      <p:sp>
        <p:nvSpPr>
          <p:cNvPr id="35" name="Text 31"/>
          <p:cNvSpPr/>
          <p:nvPr/>
        </p:nvSpPr>
        <p:spPr>
          <a:xfrm>
            <a:off x="8641080" y="3547872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i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the parking area multiple times, ask security guards for directions, or park in wrong/restricted spots out of frustration.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502920" y="4434840"/>
            <a:ext cx="3566160" cy="1298448"/>
          </a:xfrm>
          <a:prstGeom prst="roundRect">
            <a:avLst>
              <a:gd name="adj" fmla="val 4930"/>
            </a:avLst>
          </a:prstGeom>
          <a:solidFill>
            <a:srgbClr val="F5F7FB"/>
          </a:solidFill>
          <a:ln w="12700">
            <a:solidFill>
              <a:srgbClr val="DFE4EE"/>
            </a:solidFill>
            <a:prstDash val="solid"/>
          </a:ln>
          <a:effectLst>
            <a:outerShdw blurRad="88900" dist="38100" dir="5400000" algn="bl" rotWithShape="0">
              <a:srgbClr val="071A45">
                <a:alpha val="12000"/>
              </a:srgbClr>
            </a:outerShdw>
          </a:effectLst>
        </p:spPr>
      </p:sp>
      <p:sp>
        <p:nvSpPr>
          <p:cNvPr id="37" name="Shape 33"/>
          <p:cNvSpPr/>
          <p:nvPr/>
        </p:nvSpPr>
        <p:spPr>
          <a:xfrm>
            <a:off x="685800" y="4599432"/>
            <a:ext cx="347472" cy="347472"/>
          </a:xfrm>
          <a:prstGeom prst="ellipse">
            <a:avLst/>
          </a:prstGeom>
          <a:solidFill>
            <a:srgbClr val="FFC01E"/>
          </a:solidFill>
          <a:ln/>
        </p:spPr>
      </p:sp>
      <p:sp>
        <p:nvSpPr>
          <p:cNvPr id="38" name="Text 34"/>
          <p:cNvSpPr/>
          <p:nvPr/>
        </p:nvSpPr>
        <p:spPr>
          <a:xfrm>
            <a:off x="685800" y="4599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9" name="Text 35"/>
          <p:cNvSpPr/>
          <p:nvPr/>
        </p:nvSpPr>
        <p:spPr>
          <a:xfrm>
            <a:off x="1179576" y="4581144"/>
            <a:ext cx="2706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5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they HEAR?</a:t>
            </a:r>
            <a:endParaRPr lang="en-US" sz="1350" dirty="0"/>
          </a:p>
        </p:txBody>
      </p:sp>
      <p:sp>
        <p:nvSpPr>
          <p:cNvPr id="40" name="Text 36"/>
          <p:cNvSpPr/>
          <p:nvPr/>
        </p:nvSpPr>
        <p:spPr>
          <a:xfrm>
            <a:off x="1179576" y="4892040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i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Friends and colleagues complain about parking hassles at the same locations; guards give vague directions.</a:t>
            </a:r>
            <a:endParaRPr lang="en-US" sz="1000" dirty="0"/>
          </a:p>
        </p:txBody>
      </p:sp>
      <p:sp>
        <p:nvSpPr>
          <p:cNvPr id="41" name="Shape 37"/>
          <p:cNvSpPr/>
          <p:nvPr/>
        </p:nvSpPr>
        <p:spPr>
          <a:xfrm>
            <a:off x="4233672" y="4434840"/>
            <a:ext cx="7296912" cy="1298448"/>
          </a:xfrm>
          <a:prstGeom prst="roundRect">
            <a:avLst>
              <a:gd name="adj" fmla="val 4930"/>
            </a:avLst>
          </a:prstGeom>
          <a:solidFill>
            <a:srgbClr val="FFF1F1"/>
          </a:solidFill>
          <a:ln w="12700">
            <a:solidFill>
              <a:srgbClr val="F0C9C9"/>
            </a:solidFill>
            <a:prstDash val="solid"/>
          </a:ln>
          <a:effectLst>
            <a:outerShdw blurRad="88900" dist="38100" dir="5400000" algn="bl" rotWithShape="0">
              <a:srgbClr val="071A45">
                <a:alpha val="12000"/>
              </a:srgbClr>
            </a:outerShdw>
          </a:effectLst>
        </p:spPr>
      </p:sp>
      <p:sp>
        <p:nvSpPr>
          <p:cNvPr id="42" name="Shape 38"/>
          <p:cNvSpPr/>
          <p:nvPr/>
        </p:nvSpPr>
        <p:spPr>
          <a:xfrm>
            <a:off x="4416552" y="4581144"/>
            <a:ext cx="347472" cy="347472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43" name="Text 39"/>
          <p:cNvSpPr/>
          <p:nvPr/>
        </p:nvSpPr>
        <p:spPr>
          <a:xfrm>
            <a:off x="4416552" y="4581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4" name="Text 40"/>
          <p:cNvSpPr/>
          <p:nvPr/>
        </p:nvSpPr>
        <p:spPr>
          <a:xfrm>
            <a:off x="4910328" y="4581144"/>
            <a:ext cx="6382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they THINK and FEEL?</a:t>
            </a:r>
            <a:endParaRPr lang="en-US" sz="1350" dirty="0"/>
          </a:p>
        </p:txBody>
      </p:sp>
      <p:sp>
        <p:nvSpPr>
          <p:cNvPr id="45" name="Text 41"/>
          <p:cNvSpPr/>
          <p:nvPr/>
        </p:nvSpPr>
        <p:spPr>
          <a:xfrm>
            <a:off x="4507992" y="4965192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PAINS  </a:t>
            </a:r>
            <a:r>
              <a:rPr lang="en-US" sz="1050" i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Frustration, stress, wasted time and fuel, fear of being late.</a:t>
            </a:r>
            <a:endParaRPr lang="en-US" sz="1050" dirty="0"/>
          </a:p>
        </p:txBody>
      </p:sp>
      <p:sp>
        <p:nvSpPr>
          <p:cNvPr id="46" name="Text 42"/>
          <p:cNvSpPr/>
          <p:nvPr/>
        </p:nvSpPr>
        <p:spPr>
          <a:xfrm>
            <a:off x="7973568" y="4965192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  </a:t>
            </a:r>
            <a:r>
              <a:rPr lang="en-US" sz="1050" i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Quick, guided, real-time parking information and a smooth, hassle-free entry.</a:t>
            </a:r>
            <a:endParaRPr lang="en-US" sz="1050" dirty="0"/>
          </a:p>
        </p:txBody>
      </p:sp>
      <p:sp>
        <p:nvSpPr>
          <p:cNvPr id="47" name="Shape 43"/>
          <p:cNvSpPr/>
          <p:nvPr/>
        </p:nvSpPr>
        <p:spPr>
          <a:xfrm>
            <a:off x="7882128" y="4946904"/>
            <a:ext cx="0" cy="658368"/>
          </a:xfrm>
          <a:prstGeom prst="line">
            <a:avLst/>
          </a:prstGeom>
          <a:noFill/>
          <a:ln w="12700">
            <a:solidFill>
              <a:srgbClr val="F0C9C9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502920" y="5897880"/>
            <a:ext cx="11183112" cy="457200"/>
          </a:xfrm>
          <a:prstGeom prst="roundRect">
            <a:avLst>
              <a:gd name="adj" fmla="val 20000"/>
            </a:avLst>
          </a:prstGeom>
          <a:solidFill>
            <a:srgbClr val="FFF6DD"/>
          </a:solidFill>
          <a:ln w="12700">
            <a:solidFill>
              <a:srgbClr val="F2D98A"/>
            </a:solidFill>
            <a:prstDash val="solid"/>
          </a:ln>
          <a:effectLst>
            <a:outerShdw blurRad="88900" dist="38100" dir="5400000" algn="bl" rotWithShape="0">
              <a:srgbClr val="071A45">
                <a:alpha val="12000"/>
              </a:srgbClr>
            </a:outerShdw>
          </a:effectLst>
        </p:spPr>
      </p:sp>
      <p:sp>
        <p:nvSpPr>
          <p:cNvPr id="49" name="Text 45"/>
          <p:cNvSpPr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58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r>
              <a:rPr lang="en-US" sz="1250" b="1" dirty="0">
                <a:solidFill>
                  <a:srgbClr val="7A5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your completed Empathy Map to reviewers — fill the canvas above, or paste a photo of your team's map here in this slide.</a:t>
            </a:r>
            <a:endParaRPr lang="en-US" sz="1250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71BAE965-185F-B3B3-7EA2-193E166371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3654" y="371776"/>
            <a:ext cx="1325426" cy="6035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n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37744"/>
            <a:ext cx="2212848" cy="61630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2920" y="914400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7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Pain Points</a:t>
            </a:r>
            <a:endParaRPr lang="en-US" sz="2900" dirty="0"/>
          </a:p>
        </p:txBody>
      </p:sp>
      <p:sp>
        <p:nvSpPr>
          <p:cNvPr id="5" name="Text 1"/>
          <p:cNvSpPr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your map again — the gap between what the user SAYS and what they FEEL is where the insight hides.</a:t>
            </a:r>
            <a:endParaRPr lang="en-US" sz="14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121408"/>
            <a:ext cx="365760" cy="36576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097280" y="2103120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7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Pain Points</a:t>
            </a:r>
            <a:endParaRPr lang="en-US" sz="1900" dirty="0"/>
          </a:p>
        </p:txBody>
      </p:sp>
      <p:sp>
        <p:nvSpPr>
          <p:cNvPr id="8" name="Shape 3"/>
          <p:cNvSpPr/>
          <p:nvPr/>
        </p:nvSpPr>
        <p:spPr>
          <a:xfrm>
            <a:off x="640080" y="2697480"/>
            <a:ext cx="5349240" cy="1024128"/>
          </a:xfrm>
          <a:prstGeom prst="roundRect">
            <a:avLst>
              <a:gd name="adj" fmla="val 6250"/>
            </a:avLst>
          </a:prstGeom>
          <a:solidFill>
            <a:srgbClr val="F5F7FB"/>
          </a:solidFill>
          <a:ln w="12700">
            <a:solidFill>
              <a:srgbClr val="DFE4EE"/>
            </a:solidFill>
            <a:prstDash val="solid"/>
          </a:ln>
          <a:effectLst>
            <a:outerShdw blurRad="88900" dist="38100" dir="5400000" algn="bl" rotWithShape="0">
              <a:srgbClr val="071A45">
                <a:alpha val="12000"/>
              </a:srgbClr>
            </a:outerShdw>
          </a:effectLst>
        </p:spPr>
      </p:sp>
      <p:sp>
        <p:nvSpPr>
          <p:cNvPr id="9" name="Shape 4"/>
          <p:cNvSpPr/>
          <p:nvPr/>
        </p:nvSpPr>
        <p:spPr>
          <a:xfrm>
            <a:off x="822960" y="2862072"/>
            <a:ext cx="347472" cy="347472"/>
          </a:xfrm>
          <a:prstGeom prst="ellipse">
            <a:avLst/>
          </a:prstGeom>
          <a:solidFill>
            <a:srgbClr val="FFC01E"/>
          </a:solidFill>
          <a:ln/>
        </p:spPr>
      </p:sp>
      <p:sp>
        <p:nvSpPr>
          <p:cNvPr id="10" name="Text 5"/>
          <p:cNvSpPr/>
          <p:nvPr/>
        </p:nvSpPr>
        <p:spPr>
          <a:xfrm>
            <a:off x="822960" y="2862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1316736" y="2843784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time &amp; fuel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1316736" y="3154680"/>
            <a:ext cx="4489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i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spend several minutes circling crowded parking areas searching for a vacant slot.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640080" y="3858768"/>
            <a:ext cx="5349240" cy="1024128"/>
          </a:xfrm>
          <a:prstGeom prst="roundRect">
            <a:avLst>
              <a:gd name="adj" fmla="val 6250"/>
            </a:avLst>
          </a:prstGeom>
          <a:solidFill>
            <a:srgbClr val="F5F7FB"/>
          </a:solidFill>
          <a:ln w="12700">
            <a:solidFill>
              <a:srgbClr val="DFE4EE"/>
            </a:solidFill>
            <a:prstDash val="solid"/>
          </a:ln>
          <a:effectLst>
            <a:outerShdw blurRad="88900" dist="38100" dir="5400000" algn="bl" rotWithShape="0">
              <a:srgbClr val="071A45">
                <a:alpha val="12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822960" y="4023360"/>
            <a:ext cx="347472" cy="347472"/>
          </a:xfrm>
          <a:prstGeom prst="ellipse">
            <a:avLst/>
          </a:prstGeom>
          <a:solidFill>
            <a:srgbClr val="FFC01E"/>
          </a:solidFill>
          <a:ln/>
        </p:spPr>
      </p:sp>
      <p:sp>
        <p:nvSpPr>
          <p:cNvPr id="15" name="Text 10"/>
          <p:cNvSpPr/>
          <p:nvPr/>
        </p:nvSpPr>
        <p:spPr>
          <a:xfrm>
            <a:off x="822960" y="4023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316736" y="4005072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availability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1316736" y="4315968"/>
            <a:ext cx="4489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i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information is available about slot occupancy before entering the parking area.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40080" y="5020056"/>
            <a:ext cx="5349240" cy="1024128"/>
          </a:xfrm>
          <a:prstGeom prst="roundRect">
            <a:avLst>
              <a:gd name="adj" fmla="val 6250"/>
            </a:avLst>
          </a:prstGeom>
          <a:solidFill>
            <a:srgbClr val="F5F7FB"/>
          </a:solidFill>
          <a:ln w="12700">
            <a:solidFill>
              <a:srgbClr val="DFE4EE"/>
            </a:solidFill>
            <a:prstDash val="solid"/>
          </a:ln>
          <a:effectLst>
            <a:outerShdw blurRad="88900" dist="38100" dir="5400000" algn="bl" rotWithShape="0">
              <a:srgbClr val="071A45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22960" y="5184648"/>
            <a:ext cx="347472" cy="347472"/>
          </a:xfrm>
          <a:prstGeom prst="ellipse">
            <a:avLst/>
          </a:prstGeom>
          <a:solidFill>
            <a:srgbClr val="FFC01E"/>
          </a:solidFill>
          <a:ln/>
        </p:spPr>
      </p:sp>
      <p:sp>
        <p:nvSpPr>
          <p:cNvPr id="20" name="Text 15"/>
          <p:cNvSpPr/>
          <p:nvPr/>
        </p:nvSpPr>
        <p:spPr>
          <a:xfrm>
            <a:off x="822960" y="51846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316736" y="5166360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Inefficient manual monitoring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1316736" y="5477256"/>
            <a:ext cx="4489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i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monitoring by staff is slow and leads to poor utilization of available parking space.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355080" y="2121408"/>
            <a:ext cx="5193792" cy="3822192"/>
          </a:xfrm>
          <a:prstGeom prst="roundRect">
            <a:avLst>
              <a:gd name="adj" fmla="val 2392"/>
            </a:avLst>
          </a:prstGeom>
          <a:solidFill>
            <a:srgbClr val="FFF6DD"/>
          </a:solidFill>
          <a:ln w="12700">
            <a:solidFill>
              <a:srgbClr val="F2D98A"/>
            </a:solidFill>
            <a:prstDash val="solid"/>
          </a:ln>
          <a:effectLst>
            <a:outerShdw blurRad="88900" dist="38100" dir="5400000" algn="bl" rotWithShape="0">
              <a:srgbClr val="071A45">
                <a:alpha val="12000"/>
              </a:srgbClr>
            </a:outerShdw>
          </a:effectLst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2377440"/>
            <a:ext cx="420624" cy="42062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132320" y="2359152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900" dirty="0"/>
          </a:p>
        </p:txBody>
      </p:sp>
      <p:sp>
        <p:nvSpPr>
          <p:cNvPr id="26" name="Text 20"/>
          <p:cNvSpPr/>
          <p:nvPr/>
        </p:nvSpPr>
        <p:spPr>
          <a:xfrm>
            <a:off x="6629400" y="290779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A6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thing we now understand about our user that we didn't before: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6629400" y="338328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6A5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don’t just need more parking space — they need real-time visibility into which slots are free so they can park without wasting time, fuel, or getting frustrated.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6629400" y="52578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surprised us:  </a:t>
            </a:r>
            <a:r>
              <a:rPr lang="en-US" sz="1250" i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something as simple as not knowing slot availability causes real traffic congestion, pollution and frustration.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Eshwar College of Engineering  ·  Design Thinking &amp; Innovation</a:t>
            </a:r>
            <a:endParaRPr lang="en-US" sz="9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924CAA3-EBB4-A2A1-24A8-118A0CEBB8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3654" y="371776"/>
            <a:ext cx="1325426" cy="6035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n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37744"/>
            <a:ext cx="2212848" cy="61630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2920" y="914400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7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Canvas</a:t>
            </a:r>
            <a:endParaRPr lang="en-US" sz="2900" dirty="0"/>
          </a:p>
        </p:txBody>
      </p:sp>
      <p:sp>
        <p:nvSpPr>
          <p:cNvPr id="5" name="Text 1"/>
          <p:cNvSpPr/>
          <p:nvPr/>
        </p:nvSpPr>
        <p:spPr>
          <a:xfrm>
            <a:off x="502920" y="146304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7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&amp; Dept/</a:t>
            </a:r>
            <a:r>
              <a:rPr lang="en-US" sz="1050" b="1" dirty="0" err="1">
                <a:solidFill>
                  <a:srgbClr val="07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Section:</a:t>
            </a:r>
            <a:r>
              <a:rPr lang="en-US" sz="1050" i="1" dirty="0" err="1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</a:t>
            </a:r>
            <a:r>
              <a:rPr lang="en-US" sz="1050" i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Year-Cyber </a:t>
            </a:r>
            <a:r>
              <a:rPr lang="en-US" sz="1050" i="1" dirty="0" err="1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Secyrity</a:t>
            </a:r>
            <a:r>
              <a:rPr lang="en-US" sz="1050" i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1050" b="1" dirty="0">
                <a:solidFill>
                  <a:srgbClr val="07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/ Batch No: </a:t>
            </a:r>
            <a:r>
              <a:rPr lang="en-US" sz="1050" i="1" dirty="0" err="1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TeamAqua</a:t>
            </a:r>
            <a:r>
              <a:rPr lang="en-US" sz="1050" i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r>
              <a:rPr lang="en-US" sz="1050" b="1" dirty="0">
                <a:solidFill>
                  <a:srgbClr val="07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Members: </a:t>
            </a:r>
            <a:r>
              <a:rPr lang="en-US" sz="1050" b="1" i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Nishanth. K , Sridharan. R</a:t>
            </a:r>
            <a:endParaRPr lang="en-US" sz="1050" dirty="0"/>
          </a:p>
        </p:txBody>
      </p:sp>
      <p:sp>
        <p:nvSpPr>
          <p:cNvPr id="6" name="Shape 2"/>
          <p:cNvSpPr/>
          <p:nvPr/>
        </p:nvSpPr>
        <p:spPr>
          <a:xfrm>
            <a:off x="502920" y="1828800"/>
            <a:ext cx="11183112" cy="566928"/>
          </a:xfrm>
          <a:prstGeom prst="roundRect">
            <a:avLst>
              <a:gd name="adj" fmla="val 11290"/>
            </a:avLst>
          </a:prstGeom>
          <a:solidFill>
            <a:srgbClr val="E9EFFC"/>
          </a:solidFill>
          <a:ln w="12700">
            <a:solidFill>
              <a:srgbClr val="D2DEF8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31520" y="182880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5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   </a:t>
            </a:r>
            <a:r>
              <a:rPr lang="en-US" sz="1200" dirty="0">
                <a:solidFill>
                  <a:srgbClr val="07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facing the problem? (age group / role / location):  </a:t>
            </a:r>
            <a:r>
              <a:rPr lang="en-US" sz="1200" i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18-50/drivers</a:t>
            </a:r>
            <a:r>
              <a:rPr lang="en-US" sz="1200" i="1" dirty="0">
                <a:solidFill>
                  <a:schemeClr val="bg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 Urban area with crowded parking facilities </a:t>
            </a:r>
            <a:endParaRPr lang="en-US" sz="1200" i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8" name="Shape 4"/>
          <p:cNvSpPr/>
          <p:nvPr/>
        </p:nvSpPr>
        <p:spPr>
          <a:xfrm>
            <a:off x="502920" y="2505456"/>
            <a:ext cx="3602736" cy="1554480"/>
          </a:xfrm>
          <a:prstGeom prst="roundRect">
            <a:avLst>
              <a:gd name="adj" fmla="val 4118"/>
            </a:avLst>
          </a:prstGeom>
          <a:solidFill>
            <a:srgbClr val="F5F7FB"/>
          </a:solidFill>
          <a:ln w="12700">
            <a:solidFill>
              <a:srgbClr val="DFE4EE"/>
            </a:solidFill>
            <a:prstDash val="solid"/>
          </a:ln>
          <a:effectLst>
            <a:outerShdw blurRad="88900" dist="38100" dir="5400000" algn="bl" rotWithShape="0">
              <a:srgbClr val="071A45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704088" y="2651760"/>
            <a:ext cx="3236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5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704088" y="2962656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i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Occurs during peak hours in crowded parking areas of malls, colleges, hospitals, airports, railway stations and office buildings.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288536" y="2505456"/>
            <a:ext cx="3602736" cy="1554480"/>
          </a:xfrm>
          <a:prstGeom prst="roundRect">
            <a:avLst>
              <a:gd name="adj" fmla="val 4118"/>
            </a:avLst>
          </a:prstGeom>
          <a:solidFill>
            <a:srgbClr val="F5F7FB"/>
          </a:solidFill>
          <a:ln w="12700">
            <a:solidFill>
              <a:srgbClr val="DFE4EE"/>
            </a:solidFill>
            <a:prstDash val="solid"/>
          </a:ln>
          <a:effectLst>
            <a:outerShdw blurRad="88900" dist="38100" dir="5400000" algn="bl" rotWithShape="0">
              <a:srgbClr val="071A45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4489704" y="2651760"/>
            <a:ext cx="3236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5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489704" y="2962656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i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parking systems rely on manual monitoring and give no real-time information about vacant slots, causing inefficient use of space.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074152" y="2505456"/>
            <a:ext cx="3602736" cy="1554480"/>
          </a:xfrm>
          <a:prstGeom prst="roundRect">
            <a:avLst>
              <a:gd name="adj" fmla="val 4118"/>
            </a:avLst>
          </a:prstGeom>
          <a:solidFill>
            <a:srgbClr val="F5F7FB"/>
          </a:solidFill>
          <a:ln w="12700">
            <a:solidFill>
              <a:srgbClr val="DFE4EE"/>
            </a:solidFill>
            <a:prstDash val="solid"/>
          </a:ln>
          <a:effectLst>
            <a:outerShdw blurRad="88900" dist="38100" dir="5400000" algn="bl" rotWithShape="0">
              <a:srgbClr val="071A45">
                <a:alpha val="1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8275320" y="2651760"/>
            <a:ext cx="3236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5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8275320" y="2962656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i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circle around the parking lot manually searching for a spot, or ask security guards/attendants for directions.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02920" y="4242816"/>
            <a:ext cx="3602736" cy="1554480"/>
          </a:xfrm>
          <a:prstGeom prst="roundRect">
            <a:avLst>
              <a:gd name="adj" fmla="val 4118"/>
            </a:avLst>
          </a:prstGeom>
          <a:solidFill>
            <a:srgbClr val="F5F7FB"/>
          </a:solidFill>
          <a:ln w="12700">
            <a:solidFill>
              <a:srgbClr val="DFE4EE"/>
            </a:solidFill>
            <a:prstDash val="solid"/>
          </a:ln>
          <a:effectLst>
            <a:outerShdw blurRad="88900" dist="38100" dir="5400000" algn="bl" rotWithShape="0">
              <a:srgbClr val="071A45">
                <a:alpha val="12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704088" y="4389120"/>
            <a:ext cx="3236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5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704088" y="4700016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i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commuters, visitors and vehicle owners who frequently park at crowded public and commercial buildings.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4288536" y="4242816"/>
            <a:ext cx="3602736" cy="1554480"/>
          </a:xfrm>
          <a:prstGeom prst="roundRect">
            <a:avLst>
              <a:gd name="adj" fmla="val 4118"/>
            </a:avLst>
          </a:prstGeom>
          <a:solidFill>
            <a:srgbClr val="F5F7FB"/>
          </a:solidFill>
          <a:ln w="12700">
            <a:solidFill>
              <a:srgbClr val="DFE4EE"/>
            </a:solidFill>
            <a:prstDash val="solid"/>
          </a:ln>
          <a:effectLst>
            <a:outerShdw blurRad="88900" dist="38100" dir="5400000" algn="bl" rotWithShape="0">
              <a:srgbClr val="071A45">
                <a:alpha val="12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4489704" y="4389120"/>
            <a:ext cx="3236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5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IMPACT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4489704" y="4700016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i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Frustration, stress and anxiety about being late, along with fatigue from repeatedly circling the parking area.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4489704" y="5138928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5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QUANTIFIABLE IMPACT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4489704" y="5486400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minutes wasted per visit searching for parking, leading to increased fuel consumption, traffic congestion and air pollution.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8074152" y="4242816"/>
            <a:ext cx="3602736" cy="1554480"/>
          </a:xfrm>
          <a:prstGeom prst="roundRect">
            <a:avLst>
              <a:gd name="adj" fmla="val 4118"/>
            </a:avLst>
          </a:prstGeom>
          <a:solidFill>
            <a:srgbClr val="F5F7FB"/>
          </a:solidFill>
          <a:ln w="12700">
            <a:solidFill>
              <a:srgbClr val="DFE4EE"/>
            </a:solidFill>
            <a:prstDash val="solid"/>
          </a:ln>
          <a:effectLst>
            <a:outerShdw blurRad="88900" dist="38100" dir="5400000" algn="bl" rotWithShape="0">
              <a:srgbClr val="071A45">
                <a:alpha val="12000"/>
              </a:srgbClr>
            </a:outerShdw>
          </a:effectLst>
        </p:spPr>
      </p:sp>
      <p:sp>
        <p:nvSpPr>
          <p:cNvPr id="26" name="Text 22"/>
          <p:cNvSpPr/>
          <p:nvPr/>
        </p:nvSpPr>
        <p:spPr>
          <a:xfrm>
            <a:off x="8275320" y="4389120"/>
            <a:ext cx="3236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5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SHORTCOMINGS</a:t>
            </a:r>
            <a:endParaRPr lang="en-US" sz="1350" dirty="0"/>
          </a:p>
        </p:txBody>
      </p:sp>
      <p:sp>
        <p:nvSpPr>
          <p:cNvPr id="27" name="Text 23"/>
          <p:cNvSpPr/>
          <p:nvPr/>
        </p:nvSpPr>
        <p:spPr>
          <a:xfrm>
            <a:off x="8275320" y="4700016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i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searching and asking attendants is slow and unreliable, and does not prevent unnecessary delays or fuel wastage.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502920" y="5943600"/>
            <a:ext cx="11183112" cy="457200"/>
          </a:xfrm>
          <a:prstGeom prst="roundRect">
            <a:avLst>
              <a:gd name="adj" fmla="val 20000"/>
            </a:avLst>
          </a:prstGeom>
          <a:solidFill>
            <a:srgbClr val="FFF6DD"/>
          </a:solidFill>
          <a:ln w="12700">
            <a:solidFill>
              <a:srgbClr val="F2D98A"/>
            </a:solidFill>
            <a:prstDash val="solid"/>
          </a:ln>
          <a:effectLst>
            <a:outerShdw blurRad="88900" dist="38100" dir="5400000" algn="bl" rotWithShape="0">
              <a:srgbClr val="071A45">
                <a:alpha val="12000"/>
              </a:srgbClr>
            </a:outerShdw>
          </a:effectLst>
        </p:spPr>
      </p:sp>
      <p:sp>
        <p:nvSpPr>
          <p:cNvPr id="29" name="Text 25"/>
          <p:cNvSpPr/>
          <p:nvPr/>
        </p:nvSpPr>
        <p:spPr>
          <a:xfrm>
            <a:off x="777240" y="59436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58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r>
              <a:rPr lang="en-US" sz="1250" b="1" dirty="0">
                <a:solidFill>
                  <a:srgbClr val="7A5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your completed Problem Statement Canvas to your reviewers.</a:t>
            </a:r>
            <a:endParaRPr lang="en-US" sz="125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98F2F3BC-1671-CF6C-C187-264C18E21B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3654" y="371776"/>
            <a:ext cx="1325426" cy="6035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n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37744"/>
            <a:ext cx="2212848" cy="61630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2920" y="914400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7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Problem Statement</a:t>
            </a:r>
            <a:endParaRPr lang="en-US" sz="2900" dirty="0"/>
          </a:p>
        </p:txBody>
      </p:sp>
      <p:sp>
        <p:nvSpPr>
          <p:cNvPr id="5" name="Shape 1"/>
          <p:cNvSpPr/>
          <p:nvPr/>
        </p:nvSpPr>
        <p:spPr>
          <a:xfrm>
            <a:off x="640080" y="1828800"/>
            <a:ext cx="10908792" cy="1965960"/>
          </a:xfrm>
          <a:prstGeom prst="roundRect">
            <a:avLst>
              <a:gd name="adj" fmla="val 4651"/>
            </a:avLst>
          </a:prstGeom>
          <a:solidFill>
            <a:srgbClr val="071A45"/>
          </a:solidFill>
          <a:ln/>
          <a:effectLst>
            <a:outerShdw blurRad="88900" dist="38100" dir="5400000" algn="bl" rotWithShape="0">
              <a:srgbClr val="071A45">
                <a:alpha val="12000"/>
              </a:srgbClr>
            </a:outerShdw>
          </a:effectLst>
        </p:spPr>
      </p:sp>
      <p:sp>
        <p:nvSpPr>
          <p:cNvPr id="6" name="Text 2"/>
          <p:cNvSpPr/>
          <p:nvPr/>
        </p:nvSpPr>
        <p:spPr>
          <a:xfrm>
            <a:off x="960120" y="208483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C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PROBLEM STATEMENT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960120" y="2514600"/>
            <a:ext cx="10241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C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Drivers/commuters ]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needs a way to  </a:t>
            </a:r>
            <a:r>
              <a:rPr lang="en-US" sz="2600" b="1" dirty="0">
                <a:solidFill>
                  <a:srgbClr val="FFC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know parking slot availability in real time before entering crowded areas ]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because  </a:t>
            </a:r>
            <a:r>
              <a:rPr lang="en-US" sz="2600" b="1" dirty="0">
                <a:solidFill>
                  <a:srgbClr val="FFC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manual monitoring wastes time and fuel, and increases traffic congestion and pollution ]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600" dirty="0"/>
          </a:p>
        </p:txBody>
      </p:sp>
      <p:sp>
        <p:nvSpPr>
          <p:cNvPr id="8" name="Shape 4"/>
          <p:cNvSpPr/>
          <p:nvPr/>
        </p:nvSpPr>
        <p:spPr>
          <a:xfrm>
            <a:off x="640080" y="4023360"/>
            <a:ext cx="10908792" cy="1920240"/>
          </a:xfrm>
          <a:prstGeom prst="roundRect">
            <a:avLst>
              <a:gd name="adj" fmla="val 4762"/>
            </a:avLst>
          </a:prstGeom>
          <a:solidFill>
            <a:srgbClr val="FFF6DD"/>
          </a:solidFill>
          <a:ln w="12700">
            <a:solidFill>
              <a:srgbClr val="F2D98A"/>
            </a:solidFill>
            <a:prstDash val="solid"/>
          </a:ln>
          <a:effectLst>
            <a:outerShdw blurRad="88900" dist="38100" dir="5400000" algn="bl" rotWithShape="0">
              <a:srgbClr val="071A45">
                <a:alpha val="12000"/>
              </a:srgbClr>
            </a:outerShdw>
          </a:effectLst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279392"/>
            <a:ext cx="384048" cy="38404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44752" y="426110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MIGHT WE (HMW)  —  turn the problem into an opportunity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960120" y="480060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might we help  </a:t>
            </a:r>
            <a:r>
              <a:rPr lang="en-US" sz="2100" b="1" dirty="0">
                <a:solidFill>
                  <a:srgbClr val="B58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drivers ]</a:t>
            </a:r>
            <a:r>
              <a:rPr lang="en-US" sz="2100" b="1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  </a:t>
            </a:r>
            <a:r>
              <a:rPr lang="en-US" sz="2100" b="1" dirty="0">
                <a:solidFill>
                  <a:srgbClr val="B58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quickly find and access a vacant parking slot ]</a:t>
            </a:r>
            <a:r>
              <a:rPr lang="en-US" sz="2100" b="1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so that  </a:t>
            </a:r>
            <a:r>
              <a:rPr lang="en-US" sz="2100" b="1" dirty="0">
                <a:solidFill>
                  <a:srgbClr val="B58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time, fuel and frustration are reduced and parking space utilization improves ]</a:t>
            </a:r>
            <a:r>
              <a:rPr lang="en-US" sz="2100" b="1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?</a:t>
            </a:r>
            <a:endParaRPr lang="en-US" sz="2100" dirty="0"/>
          </a:p>
        </p:txBody>
      </p:sp>
      <p:sp>
        <p:nvSpPr>
          <p:cNvPr id="12" name="Text 7"/>
          <p:cNvSpPr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Eshwar College of Engineering  ·  Design Thinking &amp; Innovation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9BC0592-4B1B-5A95-2F3E-13C3A5A660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3654" y="371776"/>
            <a:ext cx="1325426" cy="6035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n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37744"/>
            <a:ext cx="2212848" cy="61630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2920" y="914400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7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to the UN SDGs</a:t>
            </a:r>
            <a:endParaRPr lang="en-US" sz="2900" dirty="0"/>
          </a:p>
        </p:txBody>
      </p:sp>
      <p:sp>
        <p:nvSpPr>
          <p:cNvPr id="5" name="Text 1"/>
          <p:cNvSpPr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UN Sustainable Development Goal(s) does solving your problem help advance?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640080" y="1965960"/>
            <a:ext cx="1792224" cy="841248"/>
          </a:xfrm>
          <a:prstGeom prst="roundRect">
            <a:avLst>
              <a:gd name="adj" fmla="val 5435"/>
            </a:avLst>
          </a:prstGeom>
          <a:solidFill>
            <a:srgbClr val="E5243B"/>
          </a:solidFill>
          <a:ln/>
        </p:spPr>
      </p:sp>
      <p:sp>
        <p:nvSpPr>
          <p:cNvPr id="7" name="Text 3"/>
          <p:cNvSpPr/>
          <p:nvPr/>
        </p:nvSpPr>
        <p:spPr>
          <a:xfrm>
            <a:off x="749808" y="20574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749808" y="2386584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Poverty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2496312" y="1965960"/>
            <a:ext cx="1792224" cy="841248"/>
          </a:xfrm>
          <a:prstGeom prst="roundRect">
            <a:avLst>
              <a:gd name="adj" fmla="val 5435"/>
            </a:avLst>
          </a:prstGeom>
          <a:solidFill>
            <a:srgbClr val="DDA63A"/>
          </a:solidFill>
          <a:ln/>
        </p:spPr>
      </p:sp>
      <p:sp>
        <p:nvSpPr>
          <p:cNvPr id="10" name="Text 6"/>
          <p:cNvSpPr/>
          <p:nvPr/>
        </p:nvSpPr>
        <p:spPr>
          <a:xfrm>
            <a:off x="2606040" y="20574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2606040" y="2386584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Hunger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352544" y="1965960"/>
            <a:ext cx="1792224" cy="841248"/>
          </a:xfrm>
          <a:prstGeom prst="roundRect">
            <a:avLst>
              <a:gd name="adj" fmla="val 5435"/>
            </a:avLst>
          </a:prstGeom>
          <a:solidFill>
            <a:srgbClr val="4C9F38"/>
          </a:solidFill>
          <a:ln/>
        </p:spPr>
      </p:sp>
      <p:sp>
        <p:nvSpPr>
          <p:cNvPr id="13" name="Text 9"/>
          <p:cNvSpPr/>
          <p:nvPr/>
        </p:nvSpPr>
        <p:spPr>
          <a:xfrm>
            <a:off x="4462272" y="20574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462272" y="2386584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Health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208776" y="1965960"/>
            <a:ext cx="1792224" cy="841248"/>
          </a:xfrm>
          <a:prstGeom prst="roundRect">
            <a:avLst>
              <a:gd name="adj" fmla="val 5435"/>
            </a:avLst>
          </a:prstGeom>
          <a:solidFill>
            <a:srgbClr val="C5192D"/>
          </a:solidFill>
          <a:ln/>
        </p:spPr>
      </p:sp>
      <p:sp>
        <p:nvSpPr>
          <p:cNvPr id="16" name="Text 12"/>
          <p:cNvSpPr/>
          <p:nvPr/>
        </p:nvSpPr>
        <p:spPr>
          <a:xfrm>
            <a:off x="6318504" y="20574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6318504" y="2386584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Education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8065008" y="1965960"/>
            <a:ext cx="1792224" cy="841248"/>
          </a:xfrm>
          <a:prstGeom prst="roundRect">
            <a:avLst>
              <a:gd name="adj" fmla="val 5435"/>
            </a:avLst>
          </a:prstGeom>
          <a:solidFill>
            <a:srgbClr val="FF3A21"/>
          </a:solidFill>
          <a:ln/>
        </p:spPr>
      </p:sp>
      <p:sp>
        <p:nvSpPr>
          <p:cNvPr id="19" name="Text 15"/>
          <p:cNvSpPr/>
          <p:nvPr/>
        </p:nvSpPr>
        <p:spPr>
          <a:xfrm>
            <a:off x="8174736" y="20574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8174736" y="2386584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Equality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9921240" y="1965960"/>
            <a:ext cx="1792224" cy="841248"/>
          </a:xfrm>
          <a:prstGeom prst="roundRect">
            <a:avLst>
              <a:gd name="adj" fmla="val 5435"/>
            </a:avLst>
          </a:prstGeom>
          <a:solidFill>
            <a:srgbClr val="26BDE2"/>
          </a:solidFill>
          <a:ln/>
        </p:spPr>
      </p:sp>
      <p:sp>
        <p:nvSpPr>
          <p:cNvPr id="22" name="Text 18"/>
          <p:cNvSpPr/>
          <p:nvPr/>
        </p:nvSpPr>
        <p:spPr>
          <a:xfrm>
            <a:off x="10030968" y="20574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10030968" y="2386584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Water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640080" y="2898648"/>
            <a:ext cx="1792224" cy="841248"/>
          </a:xfrm>
          <a:prstGeom prst="roundRect">
            <a:avLst>
              <a:gd name="adj" fmla="val 5435"/>
            </a:avLst>
          </a:prstGeom>
          <a:solidFill>
            <a:srgbClr val="FCC30B"/>
          </a:solidFill>
          <a:ln/>
        </p:spPr>
      </p:sp>
      <p:sp>
        <p:nvSpPr>
          <p:cNvPr id="25" name="Text 21"/>
          <p:cNvSpPr/>
          <p:nvPr/>
        </p:nvSpPr>
        <p:spPr>
          <a:xfrm>
            <a:off x="749808" y="299008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26" name="Text 22"/>
          <p:cNvSpPr/>
          <p:nvPr/>
        </p:nvSpPr>
        <p:spPr>
          <a:xfrm>
            <a:off x="749808" y="3319272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Energy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2496312" y="2898648"/>
            <a:ext cx="1792224" cy="841248"/>
          </a:xfrm>
          <a:prstGeom prst="roundRect">
            <a:avLst>
              <a:gd name="adj" fmla="val 5435"/>
            </a:avLst>
          </a:prstGeom>
          <a:solidFill>
            <a:srgbClr val="A21942"/>
          </a:solidFill>
          <a:ln/>
        </p:spPr>
      </p:sp>
      <p:sp>
        <p:nvSpPr>
          <p:cNvPr id="28" name="Text 24"/>
          <p:cNvSpPr/>
          <p:nvPr/>
        </p:nvSpPr>
        <p:spPr>
          <a:xfrm>
            <a:off x="2606040" y="299008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29" name="Text 25"/>
          <p:cNvSpPr/>
          <p:nvPr/>
        </p:nvSpPr>
        <p:spPr>
          <a:xfrm>
            <a:off x="2606040" y="3319272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 Work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4352544" y="2898648"/>
            <a:ext cx="1792224" cy="841248"/>
          </a:xfrm>
          <a:prstGeom prst="roundRect">
            <a:avLst>
              <a:gd name="adj" fmla="val 5435"/>
            </a:avLst>
          </a:prstGeom>
          <a:solidFill>
            <a:srgbClr val="FD6925"/>
          </a:solidFill>
          <a:ln/>
        </p:spPr>
      </p:sp>
      <p:sp>
        <p:nvSpPr>
          <p:cNvPr id="31" name="Text 27"/>
          <p:cNvSpPr/>
          <p:nvPr/>
        </p:nvSpPr>
        <p:spPr>
          <a:xfrm>
            <a:off x="4462272" y="299008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000" dirty="0"/>
          </a:p>
        </p:txBody>
      </p:sp>
      <p:sp>
        <p:nvSpPr>
          <p:cNvPr id="32" name="Text 28"/>
          <p:cNvSpPr/>
          <p:nvPr/>
        </p:nvSpPr>
        <p:spPr>
          <a:xfrm>
            <a:off x="4462272" y="3319272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&amp; Innovation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6208776" y="2898648"/>
            <a:ext cx="1792224" cy="841248"/>
          </a:xfrm>
          <a:prstGeom prst="roundRect">
            <a:avLst>
              <a:gd name="adj" fmla="val 5435"/>
            </a:avLst>
          </a:prstGeom>
          <a:solidFill>
            <a:srgbClr val="DD1367"/>
          </a:solidFill>
          <a:ln/>
        </p:spPr>
      </p:sp>
      <p:sp>
        <p:nvSpPr>
          <p:cNvPr id="34" name="Text 30"/>
          <p:cNvSpPr/>
          <p:nvPr/>
        </p:nvSpPr>
        <p:spPr>
          <a:xfrm>
            <a:off x="6318504" y="299008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sp>
        <p:nvSpPr>
          <p:cNvPr id="35" name="Text 31"/>
          <p:cNvSpPr/>
          <p:nvPr/>
        </p:nvSpPr>
        <p:spPr>
          <a:xfrm>
            <a:off x="6318504" y="3319272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Inequalities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8065008" y="2898648"/>
            <a:ext cx="1792224" cy="841248"/>
          </a:xfrm>
          <a:prstGeom prst="roundRect">
            <a:avLst>
              <a:gd name="adj" fmla="val 5435"/>
            </a:avLst>
          </a:prstGeom>
          <a:solidFill>
            <a:srgbClr val="FD9D24"/>
          </a:solidFill>
          <a:ln/>
        </p:spPr>
      </p:sp>
      <p:sp>
        <p:nvSpPr>
          <p:cNvPr id="37" name="Text 33"/>
          <p:cNvSpPr/>
          <p:nvPr/>
        </p:nvSpPr>
        <p:spPr>
          <a:xfrm>
            <a:off x="8174736" y="299008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000" dirty="0"/>
          </a:p>
        </p:txBody>
      </p:sp>
      <p:sp>
        <p:nvSpPr>
          <p:cNvPr id="38" name="Text 34"/>
          <p:cNvSpPr/>
          <p:nvPr/>
        </p:nvSpPr>
        <p:spPr>
          <a:xfrm>
            <a:off x="8174736" y="3319272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Cities</a:t>
            </a:r>
            <a:endParaRPr lang="en-US" sz="950" dirty="0"/>
          </a:p>
        </p:txBody>
      </p:sp>
      <p:sp>
        <p:nvSpPr>
          <p:cNvPr id="39" name="Shape 35"/>
          <p:cNvSpPr/>
          <p:nvPr/>
        </p:nvSpPr>
        <p:spPr>
          <a:xfrm>
            <a:off x="9921240" y="2898648"/>
            <a:ext cx="1792224" cy="841248"/>
          </a:xfrm>
          <a:prstGeom prst="roundRect">
            <a:avLst>
              <a:gd name="adj" fmla="val 5435"/>
            </a:avLst>
          </a:prstGeom>
          <a:solidFill>
            <a:srgbClr val="BF8B2E"/>
          </a:solidFill>
          <a:ln/>
        </p:spPr>
      </p:sp>
      <p:sp>
        <p:nvSpPr>
          <p:cNvPr id="40" name="Text 36"/>
          <p:cNvSpPr/>
          <p:nvPr/>
        </p:nvSpPr>
        <p:spPr>
          <a:xfrm>
            <a:off x="10030968" y="299008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000" dirty="0"/>
          </a:p>
        </p:txBody>
      </p:sp>
      <p:sp>
        <p:nvSpPr>
          <p:cNvPr id="41" name="Text 37"/>
          <p:cNvSpPr/>
          <p:nvPr/>
        </p:nvSpPr>
        <p:spPr>
          <a:xfrm>
            <a:off x="10030968" y="3319272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Consumption</a:t>
            </a:r>
            <a:endParaRPr lang="en-US" sz="950" dirty="0"/>
          </a:p>
        </p:txBody>
      </p:sp>
      <p:sp>
        <p:nvSpPr>
          <p:cNvPr id="42" name="Shape 38"/>
          <p:cNvSpPr/>
          <p:nvPr/>
        </p:nvSpPr>
        <p:spPr>
          <a:xfrm>
            <a:off x="640080" y="3831336"/>
            <a:ext cx="1792224" cy="841248"/>
          </a:xfrm>
          <a:prstGeom prst="roundRect">
            <a:avLst>
              <a:gd name="adj" fmla="val 5435"/>
            </a:avLst>
          </a:prstGeom>
          <a:solidFill>
            <a:srgbClr val="3F7E44"/>
          </a:solidFill>
          <a:ln/>
        </p:spPr>
      </p:sp>
      <p:sp>
        <p:nvSpPr>
          <p:cNvPr id="43" name="Text 39"/>
          <p:cNvSpPr/>
          <p:nvPr/>
        </p:nvSpPr>
        <p:spPr>
          <a:xfrm>
            <a:off x="749808" y="392277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000" dirty="0"/>
          </a:p>
        </p:txBody>
      </p:sp>
      <p:sp>
        <p:nvSpPr>
          <p:cNvPr id="44" name="Text 40"/>
          <p:cNvSpPr/>
          <p:nvPr/>
        </p:nvSpPr>
        <p:spPr>
          <a:xfrm>
            <a:off x="749808" y="425196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Action</a:t>
            </a:r>
            <a:endParaRPr lang="en-US" sz="950" dirty="0"/>
          </a:p>
        </p:txBody>
      </p:sp>
      <p:sp>
        <p:nvSpPr>
          <p:cNvPr id="45" name="Shape 41"/>
          <p:cNvSpPr/>
          <p:nvPr/>
        </p:nvSpPr>
        <p:spPr>
          <a:xfrm>
            <a:off x="2496312" y="3831336"/>
            <a:ext cx="1792224" cy="841248"/>
          </a:xfrm>
          <a:prstGeom prst="roundRect">
            <a:avLst>
              <a:gd name="adj" fmla="val 5435"/>
            </a:avLst>
          </a:prstGeom>
          <a:solidFill>
            <a:srgbClr val="0A97D9"/>
          </a:solidFill>
          <a:ln/>
        </p:spPr>
      </p:sp>
      <p:sp>
        <p:nvSpPr>
          <p:cNvPr id="46" name="Text 42"/>
          <p:cNvSpPr/>
          <p:nvPr/>
        </p:nvSpPr>
        <p:spPr>
          <a:xfrm>
            <a:off x="2606040" y="392277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000" dirty="0"/>
          </a:p>
        </p:txBody>
      </p:sp>
      <p:sp>
        <p:nvSpPr>
          <p:cNvPr id="47" name="Text 43"/>
          <p:cNvSpPr/>
          <p:nvPr/>
        </p:nvSpPr>
        <p:spPr>
          <a:xfrm>
            <a:off x="2606040" y="425196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Below Water</a:t>
            </a:r>
            <a:endParaRPr lang="en-US" sz="950" dirty="0"/>
          </a:p>
        </p:txBody>
      </p:sp>
      <p:sp>
        <p:nvSpPr>
          <p:cNvPr id="48" name="Shape 44"/>
          <p:cNvSpPr/>
          <p:nvPr/>
        </p:nvSpPr>
        <p:spPr>
          <a:xfrm>
            <a:off x="4352544" y="3831336"/>
            <a:ext cx="1792224" cy="841248"/>
          </a:xfrm>
          <a:prstGeom prst="roundRect">
            <a:avLst>
              <a:gd name="adj" fmla="val 5435"/>
            </a:avLst>
          </a:prstGeom>
          <a:solidFill>
            <a:srgbClr val="56C02B"/>
          </a:solidFill>
          <a:ln/>
        </p:spPr>
      </p:sp>
      <p:sp>
        <p:nvSpPr>
          <p:cNvPr id="49" name="Text 45"/>
          <p:cNvSpPr/>
          <p:nvPr/>
        </p:nvSpPr>
        <p:spPr>
          <a:xfrm>
            <a:off x="4462272" y="392277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000" dirty="0"/>
          </a:p>
        </p:txBody>
      </p:sp>
      <p:sp>
        <p:nvSpPr>
          <p:cNvPr id="50" name="Text 46"/>
          <p:cNvSpPr/>
          <p:nvPr/>
        </p:nvSpPr>
        <p:spPr>
          <a:xfrm>
            <a:off x="4462272" y="425196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on Land</a:t>
            </a:r>
            <a:endParaRPr lang="en-US" sz="950" dirty="0"/>
          </a:p>
        </p:txBody>
      </p:sp>
      <p:sp>
        <p:nvSpPr>
          <p:cNvPr id="51" name="Shape 47"/>
          <p:cNvSpPr/>
          <p:nvPr/>
        </p:nvSpPr>
        <p:spPr>
          <a:xfrm>
            <a:off x="6208776" y="3831336"/>
            <a:ext cx="1792224" cy="841248"/>
          </a:xfrm>
          <a:prstGeom prst="roundRect">
            <a:avLst>
              <a:gd name="adj" fmla="val 5435"/>
            </a:avLst>
          </a:prstGeom>
          <a:solidFill>
            <a:srgbClr val="00689D"/>
          </a:solidFill>
          <a:ln/>
        </p:spPr>
      </p:sp>
      <p:sp>
        <p:nvSpPr>
          <p:cNvPr id="52" name="Text 48"/>
          <p:cNvSpPr/>
          <p:nvPr/>
        </p:nvSpPr>
        <p:spPr>
          <a:xfrm>
            <a:off x="6318504" y="392277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000" dirty="0"/>
          </a:p>
        </p:txBody>
      </p:sp>
      <p:sp>
        <p:nvSpPr>
          <p:cNvPr id="53" name="Text 49"/>
          <p:cNvSpPr/>
          <p:nvPr/>
        </p:nvSpPr>
        <p:spPr>
          <a:xfrm>
            <a:off x="6318504" y="425196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Peace &amp; Justice</a:t>
            </a:r>
            <a:endParaRPr lang="en-US" sz="950" dirty="0"/>
          </a:p>
        </p:txBody>
      </p:sp>
      <p:sp>
        <p:nvSpPr>
          <p:cNvPr id="54" name="Shape 50"/>
          <p:cNvSpPr/>
          <p:nvPr/>
        </p:nvSpPr>
        <p:spPr>
          <a:xfrm>
            <a:off x="8065008" y="3831336"/>
            <a:ext cx="1792224" cy="841248"/>
          </a:xfrm>
          <a:prstGeom prst="roundRect">
            <a:avLst>
              <a:gd name="adj" fmla="val 5435"/>
            </a:avLst>
          </a:prstGeom>
          <a:solidFill>
            <a:srgbClr val="19486A"/>
          </a:solidFill>
          <a:ln/>
        </p:spPr>
      </p:sp>
      <p:sp>
        <p:nvSpPr>
          <p:cNvPr id="55" name="Text 51"/>
          <p:cNvSpPr/>
          <p:nvPr/>
        </p:nvSpPr>
        <p:spPr>
          <a:xfrm>
            <a:off x="8174736" y="392277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000" dirty="0"/>
          </a:p>
        </p:txBody>
      </p:sp>
      <p:sp>
        <p:nvSpPr>
          <p:cNvPr id="56" name="Text 52"/>
          <p:cNvSpPr/>
          <p:nvPr/>
        </p:nvSpPr>
        <p:spPr>
          <a:xfrm>
            <a:off x="8174736" y="425196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</a:t>
            </a:r>
            <a:endParaRPr lang="en-US" sz="950" dirty="0"/>
          </a:p>
        </p:txBody>
      </p:sp>
      <p:sp>
        <p:nvSpPr>
          <p:cNvPr id="57" name="Shape 53"/>
          <p:cNvSpPr/>
          <p:nvPr/>
        </p:nvSpPr>
        <p:spPr>
          <a:xfrm>
            <a:off x="640080" y="4837176"/>
            <a:ext cx="10908792" cy="1078992"/>
          </a:xfrm>
          <a:prstGeom prst="roundRect">
            <a:avLst>
              <a:gd name="adj" fmla="val 8475"/>
            </a:avLst>
          </a:prstGeom>
          <a:solidFill>
            <a:srgbClr val="FFF6DD"/>
          </a:solidFill>
          <a:ln w="12700">
            <a:solidFill>
              <a:srgbClr val="F2D98A"/>
            </a:solidFill>
            <a:prstDash val="solid"/>
          </a:ln>
          <a:effectLst>
            <a:outerShdw blurRad="88900" dist="38100" dir="5400000" algn="bl" rotWithShape="0">
              <a:srgbClr val="071A45">
                <a:alpha val="12000"/>
              </a:srgbClr>
            </a:outerShdw>
          </a:effectLst>
        </p:spPr>
      </p:sp>
      <p:pic>
        <p:nvPicPr>
          <p:cNvPr id="5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020056"/>
            <a:ext cx="411480" cy="411480"/>
          </a:xfrm>
          <a:prstGeom prst="rect">
            <a:avLst/>
          </a:prstGeom>
        </p:spPr>
      </p:pic>
      <p:sp>
        <p:nvSpPr>
          <p:cNvPr id="59" name="Text 54"/>
          <p:cNvSpPr/>
          <p:nvPr/>
        </p:nvSpPr>
        <p:spPr>
          <a:xfrm>
            <a:off x="1463040" y="5001768"/>
            <a:ext cx="9875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problem maps to  </a:t>
            </a:r>
            <a:r>
              <a:rPr lang="en-US" sz="1450" b="1" dirty="0">
                <a:solidFill>
                  <a:srgbClr val="B58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[ 11 ]</a:t>
            </a:r>
            <a:r>
              <a:rPr lang="en-US" sz="14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because   </a:t>
            </a:r>
            <a:r>
              <a:rPr lang="en-US" sz="1450" i="1" dirty="0">
                <a:solidFill>
                  <a:srgbClr val="9A7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reduces traffic congestion, fuel wastage and air pollution by helping vehicles find parking quickly, making urban mobility and city infrastructure more sustainable and efficient.</a:t>
            </a:r>
            <a:endParaRPr lang="en-US" sz="1450" dirty="0"/>
          </a:p>
        </p:txBody>
      </p:sp>
      <p:sp>
        <p:nvSpPr>
          <p:cNvPr id="60" name="Text 55"/>
          <p:cNvSpPr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Eshwar College of Engineering  ·  Design Thinking &amp; Innovation</a:t>
            </a:r>
            <a:endParaRPr lang="en-US" sz="900" dirty="0"/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BEAA63C2-6876-CE01-BEB4-C34D0C0F3E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3654" y="371776"/>
            <a:ext cx="1325426" cy="60350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2194560"/>
            <a:ext cx="6583680" cy="6583680"/>
          </a:xfrm>
          <a:prstGeom prst="ellipse">
            <a:avLst/>
          </a:prstGeom>
          <a:solidFill>
            <a:srgbClr val="0D2F7A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3474720"/>
            <a:ext cx="5852160" cy="5852160"/>
          </a:xfrm>
          <a:prstGeom prst="ellipse">
            <a:avLst/>
          </a:prstGeom>
          <a:solidFill>
            <a:srgbClr val="0D2F7A">
              <a:alpha val="4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148840"/>
            <a:ext cx="112745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C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352044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feedback &amp; ideas are always welcome.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C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Eshwar College of Engineering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52120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100" dirty="0">
                <a:solidFill>
                  <a:srgbClr val="C3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Eshwar Innovation Studio ·  Coimbatore | Tamilnadu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1395</Words>
  <Application>Microsoft Office PowerPoint</Application>
  <PresentationFormat>Widescreen</PresentationFormat>
  <Paragraphs>174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Empathy Mapping — Student Presentation Template</dc:title>
  <dc:subject>PptxGenJS Presentation</dc:subject>
  <dc:creator>Sri Eshwar Innovation Studio</dc:creator>
  <cp:lastModifiedBy>Sri dharan</cp:lastModifiedBy>
  <cp:revision>7</cp:revision>
  <dcterms:created xsi:type="dcterms:W3CDTF">2026-06-20T12:55:14Z</dcterms:created>
  <dcterms:modified xsi:type="dcterms:W3CDTF">2026-07-05T15:42:27Z</dcterms:modified>
</cp:coreProperties>
</file>
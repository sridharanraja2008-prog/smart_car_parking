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50" r:id="rId2"/>
  </p:sldMasterIdLst>
  <p:notesMasterIdLst>
    <p:notesMasterId r:id="rId17"/>
  </p:notesMasterIdLst>
  <p:sldIdLst>
    <p:sldId id="256" r:id="rId3"/>
    <p:sldId id="257" r:id="rId4"/>
    <p:sldId id="263" r:id="rId5"/>
    <p:sldId id="264" r:id="rId6"/>
    <p:sldId id="274" r:id="rId7"/>
    <p:sldId id="275" r:id="rId8"/>
    <p:sldId id="265" r:id="rId9"/>
    <p:sldId id="266" r:id="rId10"/>
    <p:sldId id="267" r:id="rId11"/>
    <p:sldId id="268" r:id="rId12"/>
    <p:sldId id="270" r:id="rId13"/>
    <p:sldId id="271" r:id="rId14"/>
    <p:sldId id="272" r:id="rId15"/>
    <p:sldId id="273"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34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2270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mentor. Keep this to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only recaps. Everything after this is new work from the Ideate stage.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reviewers remember. Say the pitch line out loud, clearly.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frames: problem → user meets solution → user uses it → outcome.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BEFORE story aloud first, then the AFTER story. Use real details from your field visit — names, times, what the person actually said. A story full of [ blanks ] or generic phrases shows the team never met a real user.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08A7E-B2CB-1347-A8B5-57B9B1B8BF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4FC5BD-D36F-4358-1C80-70C57CA5A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F8A07B-F194-317C-5A77-3E96ECC70DE1}"/>
              </a:ext>
            </a:extLst>
          </p:cNvPr>
          <p:cNvSpPr>
            <a:spLocks noGrp="1"/>
          </p:cNvSpPr>
          <p:nvPr>
            <p:ph type="body" idx="1"/>
          </p:nvPr>
        </p:nvSpPr>
        <p:spPr/>
        <p:txBody>
          <a:bodyPr/>
          <a:lstStyle/>
          <a:p>
            <a:r>
              <a:rPr lang="en-US" dirty="0"/>
              <a:t>Read the BEFORE story aloud first, then the AFTER story. Use real details from your field visit — names, times, what the person actually said. A story full of [ blanks ] or generic phrases shows the team never met a real user.</a:t>
            </a:r>
          </a:p>
        </p:txBody>
      </p:sp>
      <p:sp>
        <p:nvSpPr>
          <p:cNvPr id="4" name="Slide Number Placeholder 3">
            <a:extLst>
              <a:ext uri="{FF2B5EF4-FFF2-40B4-BE49-F238E27FC236}">
                <a16:creationId xmlns:a16="http://schemas.microsoft.com/office/drawing/2014/main" id="{82D91D58-3366-1CEF-8A25-3B018E87630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381562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feature has no matching pain point, it is a feature you invented — drop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Novelty is a scoring criterion. Be specific about the gap.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a risk is a strength, not a weakness.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Approximate figures are fine. Show the thinking, not precision.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primary SDG. Two at most. Do not tick every box.</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work is a scored criterion. Everyone should speak at least once.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a clear ask. Mentors can only help if you name what you need.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fld id="{A3464B84-BDE3-4D1F-9B63-5F2E66B19489}" type="datetime1">
              <a:rPr lang="en-IN" smtClean="0"/>
              <a:t>25-07-2026</a:t>
            </a:fld>
            <a:endParaRPr lang="en-IN"/>
          </a:p>
        </p:txBody>
      </p:sp>
      <p:sp>
        <p:nvSpPr>
          <p:cNvPr id="3"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endParaRPr lang="en-IN"/>
          </a:p>
        </p:txBody>
      </p:sp>
      <p:sp>
        <p:nvSpPr>
          <p:cNvPr id="4"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fld id="{5DA69706-AA36-4E7E-8FCC-9F872632B4D5}"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685877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Date Placeholder"/>
          <p:cNvSpPr>
            <a:spLocks noGrp="1"/>
          </p:cNvSpPr>
          <p:nvPr>
            <p:ph type="dt" sz="quarter" idx="2"/>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fld id="{3B21E6B7-6C87-44B0-9505-88B357C2A70C}" type="datetime1">
              <a:rPr lang="en-IN" smtClean="0"/>
              <a:t>25-07-2026</a:t>
            </a:fld>
            <a:endParaRPr lang="en-IN"/>
          </a:p>
        </p:txBody>
      </p:sp>
      <p:sp>
        <p:nvSpPr>
          <p:cNvPr id="3" name="Footer Placeholder"/>
          <p:cNvSpPr>
            <a:spLocks noGrp="1"/>
          </p:cNvSpPr>
          <p:nvPr>
            <p:ph type="ftr" sz="quarter" idx="3"/>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endParaRPr lang="en-IN"/>
          </a:p>
        </p:txBody>
      </p:sp>
      <p:sp>
        <p:nvSpPr>
          <p:cNvPr id="4" name="Slide Number Placeholder"/>
          <p:cNvSpPr>
            <a:spLocks noGrp="1"/>
          </p:cNvSpPr>
          <p:nvPr>
            <p:ph type="sldNum" sz="quarter" idx="4"/>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fld id="{DE66FFF3-00B7-4355-ADB4-2E871AF7C504}"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6496056"/>
      </p:ext>
    </p:extLst>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2.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4" name="Text 1"/>
          <p:cNvSpPr/>
          <p:nvPr/>
        </p:nvSpPr>
        <p:spPr>
          <a:xfrm>
            <a:off x="758952" y="1494954"/>
            <a:ext cx="10927080" cy="502920"/>
          </a:xfrm>
          <a:prstGeom prst="rect">
            <a:avLst/>
          </a:prstGeom>
          <a:noFill/>
          <a:ln/>
        </p:spPr>
        <p:txBody>
          <a:bodyPr wrap="square" lIns="0" tIns="0" rIns="0" bIns="0" rtlCol="0" anchor="ctr"/>
          <a:lstStyle/>
          <a:p>
            <a:pPr marL="0" indent="0" algn="ctr">
              <a:buNone/>
            </a:pPr>
            <a:r>
              <a:rPr lang="en-US" sz="3400" b="1" dirty="0">
                <a:solidFill>
                  <a:srgbClr val="071A45"/>
                </a:solidFill>
                <a:latin typeface="Calibri" pitchFamily="34" charset="0"/>
                <a:ea typeface="Calibri" pitchFamily="34" charset="-122"/>
                <a:cs typeface="Calibri" pitchFamily="34" charset="-120"/>
              </a:rPr>
              <a:t>Design Thinking &amp; Innovation</a:t>
            </a:r>
            <a:endParaRPr lang="en-US" sz="3400" dirty="0"/>
          </a:p>
        </p:txBody>
      </p:sp>
      <p:sp>
        <p:nvSpPr>
          <p:cNvPr id="5" name="Text 2"/>
          <p:cNvSpPr/>
          <p:nvPr/>
        </p:nvSpPr>
        <p:spPr>
          <a:xfrm>
            <a:off x="758951" y="1956816"/>
            <a:ext cx="10927079" cy="457200"/>
          </a:xfrm>
          <a:prstGeom prst="rect">
            <a:avLst/>
          </a:prstGeom>
          <a:noFill/>
          <a:ln/>
        </p:spPr>
        <p:txBody>
          <a:bodyPr wrap="square" lIns="0" tIns="0" rIns="0" bIns="0" rtlCol="0" anchor="ctr"/>
          <a:lstStyle/>
          <a:p>
            <a:pPr marL="0" indent="0" algn="ctr">
              <a:buNone/>
            </a:pPr>
            <a:r>
              <a:rPr lang="en-US" sz="2800" dirty="0">
                <a:solidFill>
                  <a:srgbClr val="1C52C2"/>
                </a:solidFill>
                <a:latin typeface="Calibri" pitchFamily="34" charset="0"/>
                <a:ea typeface="Calibri" pitchFamily="34" charset="-122"/>
                <a:cs typeface="Calibri" pitchFamily="34" charset="-120"/>
              </a:rPr>
              <a:t>Idea Showcase Presentation</a:t>
            </a:r>
            <a:endParaRPr lang="en-US" sz="2800" dirty="0"/>
          </a:p>
        </p:txBody>
      </p:sp>
      <p:sp>
        <p:nvSpPr>
          <p:cNvPr id="6" name="Text 3"/>
          <p:cNvSpPr/>
          <p:nvPr/>
        </p:nvSpPr>
        <p:spPr>
          <a:xfrm>
            <a:off x="758952" y="2605862"/>
            <a:ext cx="10927078" cy="338328"/>
          </a:xfrm>
          <a:prstGeom prst="rect">
            <a:avLst/>
          </a:prstGeom>
          <a:noFill/>
          <a:ln/>
        </p:spPr>
        <p:txBody>
          <a:bodyPr wrap="square" lIns="0" tIns="0" rIns="0" bIns="0" rtlCol="0" anchor="ctr"/>
          <a:lstStyle/>
          <a:p>
            <a:pPr marL="0" indent="0" algn="ctr">
              <a:buNone/>
            </a:pPr>
            <a:r>
              <a:rPr lang="en-US" sz="2800" b="1" kern="0" spc="50" dirty="0">
                <a:solidFill>
                  <a:schemeClr val="accent4">
                    <a:lumMod val="75000"/>
                  </a:schemeClr>
                </a:solidFill>
                <a:latin typeface="Calibri" pitchFamily="34" charset="0"/>
                <a:ea typeface="Calibri" pitchFamily="34" charset="-122"/>
                <a:cs typeface="Calibri" pitchFamily="34" charset="-120"/>
              </a:rPr>
              <a:t>Review - I</a:t>
            </a:r>
            <a:endParaRPr lang="en-US" sz="1200" dirty="0"/>
          </a:p>
        </p:txBody>
      </p:sp>
      <p:sp>
        <p:nvSpPr>
          <p:cNvPr id="7" name="Shape 4"/>
          <p:cNvSpPr/>
          <p:nvPr/>
        </p:nvSpPr>
        <p:spPr>
          <a:xfrm>
            <a:off x="502920" y="3223689"/>
            <a:ext cx="5303520" cy="2514600"/>
          </a:xfrm>
          <a:prstGeom prst="roundRect">
            <a:avLst>
              <a:gd name="adj" fmla="val 2909"/>
            </a:avLst>
          </a:prstGeom>
          <a:solidFill>
            <a:schemeClr val="accent1">
              <a:lumMod val="50000"/>
            </a:schemeClr>
          </a:solidFill>
          <a:ln w="12700">
            <a:solidFill>
              <a:srgbClr val="DFE4EE"/>
            </a:solidFill>
            <a:prstDash val="solid"/>
          </a:ln>
        </p:spPr>
      </p:sp>
      <p:sp>
        <p:nvSpPr>
          <p:cNvPr id="8" name="Text 5"/>
          <p:cNvSpPr/>
          <p:nvPr/>
        </p:nvSpPr>
        <p:spPr>
          <a:xfrm>
            <a:off x="822960" y="3401568"/>
            <a:ext cx="4663440" cy="237744"/>
          </a:xfrm>
          <a:prstGeom prst="rect">
            <a:avLst/>
          </a:prstGeom>
          <a:noFill/>
          <a:ln/>
        </p:spPr>
        <p:txBody>
          <a:bodyPr wrap="square" lIns="0" tIns="0" rIns="0" bIns="0" rtlCol="0" anchor="ctr"/>
          <a:lstStyle/>
          <a:p>
            <a:pPr marL="0" indent="0" algn="l">
              <a:buNone/>
            </a:pPr>
            <a:r>
              <a:rPr lang="en-US" sz="1200" b="1" kern="0" spc="60" dirty="0">
                <a:solidFill>
                  <a:srgbClr val="FFC000"/>
                </a:solidFill>
                <a:latin typeface="Calibri" pitchFamily="34" charset="0"/>
                <a:ea typeface="Calibri" pitchFamily="34" charset="-122"/>
                <a:cs typeface="Calibri" pitchFamily="34" charset="-120"/>
              </a:rPr>
              <a:t>FACULTY MENTOR</a:t>
            </a:r>
            <a:endParaRPr lang="en-US" sz="1200" dirty="0">
              <a:solidFill>
                <a:srgbClr val="FFC000"/>
              </a:solidFill>
            </a:endParaRPr>
          </a:p>
        </p:txBody>
      </p:sp>
      <p:sp>
        <p:nvSpPr>
          <p:cNvPr id="9" name="Text 6"/>
          <p:cNvSpPr/>
          <p:nvPr/>
        </p:nvSpPr>
        <p:spPr>
          <a:xfrm>
            <a:off x="822960" y="3886200"/>
            <a:ext cx="4663440" cy="320040"/>
          </a:xfrm>
          <a:prstGeom prst="rect">
            <a:avLst/>
          </a:prstGeom>
          <a:noFill/>
          <a:ln/>
        </p:spPr>
        <p:txBody>
          <a:bodyPr wrap="square" lIns="0" tIns="0" rIns="0" bIns="0" rtlCol="0" anchor="t"/>
          <a:lstStyle/>
          <a:p>
            <a:pPr marL="0" indent="0" algn="l">
              <a:lnSpc>
                <a:spcPct val="105000"/>
              </a:lnSpc>
              <a:buNone/>
            </a:pPr>
            <a:r>
              <a:rPr lang="en-US" sz="1200" dirty="0">
                <a:solidFill>
                  <a:schemeClr val="bg1"/>
                </a:solidFill>
                <a:latin typeface="Calibri" pitchFamily="34" charset="0"/>
                <a:ea typeface="Calibri" pitchFamily="34" charset="-122"/>
                <a:cs typeface="Calibri" pitchFamily="34" charset="-120"/>
              </a:rPr>
              <a:t>Name:   [ </a:t>
            </a:r>
            <a:r>
              <a:rPr lang="en-US" sz="1200" dirty="0" err="1">
                <a:solidFill>
                  <a:schemeClr val="bg1"/>
                </a:solidFill>
                <a:latin typeface="Calibri" pitchFamily="34" charset="0"/>
                <a:ea typeface="Calibri" pitchFamily="34" charset="-122"/>
                <a:cs typeface="Calibri" pitchFamily="34" charset="-120"/>
              </a:rPr>
              <a:t>Ms</a:t>
            </a:r>
            <a:r>
              <a:rPr lang="en-US" sz="1200" dirty="0">
                <a:solidFill>
                  <a:schemeClr val="bg1"/>
                </a:solidFill>
                <a:latin typeface="Calibri" pitchFamily="34" charset="0"/>
                <a:ea typeface="Calibri" pitchFamily="34" charset="-122"/>
                <a:cs typeface="Calibri" pitchFamily="34" charset="-120"/>
              </a:rPr>
              <a:t> . AZHAGURAMYAA]</a:t>
            </a:r>
            <a:endParaRPr lang="en-US" sz="1200" dirty="0">
              <a:solidFill>
                <a:schemeClr val="bg1"/>
              </a:solidFill>
            </a:endParaRPr>
          </a:p>
        </p:txBody>
      </p:sp>
      <p:sp>
        <p:nvSpPr>
          <p:cNvPr id="10" name="Text 7"/>
          <p:cNvSpPr/>
          <p:nvPr/>
        </p:nvSpPr>
        <p:spPr>
          <a:xfrm>
            <a:off x="822960" y="4361688"/>
            <a:ext cx="4663440" cy="320040"/>
          </a:xfrm>
          <a:prstGeom prst="rect">
            <a:avLst/>
          </a:prstGeom>
          <a:noFill/>
          <a:ln/>
        </p:spPr>
        <p:txBody>
          <a:bodyPr wrap="square" lIns="0" tIns="0" rIns="0" bIns="0" rtlCol="0" anchor="t"/>
          <a:lstStyle/>
          <a:p>
            <a:pPr marL="0" indent="0" algn="l">
              <a:lnSpc>
                <a:spcPct val="105000"/>
              </a:lnSpc>
              <a:buNone/>
            </a:pPr>
            <a:r>
              <a:rPr lang="en-US" sz="1200" dirty="0">
                <a:solidFill>
                  <a:schemeClr val="bg1"/>
                </a:solidFill>
                <a:latin typeface="Calibri" pitchFamily="34" charset="0"/>
                <a:ea typeface="Calibri" pitchFamily="34" charset="-122"/>
                <a:cs typeface="Calibri" pitchFamily="34" charset="-120"/>
              </a:rPr>
              <a:t>Designation:   [HEAD OF THE DEPARTMENT  ]</a:t>
            </a:r>
            <a:endParaRPr lang="en-US" sz="1200" dirty="0">
              <a:solidFill>
                <a:schemeClr val="bg1"/>
              </a:solidFill>
            </a:endParaRPr>
          </a:p>
        </p:txBody>
      </p:sp>
      <p:sp>
        <p:nvSpPr>
          <p:cNvPr id="11" name="Text 8"/>
          <p:cNvSpPr/>
          <p:nvPr/>
        </p:nvSpPr>
        <p:spPr>
          <a:xfrm>
            <a:off x="822960" y="4837176"/>
            <a:ext cx="4663440" cy="320040"/>
          </a:xfrm>
          <a:prstGeom prst="rect">
            <a:avLst/>
          </a:prstGeom>
          <a:noFill/>
          <a:ln/>
        </p:spPr>
        <p:txBody>
          <a:bodyPr wrap="square" lIns="0" tIns="0" rIns="0" bIns="0" rtlCol="0" anchor="t"/>
          <a:lstStyle/>
          <a:p>
            <a:pPr marL="0" indent="0" algn="l">
              <a:lnSpc>
                <a:spcPct val="105000"/>
              </a:lnSpc>
              <a:buNone/>
            </a:pPr>
            <a:r>
              <a:rPr lang="en-US" sz="1200" dirty="0">
                <a:solidFill>
                  <a:schemeClr val="bg1"/>
                </a:solidFill>
                <a:latin typeface="Calibri" pitchFamily="34" charset="0"/>
                <a:ea typeface="Calibri" pitchFamily="34" charset="-122"/>
                <a:cs typeface="Calibri" pitchFamily="34" charset="-120"/>
              </a:rPr>
              <a:t>Department:   [CYBER SECURITY ]</a:t>
            </a:r>
            <a:endParaRPr lang="en-US" sz="1200" dirty="0">
              <a:solidFill>
                <a:schemeClr val="bg1"/>
              </a:solidFill>
            </a:endParaRPr>
          </a:p>
        </p:txBody>
      </p:sp>
      <p:sp>
        <p:nvSpPr>
          <p:cNvPr id="12" name="Shape 9"/>
          <p:cNvSpPr/>
          <p:nvPr/>
        </p:nvSpPr>
        <p:spPr>
          <a:xfrm>
            <a:off x="6382512" y="3215062"/>
            <a:ext cx="5303520" cy="2514600"/>
          </a:xfrm>
          <a:prstGeom prst="roundRect">
            <a:avLst>
              <a:gd name="adj" fmla="val 2909"/>
            </a:avLst>
          </a:prstGeom>
          <a:solidFill>
            <a:schemeClr val="accent1">
              <a:lumMod val="50000"/>
            </a:schemeClr>
          </a:solidFill>
          <a:ln w="12700">
            <a:solidFill>
              <a:srgbClr val="C3CDE8"/>
            </a:solidFill>
            <a:prstDash val="solid"/>
          </a:ln>
        </p:spPr>
      </p:sp>
      <p:sp>
        <p:nvSpPr>
          <p:cNvPr id="13" name="Text 10"/>
          <p:cNvSpPr/>
          <p:nvPr/>
        </p:nvSpPr>
        <p:spPr>
          <a:xfrm>
            <a:off x="6702552" y="3401568"/>
            <a:ext cx="4663440" cy="237744"/>
          </a:xfrm>
          <a:prstGeom prst="rect">
            <a:avLst/>
          </a:prstGeom>
          <a:noFill/>
          <a:ln/>
        </p:spPr>
        <p:txBody>
          <a:bodyPr wrap="square" lIns="0" tIns="0" rIns="0" bIns="0" rtlCol="0" anchor="ctr"/>
          <a:lstStyle/>
          <a:p>
            <a:pPr marL="0" indent="0" algn="l">
              <a:buNone/>
            </a:pPr>
            <a:r>
              <a:rPr lang="en-US" sz="1200" b="1" kern="0" spc="60" dirty="0">
                <a:solidFill>
                  <a:srgbClr val="FFC000"/>
                </a:solidFill>
                <a:latin typeface="Calibri" pitchFamily="34" charset="0"/>
                <a:ea typeface="Calibri" pitchFamily="34" charset="-122"/>
                <a:cs typeface="Calibri" pitchFamily="34" charset="-120"/>
              </a:rPr>
              <a:t>TEAM</a:t>
            </a:r>
            <a:endParaRPr lang="en-US" sz="1200" dirty="0">
              <a:solidFill>
                <a:srgbClr val="FFC000"/>
              </a:solidFill>
            </a:endParaRPr>
          </a:p>
        </p:txBody>
      </p:sp>
      <p:sp>
        <p:nvSpPr>
          <p:cNvPr id="14" name="Text 11"/>
          <p:cNvSpPr/>
          <p:nvPr/>
        </p:nvSpPr>
        <p:spPr>
          <a:xfrm>
            <a:off x="6702552" y="3886200"/>
            <a:ext cx="4663440" cy="274320"/>
          </a:xfrm>
          <a:prstGeom prst="rect">
            <a:avLst/>
          </a:prstGeom>
          <a:noFill/>
          <a:ln/>
        </p:spPr>
        <p:txBody>
          <a:bodyPr wrap="square" lIns="0" tIns="0" rIns="0" bIns="0" rtlCol="0" anchor="t"/>
          <a:lstStyle/>
          <a:p>
            <a:pPr marL="0" indent="0" algn="l">
              <a:lnSpc>
                <a:spcPct val="105000"/>
              </a:lnSpc>
              <a:buNone/>
            </a:pPr>
            <a:r>
              <a:rPr lang="en-US" sz="1150" dirty="0">
                <a:solidFill>
                  <a:schemeClr val="bg1"/>
                </a:solidFill>
                <a:latin typeface="Calibri" pitchFamily="34" charset="0"/>
                <a:ea typeface="Calibri" pitchFamily="34" charset="-122"/>
                <a:cs typeface="Calibri" pitchFamily="34" charset="-120"/>
              </a:rPr>
              <a:t>Team Name / Batch No:   [ TEAM AQUA ]</a:t>
            </a:r>
            <a:endParaRPr lang="en-US" sz="1150" dirty="0">
              <a:solidFill>
                <a:schemeClr val="bg1"/>
              </a:solidFill>
            </a:endParaRPr>
          </a:p>
        </p:txBody>
      </p:sp>
      <p:sp>
        <p:nvSpPr>
          <p:cNvPr id="15" name="Text 12"/>
          <p:cNvSpPr/>
          <p:nvPr/>
        </p:nvSpPr>
        <p:spPr>
          <a:xfrm>
            <a:off x="6702552" y="4197096"/>
            <a:ext cx="4663440" cy="274320"/>
          </a:xfrm>
          <a:prstGeom prst="rect">
            <a:avLst/>
          </a:prstGeom>
          <a:noFill/>
          <a:ln/>
        </p:spPr>
        <p:txBody>
          <a:bodyPr wrap="square" lIns="0" tIns="0" rIns="0" bIns="0" rtlCol="0" anchor="t"/>
          <a:lstStyle/>
          <a:p>
            <a:pPr marL="0" indent="0" algn="l">
              <a:lnSpc>
                <a:spcPct val="105000"/>
              </a:lnSpc>
              <a:buNone/>
            </a:pPr>
            <a:r>
              <a:rPr lang="en-US" sz="1150" dirty="0">
                <a:solidFill>
                  <a:schemeClr val="bg1"/>
                </a:solidFill>
                <a:latin typeface="Calibri" pitchFamily="34" charset="0"/>
                <a:ea typeface="Calibri" pitchFamily="34" charset="-122"/>
                <a:cs typeface="Calibri" pitchFamily="34" charset="-120"/>
              </a:rPr>
              <a:t>Year &amp; Dept / Section:   [ II YEAR-CYBER SECURITY ]</a:t>
            </a:r>
            <a:endParaRPr lang="en-US" sz="1150" dirty="0">
              <a:solidFill>
                <a:schemeClr val="bg1"/>
              </a:solidFill>
            </a:endParaRPr>
          </a:p>
        </p:txBody>
      </p:sp>
      <p:sp>
        <p:nvSpPr>
          <p:cNvPr id="16" name="Text 13"/>
          <p:cNvSpPr/>
          <p:nvPr/>
        </p:nvSpPr>
        <p:spPr>
          <a:xfrm>
            <a:off x="6702552" y="4507992"/>
            <a:ext cx="4663440" cy="274320"/>
          </a:xfrm>
          <a:prstGeom prst="rect">
            <a:avLst/>
          </a:prstGeom>
          <a:noFill/>
          <a:ln/>
        </p:spPr>
        <p:txBody>
          <a:bodyPr wrap="square" lIns="0" tIns="0" rIns="0" bIns="0" rtlCol="0" anchor="t"/>
          <a:lstStyle/>
          <a:p>
            <a:pPr marL="0" indent="0" algn="l">
              <a:lnSpc>
                <a:spcPct val="105000"/>
              </a:lnSpc>
              <a:buNone/>
            </a:pPr>
            <a:r>
              <a:rPr lang="en-US" sz="1150" dirty="0">
                <a:solidFill>
                  <a:schemeClr val="bg1"/>
                </a:solidFill>
                <a:latin typeface="Calibri" pitchFamily="34" charset="0"/>
                <a:ea typeface="Calibri" pitchFamily="34" charset="-122"/>
                <a:cs typeface="Calibri" pitchFamily="34" charset="-120"/>
              </a:rPr>
              <a:t>Members:   1. [ NISHANTH.K -25SY042 ]</a:t>
            </a:r>
            <a:endParaRPr lang="en-US" sz="1150" dirty="0">
              <a:solidFill>
                <a:schemeClr val="bg1"/>
              </a:solidFill>
            </a:endParaRPr>
          </a:p>
        </p:txBody>
      </p:sp>
      <p:sp>
        <p:nvSpPr>
          <p:cNvPr id="17" name="Text 14"/>
          <p:cNvSpPr/>
          <p:nvPr/>
        </p:nvSpPr>
        <p:spPr>
          <a:xfrm>
            <a:off x="6702552" y="4818888"/>
            <a:ext cx="4663440" cy="274320"/>
          </a:xfrm>
          <a:prstGeom prst="rect">
            <a:avLst/>
          </a:prstGeom>
          <a:noFill/>
          <a:ln/>
        </p:spPr>
        <p:txBody>
          <a:bodyPr wrap="square" lIns="0" tIns="0" rIns="0" bIns="0" rtlCol="0" anchor="t"/>
          <a:lstStyle/>
          <a:p>
            <a:pPr marL="0" indent="0" algn="l">
              <a:lnSpc>
                <a:spcPct val="105000"/>
              </a:lnSpc>
              <a:buNone/>
            </a:pPr>
            <a:r>
              <a:rPr lang="en-US" sz="1150" dirty="0">
                <a:solidFill>
                  <a:schemeClr val="bg1"/>
                </a:solidFill>
                <a:latin typeface="Calibri" pitchFamily="34" charset="0"/>
                <a:ea typeface="Calibri" pitchFamily="34" charset="-122"/>
                <a:cs typeface="Calibri" pitchFamily="34" charset="-120"/>
              </a:rPr>
              <a:t>                      2. [ SRIDHARAN.R — 25SY050]</a:t>
            </a:r>
            <a:endParaRPr lang="en-US" sz="1150" dirty="0">
              <a:solidFill>
                <a:schemeClr val="bg1"/>
              </a:solidFill>
            </a:endParaRPr>
          </a:p>
        </p:txBody>
      </p:sp>
      <p:sp>
        <p:nvSpPr>
          <p:cNvPr id="18" name="Text 15"/>
          <p:cNvSpPr/>
          <p:nvPr/>
        </p:nvSpPr>
        <p:spPr>
          <a:xfrm>
            <a:off x="6702552" y="5129784"/>
            <a:ext cx="4663440" cy="274320"/>
          </a:xfrm>
          <a:prstGeom prst="rect">
            <a:avLst/>
          </a:prstGeom>
          <a:noFill/>
          <a:ln/>
        </p:spPr>
        <p:txBody>
          <a:bodyPr wrap="square" lIns="0" tIns="0" rIns="0" bIns="0" rtlCol="0" anchor="t"/>
          <a:lstStyle/>
          <a:p>
            <a:pPr marL="0" indent="0" algn="l">
              <a:lnSpc>
                <a:spcPct val="105000"/>
              </a:lnSpc>
              <a:buNone/>
            </a:pPr>
            <a:r>
              <a:rPr lang="en-US" sz="1150" dirty="0">
                <a:solidFill>
                  <a:schemeClr val="bg1"/>
                </a:solidFill>
                <a:latin typeface="Calibri" pitchFamily="34" charset="0"/>
                <a:ea typeface="Calibri" pitchFamily="34" charset="-122"/>
                <a:cs typeface="Calibri" pitchFamily="34" charset="-120"/>
              </a:rPr>
              <a:t>                      </a:t>
            </a:r>
            <a:endParaRPr lang="en-US" sz="1150" dirty="0">
              <a:solidFill>
                <a:schemeClr val="bg1"/>
              </a:solidFill>
            </a:endParaRPr>
          </a:p>
        </p:txBody>
      </p:sp>
      <p:pic>
        <p:nvPicPr>
          <p:cNvPr id="21" name="Picture 20">
            <a:extLst>
              <a:ext uri="{FF2B5EF4-FFF2-40B4-BE49-F238E27FC236}">
                <a16:creationId xmlns:a16="http://schemas.microsoft.com/office/drawing/2014/main" id="{93D77664-1E80-67D1-A01A-FBAA83A415E0}"/>
              </a:ext>
            </a:extLst>
          </p:cNvPr>
          <p:cNvPicPr>
            <a:picLocks noChangeAspect="1"/>
          </p:cNvPicPr>
          <p:nvPr/>
        </p:nvPicPr>
        <p:blipFill>
          <a:blip r:embed="rId3"/>
          <a:stretch>
            <a:fillRect/>
          </a:stretch>
        </p:blipFill>
        <p:spPr>
          <a:xfrm>
            <a:off x="10363654" y="371776"/>
            <a:ext cx="1325426" cy="603504"/>
          </a:xfrm>
          <a:prstGeom prst="rect">
            <a:avLst/>
          </a:prstGeom>
        </p:spPr>
      </p:pic>
      <p:pic>
        <p:nvPicPr>
          <p:cNvPr id="23" name="Picture 22">
            <a:extLst>
              <a:ext uri="{FF2B5EF4-FFF2-40B4-BE49-F238E27FC236}">
                <a16:creationId xmlns:a16="http://schemas.microsoft.com/office/drawing/2014/main" id="{23343B99-B2E8-5230-6374-21976BA654AC}"/>
              </a:ext>
            </a:extLst>
          </p:cNvPr>
          <p:cNvPicPr>
            <a:picLocks noChangeAspect="1"/>
          </p:cNvPicPr>
          <p:nvPr/>
        </p:nvPicPr>
        <p:blipFill>
          <a:blip r:embed="rId4"/>
          <a:stretch>
            <a:fillRect/>
          </a:stretch>
        </p:blipFill>
        <p:spPr>
          <a:xfrm>
            <a:off x="3864504" y="224159"/>
            <a:ext cx="4462991" cy="1242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02920" y="658368"/>
            <a:ext cx="11183112" cy="457200"/>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Empathy &amp; Problem statement</a:t>
            </a:r>
            <a:endParaRPr lang="en-US" sz="2800" dirty="0"/>
          </a:p>
        </p:txBody>
      </p:sp>
      <p:sp>
        <p:nvSpPr>
          <p:cNvPr id="5" name="Text 2"/>
          <p:cNvSpPr/>
          <p:nvPr/>
        </p:nvSpPr>
        <p:spPr>
          <a:xfrm>
            <a:off x="502920" y="1115568"/>
            <a:ext cx="11183112" cy="292608"/>
          </a:xfrm>
          <a:prstGeom prst="rect">
            <a:avLst/>
          </a:prstGeom>
          <a:noFill/>
          <a:ln/>
        </p:spPr>
        <p:txBody>
          <a:bodyPr wrap="square" lIns="0" tIns="0" rIns="0" bIns="0" rtlCol="0" anchor="ctr"/>
          <a:lstStyle/>
          <a:p>
            <a:pPr marL="0" indent="0">
              <a:buNone/>
            </a:pPr>
            <a:r>
              <a:rPr lang="en-US" sz="1200" i="1" dirty="0">
                <a:solidFill>
                  <a:srgbClr val="FF0000"/>
                </a:solidFill>
                <a:latin typeface="Calibri" pitchFamily="34" charset="0"/>
                <a:ea typeface="Calibri" pitchFamily="34" charset="-122"/>
                <a:cs typeface="Calibri" pitchFamily="34" charset="-120"/>
              </a:rPr>
              <a:t>A 60-second recap from Empathy Talk — do not re-present the whole empathy stage.</a:t>
            </a:r>
            <a:endParaRPr lang="en-US" sz="1200" i="1" dirty="0">
              <a:solidFill>
                <a:srgbClr val="FF0000"/>
              </a:solidFill>
            </a:endParaRPr>
          </a:p>
        </p:txBody>
      </p:sp>
      <p:sp>
        <p:nvSpPr>
          <p:cNvPr id="6" name="Shape 3"/>
          <p:cNvSpPr/>
          <p:nvPr/>
        </p:nvSpPr>
        <p:spPr>
          <a:xfrm>
            <a:off x="502920" y="1481328"/>
            <a:ext cx="11183112" cy="0"/>
          </a:xfrm>
          <a:prstGeom prst="line">
            <a:avLst/>
          </a:prstGeom>
          <a:noFill/>
          <a:ln w="12700">
            <a:solidFill>
              <a:srgbClr val="DFE4EE"/>
            </a:solidFill>
            <a:prstDash val="solid"/>
          </a:ln>
        </p:spPr>
      </p:sp>
      <p:sp>
        <p:nvSpPr>
          <p:cNvPr id="7" name="Shape 4"/>
          <p:cNvSpPr/>
          <p:nvPr/>
        </p:nvSpPr>
        <p:spPr>
          <a:xfrm>
            <a:off x="502920" y="1783080"/>
            <a:ext cx="3657600" cy="2103120"/>
          </a:xfrm>
          <a:prstGeom prst="roundRect">
            <a:avLst>
              <a:gd name="adj" fmla="val 3478"/>
            </a:avLst>
          </a:prstGeom>
          <a:solidFill>
            <a:srgbClr val="F5F7FB"/>
          </a:solidFill>
          <a:ln w="12700">
            <a:solidFill>
              <a:srgbClr val="DFE4EE"/>
            </a:solidFill>
            <a:prstDash val="solid"/>
          </a:ln>
        </p:spPr>
      </p:sp>
      <p:pic>
        <p:nvPicPr>
          <p:cNvPr id="8" name="Image 1" descr="assets/ic_empathy.png"/>
          <p:cNvPicPr>
            <a:picLocks noChangeAspect="1"/>
          </p:cNvPicPr>
          <p:nvPr/>
        </p:nvPicPr>
        <p:blipFill>
          <a:blip r:embed="rId4"/>
          <a:stretch>
            <a:fillRect/>
          </a:stretch>
        </p:blipFill>
        <p:spPr>
          <a:xfrm>
            <a:off x="795528" y="2011680"/>
            <a:ext cx="329184" cy="329184"/>
          </a:xfrm>
          <a:prstGeom prst="rect">
            <a:avLst/>
          </a:prstGeom>
        </p:spPr>
      </p:pic>
      <p:sp>
        <p:nvSpPr>
          <p:cNvPr id="9" name="Text 5"/>
          <p:cNvSpPr/>
          <p:nvPr/>
        </p:nvSpPr>
        <p:spPr>
          <a:xfrm>
            <a:off x="1280160" y="2029968"/>
            <a:ext cx="2743200" cy="237744"/>
          </a:xfrm>
          <a:prstGeom prst="rect">
            <a:avLst/>
          </a:prstGeom>
          <a:noFill/>
          <a:ln/>
        </p:spPr>
        <p:txBody>
          <a:bodyPr wrap="square" lIns="0" tIns="0" rIns="0" bIns="0" rtlCol="0" anchor="ctr"/>
          <a:lstStyle/>
          <a:p>
            <a:pPr marL="0" indent="0" algn="l">
              <a:buNone/>
            </a:pPr>
            <a:r>
              <a:rPr lang="en-US" sz="1150" b="1" kern="0" spc="60" dirty="0">
                <a:solidFill>
                  <a:srgbClr val="071A45"/>
                </a:solidFill>
                <a:latin typeface="Calibri" pitchFamily="34" charset="0"/>
                <a:ea typeface="Calibri" pitchFamily="34" charset="-122"/>
                <a:cs typeface="Calibri" pitchFamily="34" charset="-120"/>
              </a:rPr>
              <a:t>OUR USER</a:t>
            </a:r>
            <a:endParaRPr lang="en-US" sz="1150" dirty="0"/>
          </a:p>
        </p:txBody>
      </p:sp>
      <p:sp>
        <p:nvSpPr>
          <p:cNvPr id="10" name="Text 6"/>
          <p:cNvSpPr/>
          <p:nvPr/>
        </p:nvSpPr>
        <p:spPr>
          <a:xfrm>
            <a:off x="795528" y="2542032"/>
            <a:ext cx="3108960" cy="1097280"/>
          </a:xfrm>
          <a:prstGeom prst="rect">
            <a:avLst/>
          </a:prstGeom>
          <a:noFill/>
          <a:ln/>
        </p:spPr>
        <p:txBody>
          <a:bodyPr wrap="square" lIns="0" tIns="0" rIns="0" bIns="0" rtlCol="0" anchor="t"/>
          <a:lstStyle/>
          <a:p>
            <a:pPr marL="0" indent="0" algn="l">
              <a:lnSpc>
                <a:spcPct val="105000"/>
              </a:lnSpc>
              <a:buNone/>
            </a:pPr>
            <a:r>
              <a:rPr lang="en-US" sz="1100" i="1" dirty="0">
                <a:solidFill>
                  <a:srgbClr val="FF0000"/>
                </a:solidFill>
                <a:latin typeface="Calibri" pitchFamily="34" charset="0"/>
                <a:ea typeface="Calibri" pitchFamily="34" charset="-122"/>
                <a:cs typeface="Calibri" pitchFamily="34" charset="-120"/>
              </a:rPr>
              <a:t>A daily commuter/driver, aged 25–45, who visits crowded malls, hospitals, colleges, airports, railway stations and office buildings. Met at a mall/hospital parking lot during peak hours.</a:t>
            </a:r>
            <a:endParaRPr lang="en-US" sz="1100" i="1" dirty="0">
              <a:solidFill>
                <a:srgbClr val="FF0000"/>
              </a:solidFill>
            </a:endParaRPr>
          </a:p>
        </p:txBody>
      </p:sp>
      <p:sp>
        <p:nvSpPr>
          <p:cNvPr id="11" name="Shape 7"/>
          <p:cNvSpPr/>
          <p:nvPr/>
        </p:nvSpPr>
        <p:spPr>
          <a:xfrm>
            <a:off x="4416552" y="1783080"/>
            <a:ext cx="3657600" cy="2103120"/>
          </a:xfrm>
          <a:prstGeom prst="roundRect">
            <a:avLst>
              <a:gd name="adj" fmla="val 3478"/>
            </a:avLst>
          </a:prstGeom>
          <a:solidFill>
            <a:srgbClr val="E9EFFC"/>
          </a:solidFill>
          <a:ln w="12700">
            <a:solidFill>
              <a:srgbClr val="C3CDE8"/>
            </a:solidFill>
            <a:prstDash val="solid"/>
          </a:ln>
        </p:spPr>
      </p:sp>
      <p:pic>
        <p:nvPicPr>
          <p:cNvPr id="12" name="Image 2" descr="assets/ic_research.png"/>
          <p:cNvPicPr>
            <a:picLocks noChangeAspect="1"/>
          </p:cNvPicPr>
          <p:nvPr/>
        </p:nvPicPr>
        <p:blipFill>
          <a:blip r:embed="rId5"/>
          <a:stretch>
            <a:fillRect/>
          </a:stretch>
        </p:blipFill>
        <p:spPr>
          <a:xfrm>
            <a:off x="4709160" y="2011680"/>
            <a:ext cx="329184" cy="329184"/>
          </a:xfrm>
          <a:prstGeom prst="rect">
            <a:avLst/>
          </a:prstGeom>
        </p:spPr>
      </p:pic>
      <p:sp>
        <p:nvSpPr>
          <p:cNvPr id="13" name="Text 8"/>
          <p:cNvSpPr/>
          <p:nvPr/>
        </p:nvSpPr>
        <p:spPr>
          <a:xfrm>
            <a:off x="5193792" y="2029968"/>
            <a:ext cx="2743200" cy="237744"/>
          </a:xfrm>
          <a:prstGeom prst="rect">
            <a:avLst/>
          </a:prstGeom>
          <a:noFill/>
          <a:ln/>
        </p:spPr>
        <p:txBody>
          <a:bodyPr wrap="square" lIns="0" tIns="0" rIns="0" bIns="0" rtlCol="0" anchor="ctr"/>
          <a:lstStyle/>
          <a:p>
            <a:pPr marL="0" indent="0" algn="l">
              <a:buNone/>
            </a:pPr>
            <a:r>
              <a:rPr lang="en-US" sz="1150" b="1" kern="0" spc="60" dirty="0">
                <a:solidFill>
                  <a:srgbClr val="071A45"/>
                </a:solidFill>
                <a:latin typeface="Calibri" pitchFamily="34" charset="0"/>
                <a:ea typeface="Calibri" pitchFamily="34" charset="-122"/>
                <a:cs typeface="Calibri" pitchFamily="34" charset="-120"/>
              </a:rPr>
              <a:t>THEIR TOP PAIN POINT</a:t>
            </a:r>
            <a:endParaRPr lang="en-US" sz="1150" dirty="0"/>
          </a:p>
        </p:txBody>
      </p:sp>
      <p:sp>
        <p:nvSpPr>
          <p:cNvPr id="14" name="Text 9"/>
          <p:cNvSpPr/>
          <p:nvPr/>
        </p:nvSpPr>
        <p:spPr>
          <a:xfrm>
            <a:off x="4709160" y="2542032"/>
            <a:ext cx="3108960" cy="1097280"/>
          </a:xfrm>
          <a:prstGeom prst="rect">
            <a:avLst/>
          </a:prstGeom>
          <a:noFill/>
          <a:ln/>
        </p:spPr>
        <p:txBody>
          <a:bodyPr wrap="square" lIns="0" tIns="0" rIns="0" bIns="0" rtlCol="0" anchor="t"/>
          <a:lstStyle/>
          <a:p>
            <a:pPr marL="0" indent="0" algn="l">
              <a:lnSpc>
                <a:spcPct val="105000"/>
              </a:lnSpc>
              <a:buNone/>
            </a:pPr>
            <a:r>
              <a:rPr lang="en-US" sz="1100" i="1" dirty="0">
                <a:solidFill>
                  <a:srgbClr val="FF0000"/>
                </a:solidFill>
                <a:latin typeface="Calibri" pitchFamily="34" charset="0"/>
                <a:ea typeface="Calibri" pitchFamily="34" charset="-122"/>
                <a:cs typeface="Calibri" pitchFamily="34" charset="-120"/>
              </a:rPr>
              <a:t>Drivers waste several minutes circling crowded parking lots searching for a vacant slot, with no way to know availability before entering.</a:t>
            </a:r>
            <a:endParaRPr lang="en-US" sz="1100" i="1" dirty="0">
              <a:solidFill>
                <a:srgbClr val="FF0000"/>
              </a:solidFill>
            </a:endParaRPr>
          </a:p>
        </p:txBody>
      </p:sp>
      <p:sp>
        <p:nvSpPr>
          <p:cNvPr id="15" name="Shape 10"/>
          <p:cNvSpPr/>
          <p:nvPr/>
        </p:nvSpPr>
        <p:spPr>
          <a:xfrm>
            <a:off x="8028432" y="1783080"/>
            <a:ext cx="3657600" cy="2103120"/>
          </a:xfrm>
          <a:prstGeom prst="roundRect">
            <a:avLst>
              <a:gd name="adj" fmla="val 3478"/>
            </a:avLst>
          </a:prstGeom>
          <a:solidFill>
            <a:srgbClr val="FFF6DD"/>
          </a:solidFill>
          <a:ln w="12700">
            <a:solidFill>
              <a:srgbClr val="F2D98A"/>
            </a:solidFill>
            <a:prstDash val="solid"/>
          </a:ln>
        </p:spPr>
      </p:sp>
      <p:pic>
        <p:nvPicPr>
          <p:cNvPr id="16" name="Image 3" descr="assets/ic_check.png"/>
          <p:cNvPicPr>
            <a:picLocks noChangeAspect="1"/>
          </p:cNvPicPr>
          <p:nvPr/>
        </p:nvPicPr>
        <p:blipFill>
          <a:blip r:embed="rId6"/>
          <a:stretch>
            <a:fillRect/>
          </a:stretch>
        </p:blipFill>
        <p:spPr>
          <a:xfrm>
            <a:off x="8321040" y="2011680"/>
            <a:ext cx="329184" cy="329184"/>
          </a:xfrm>
          <a:prstGeom prst="rect">
            <a:avLst/>
          </a:prstGeom>
        </p:spPr>
      </p:pic>
      <p:sp>
        <p:nvSpPr>
          <p:cNvPr id="17" name="Text 11"/>
          <p:cNvSpPr/>
          <p:nvPr/>
        </p:nvSpPr>
        <p:spPr>
          <a:xfrm>
            <a:off x="8805672" y="2029968"/>
            <a:ext cx="2743200" cy="237744"/>
          </a:xfrm>
          <a:prstGeom prst="rect">
            <a:avLst/>
          </a:prstGeom>
          <a:noFill/>
          <a:ln/>
        </p:spPr>
        <p:txBody>
          <a:bodyPr wrap="square" lIns="0" tIns="0" rIns="0" bIns="0" rtlCol="0" anchor="ctr"/>
          <a:lstStyle/>
          <a:p>
            <a:pPr marL="0" indent="0" algn="l">
              <a:buNone/>
            </a:pPr>
            <a:r>
              <a:rPr lang="en-US" sz="1150" b="1" kern="0" spc="60" dirty="0">
                <a:solidFill>
                  <a:srgbClr val="7A5E16"/>
                </a:solidFill>
                <a:latin typeface="Calibri" pitchFamily="34" charset="0"/>
                <a:ea typeface="Calibri" pitchFamily="34" charset="-122"/>
                <a:cs typeface="Calibri" pitchFamily="34" charset="-120"/>
              </a:rPr>
              <a:t>WHAT WE VALIDATED</a:t>
            </a:r>
            <a:endParaRPr lang="en-US" sz="1150" dirty="0"/>
          </a:p>
        </p:txBody>
      </p:sp>
      <p:sp>
        <p:nvSpPr>
          <p:cNvPr id="18" name="Text 12"/>
          <p:cNvSpPr/>
          <p:nvPr/>
        </p:nvSpPr>
        <p:spPr>
          <a:xfrm>
            <a:off x="8321040" y="2542032"/>
            <a:ext cx="3108960" cy="1097280"/>
          </a:xfrm>
          <a:prstGeom prst="rect">
            <a:avLst/>
          </a:prstGeom>
          <a:noFill/>
          <a:ln/>
        </p:spPr>
        <p:txBody>
          <a:bodyPr wrap="square" lIns="0" tIns="0" rIns="0" bIns="0" rtlCol="0" anchor="t"/>
          <a:lstStyle/>
          <a:p>
            <a:pPr marL="0" indent="0" algn="l">
              <a:lnSpc>
                <a:spcPct val="105000"/>
              </a:lnSpc>
              <a:buNone/>
            </a:pPr>
            <a:r>
              <a:rPr lang="en-US" sz="1100" i="1" dirty="0">
                <a:solidFill>
                  <a:srgbClr val="FF0000"/>
                </a:solidFill>
                <a:latin typeface="Calibri" pitchFamily="34" charset="0"/>
                <a:ea typeface="Calibri" pitchFamily="34" charset="-122"/>
                <a:cs typeface="Calibri" pitchFamily="34" charset="-120"/>
              </a:rPr>
              <a:t>We observed drivers circling repeatedly during peak hours; interviews confirmed there is no real-time way to check slot availability before entering.</a:t>
            </a:r>
            <a:endParaRPr lang="en-US" sz="1100" i="1" dirty="0">
              <a:solidFill>
                <a:srgbClr val="FF0000"/>
              </a:solidFill>
            </a:endParaRPr>
          </a:p>
        </p:txBody>
      </p:sp>
      <p:sp>
        <p:nvSpPr>
          <p:cNvPr id="19" name="Shape 13"/>
          <p:cNvSpPr/>
          <p:nvPr/>
        </p:nvSpPr>
        <p:spPr>
          <a:xfrm>
            <a:off x="502920" y="4069080"/>
            <a:ext cx="11183112" cy="914400"/>
          </a:xfrm>
          <a:prstGeom prst="roundRect">
            <a:avLst>
              <a:gd name="adj" fmla="val 8000"/>
            </a:avLst>
          </a:prstGeom>
          <a:solidFill>
            <a:srgbClr val="F5F7FB"/>
          </a:solidFill>
          <a:ln w="12700">
            <a:solidFill>
              <a:srgbClr val="DFE4EE"/>
            </a:solidFill>
            <a:prstDash val="solid"/>
          </a:ln>
        </p:spPr>
      </p:sp>
      <p:sp>
        <p:nvSpPr>
          <p:cNvPr id="20" name="Text 14"/>
          <p:cNvSpPr/>
          <p:nvPr/>
        </p:nvSpPr>
        <p:spPr>
          <a:xfrm>
            <a:off x="822960" y="4224528"/>
            <a:ext cx="3657600" cy="237744"/>
          </a:xfrm>
          <a:prstGeom prst="rect">
            <a:avLst/>
          </a:prstGeom>
          <a:noFill/>
          <a:ln/>
        </p:spPr>
        <p:txBody>
          <a:bodyPr wrap="square" lIns="0" tIns="0" rIns="0" bIns="0" rtlCol="0" anchor="ctr"/>
          <a:lstStyle/>
          <a:p>
            <a:pPr marL="0" indent="0" algn="l">
              <a:buNone/>
            </a:pPr>
            <a:r>
              <a:rPr lang="en-US" sz="1050" b="1" kern="0" spc="60" dirty="0">
                <a:solidFill>
                  <a:srgbClr val="071A45"/>
                </a:solidFill>
                <a:latin typeface="Calibri" pitchFamily="34" charset="0"/>
                <a:ea typeface="Calibri" pitchFamily="34" charset="-122"/>
                <a:cs typeface="Calibri" pitchFamily="34" charset="-120"/>
              </a:rPr>
              <a:t>PROBLEM STATEMENT</a:t>
            </a:r>
            <a:endParaRPr lang="en-US" sz="1050" dirty="0"/>
          </a:p>
        </p:txBody>
      </p:sp>
      <p:sp>
        <p:nvSpPr>
          <p:cNvPr id="21" name="Text 15"/>
          <p:cNvSpPr/>
          <p:nvPr/>
        </p:nvSpPr>
        <p:spPr>
          <a:xfrm>
            <a:off x="822960" y="4498848"/>
            <a:ext cx="10515600" cy="365760"/>
          </a:xfrm>
          <a:prstGeom prst="rect">
            <a:avLst/>
          </a:prstGeom>
          <a:noFill/>
          <a:ln/>
        </p:spPr>
        <p:txBody>
          <a:bodyPr wrap="square" lIns="0" tIns="0" rIns="0" bIns="0" rtlCol="0" anchor="t"/>
          <a:lstStyle/>
          <a:p>
            <a:pPr marL="0" indent="0" algn="l">
              <a:lnSpc>
                <a:spcPct val="105000"/>
              </a:lnSpc>
              <a:buNone/>
            </a:pPr>
            <a:r>
              <a:rPr lang="en-US" sz="1500" dirty="0">
                <a:solidFill>
                  <a:srgbClr val="071A45"/>
                </a:solidFill>
                <a:latin typeface="Calibri" pitchFamily="34" charset="0"/>
                <a:ea typeface="Calibri" pitchFamily="34" charset="-122"/>
                <a:cs typeface="Calibri" pitchFamily="34" charset="-120"/>
              </a:rPr>
              <a:t>Drivers/commuters  needs a way to  know parking slot availability in real time before entering crowded areas  because  manual monitoring wastes time and fuel, and increases traffic congestion and pollution.</a:t>
            </a:r>
            <a:endParaRPr lang="en-US" sz="1500" dirty="0"/>
          </a:p>
        </p:txBody>
      </p:sp>
      <p:sp>
        <p:nvSpPr>
          <p:cNvPr id="22" name="Shape 16"/>
          <p:cNvSpPr/>
          <p:nvPr/>
        </p:nvSpPr>
        <p:spPr>
          <a:xfrm>
            <a:off x="502920" y="5120640"/>
            <a:ext cx="11183112" cy="914400"/>
          </a:xfrm>
          <a:prstGeom prst="roundRect">
            <a:avLst>
              <a:gd name="adj" fmla="val 8000"/>
            </a:avLst>
          </a:prstGeom>
          <a:solidFill>
            <a:srgbClr val="E9EFFC"/>
          </a:solidFill>
          <a:ln w="12700">
            <a:solidFill>
              <a:srgbClr val="C3CDE8"/>
            </a:solidFill>
            <a:prstDash val="solid"/>
          </a:ln>
        </p:spPr>
      </p:sp>
      <p:sp>
        <p:nvSpPr>
          <p:cNvPr id="23" name="Text 17"/>
          <p:cNvSpPr/>
          <p:nvPr/>
        </p:nvSpPr>
        <p:spPr>
          <a:xfrm>
            <a:off x="822960" y="5276088"/>
            <a:ext cx="3657600" cy="237744"/>
          </a:xfrm>
          <a:prstGeom prst="rect">
            <a:avLst/>
          </a:prstGeom>
          <a:noFill/>
          <a:ln/>
        </p:spPr>
        <p:txBody>
          <a:bodyPr wrap="square" lIns="0" tIns="0" rIns="0" bIns="0" rtlCol="0" anchor="ctr"/>
          <a:lstStyle/>
          <a:p>
            <a:pPr marL="0" indent="0" algn="l">
              <a:buNone/>
            </a:pPr>
            <a:r>
              <a:rPr lang="en-US" sz="1050" b="1" kern="0" spc="60" dirty="0">
                <a:solidFill>
                  <a:srgbClr val="1C52C2"/>
                </a:solidFill>
                <a:latin typeface="Calibri" pitchFamily="34" charset="0"/>
                <a:ea typeface="Calibri" pitchFamily="34" charset="-122"/>
                <a:cs typeface="Calibri" pitchFamily="34" charset="-120"/>
              </a:rPr>
              <a:t>HOW MIGHT WE</a:t>
            </a:r>
            <a:endParaRPr lang="en-US" sz="1050" dirty="0"/>
          </a:p>
        </p:txBody>
      </p:sp>
      <p:sp>
        <p:nvSpPr>
          <p:cNvPr id="24" name="Text 18"/>
          <p:cNvSpPr/>
          <p:nvPr/>
        </p:nvSpPr>
        <p:spPr>
          <a:xfrm>
            <a:off x="822960" y="5550408"/>
            <a:ext cx="10515600" cy="365760"/>
          </a:xfrm>
          <a:prstGeom prst="rect">
            <a:avLst/>
          </a:prstGeom>
          <a:noFill/>
          <a:ln/>
        </p:spPr>
        <p:txBody>
          <a:bodyPr wrap="square" lIns="0" tIns="0" rIns="0" bIns="0" rtlCol="0" anchor="t"/>
          <a:lstStyle/>
          <a:p>
            <a:pPr marL="0" indent="0" algn="l">
              <a:lnSpc>
                <a:spcPct val="105000"/>
              </a:lnSpc>
              <a:buNone/>
            </a:pPr>
            <a:r>
              <a:rPr lang="en-US" sz="1500" dirty="0">
                <a:solidFill>
                  <a:srgbClr val="1C52C2"/>
                </a:solidFill>
                <a:latin typeface="Calibri" pitchFamily="34" charset="0"/>
                <a:ea typeface="Calibri" pitchFamily="34" charset="-122"/>
                <a:cs typeface="Calibri" pitchFamily="34" charset="-120"/>
              </a:rPr>
              <a:t>How might we help  drivers  to  quickly find and access a vacant parking slot  so that  time, fuel and frustration are reduced and parking space utilization improves ?</a:t>
            </a:r>
            <a:endParaRPr lang="en-US" sz="1500" dirty="0"/>
          </a:p>
        </p:txBody>
      </p:sp>
      <p:sp>
        <p:nvSpPr>
          <p:cNvPr id="25"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fld id="{396D97A7-3FD8-49A2-8663-59317AE8824A}" type="datetime1">
              <a:rPr lang="en-IN" smtClean="0"/>
              <a:t>25-07-2026</a:t>
            </a:fld>
            <a:endParaRPr lang="en-IN"/>
          </a:p>
        </p:txBody>
      </p:sp>
      <p:sp>
        <p:nvSpPr>
          <p:cNvPr id="26"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27"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fld id="{1922B016-31A1-428A-9BD0-126AC5513E08}" type="slidenum">
              <a:rPr lang="en-IN" smtClean="0"/>
              <a:t>2</a:t>
            </a:fld>
            <a:endParaRPr lang="en-IN"/>
          </a:p>
        </p:txBody>
      </p:sp>
      <p:pic>
        <p:nvPicPr>
          <p:cNvPr id="28" name="Picture 27">
            <a:extLst>
              <a:ext uri="{FF2B5EF4-FFF2-40B4-BE49-F238E27FC236}">
                <a16:creationId xmlns:a16="http://schemas.microsoft.com/office/drawing/2014/main" id="{2011FFB7-3D48-36F2-45B2-8F9E4B20C720}"/>
              </a:ext>
            </a:extLst>
          </p:cNvPr>
          <p:cNvPicPr>
            <a:picLocks noChangeAspect="1"/>
          </p:cNvPicPr>
          <p:nvPr/>
        </p:nvPicPr>
        <p:blipFill>
          <a:blip r:embed="rId7"/>
          <a:stretch>
            <a:fillRect/>
          </a:stretch>
        </p:blipFill>
        <p:spPr>
          <a:xfrm>
            <a:off x="10363654" y="371776"/>
            <a:ext cx="1325426" cy="6035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39496" y="504992"/>
            <a:ext cx="11183112" cy="457200"/>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Solution</a:t>
            </a:r>
            <a:endParaRPr lang="en-US" sz="2800" dirty="0"/>
          </a:p>
        </p:txBody>
      </p:sp>
      <p:sp>
        <p:nvSpPr>
          <p:cNvPr id="5" name="Text 2"/>
          <p:cNvSpPr/>
          <p:nvPr/>
        </p:nvSpPr>
        <p:spPr>
          <a:xfrm>
            <a:off x="502920" y="822796"/>
            <a:ext cx="11183112" cy="292608"/>
          </a:xfrm>
          <a:prstGeom prst="rect">
            <a:avLst/>
          </a:prstGeom>
          <a:noFill/>
          <a:ln/>
        </p:spPr>
        <p:txBody>
          <a:bodyPr wrap="square" lIns="0" tIns="0" rIns="0" bIns="0" rtlCol="0" anchor="ctr"/>
          <a:lstStyle/>
          <a:p>
            <a:pPr marL="0" indent="0">
              <a:buNone/>
            </a:pPr>
            <a:endParaRPr lang="en-US" sz="1200" i="1" dirty="0">
              <a:solidFill>
                <a:srgbClr val="FF0000"/>
              </a:solidFill>
            </a:endParaRPr>
          </a:p>
        </p:txBody>
      </p:sp>
      <p:sp>
        <p:nvSpPr>
          <p:cNvPr id="6" name="Shape 3"/>
          <p:cNvSpPr/>
          <p:nvPr/>
        </p:nvSpPr>
        <p:spPr>
          <a:xfrm>
            <a:off x="502920" y="1112991"/>
            <a:ext cx="11183112" cy="0"/>
          </a:xfrm>
          <a:prstGeom prst="line">
            <a:avLst/>
          </a:prstGeom>
          <a:noFill/>
          <a:ln w="12700">
            <a:solidFill>
              <a:srgbClr val="DFE4EE"/>
            </a:solidFill>
            <a:prstDash val="solid"/>
          </a:ln>
        </p:spPr>
      </p:sp>
      <p:sp>
        <p:nvSpPr>
          <p:cNvPr id="7" name="Shape 4"/>
          <p:cNvSpPr/>
          <p:nvPr/>
        </p:nvSpPr>
        <p:spPr>
          <a:xfrm>
            <a:off x="505968" y="1218100"/>
            <a:ext cx="11183112" cy="777526"/>
          </a:xfrm>
          <a:prstGeom prst="roundRect">
            <a:avLst>
              <a:gd name="adj" fmla="val 5333"/>
            </a:avLst>
          </a:prstGeom>
          <a:solidFill>
            <a:srgbClr val="E9EFFC"/>
          </a:solidFill>
          <a:ln w="12700">
            <a:solidFill>
              <a:srgbClr val="C3CDE8"/>
            </a:solidFill>
            <a:prstDash val="solid"/>
          </a:ln>
        </p:spPr>
      </p:sp>
      <p:pic>
        <p:nvPicPr>
          <p:cNvPr id="8" name="Image 1" descr="assets/ic_rocket.png"/>
          <p:cNvPicPr>
            <a:picLocks noChangeAspect="1"/>
          </p:cNvPicPr>
          <p:nvPr/>
        </p:nvPicPr>
        <p:blipFill>
          <a:blip r:embed="rId4"/>
          <a:stretch>
            <a:fillRect/>
          </a:stretch>
        </p:blipFill>
        <p:spPr>
          <a:xfrm>
            <a:off x="658368" y="1298200"/>
            <a:ext cx="457200" cy="457200"/>
          </a:xfrm>
          <a:prstGeom prst="rect">
            <a:avLst/>
          </a:prstGeom>
        </p:spPr>
      </p:pic>
      <p:sp>
        <p:nvSpPr>
          <p:cNvPr id="9" name="Text 5"/>
          <p:cNvSpPr/>
          <p:nvPr/>
        </p:nvSpPr>
        <p:spPr>
          <a:xfrm>
            <a:off x="1267968" y="1296673"/>
            <a:ext cx="7528560" cy="457200"/>
          </a:xfrm>
          <a:prstGeom prst="rect">
            <a:avLst/>
          </a:prstGeom>
          <a:noFill/>
          <a:ln/>
        </p:spPr>
        <p:txBody>
          <a:bodyPr wrap="square" lIns="0" tIns="0" rIns="0" bIns="0" rtlCol="0" anchor="t"/>
          <a:lstStyle/>
          <a:p>
            <a:pPr marL="0" indent="0" algn="l">
              <a:lnSpc>
                <a:spcPct val="105000"/>
              </a:lnSpc>
              <a:buNone/>
            </a:pPr>
            <a:r>
              <a:rPr lang="en-US" sz="2400" dirty="0">
                <a:solidFill>
                  <a:srgbClr val="071A45"/>
                </a:solidFill>
                <a:latin typeface="Calibri" pitchFamily="34" charset="0"/>
                <a:ea typeface="Calibri" pitchFamily="34" charset="-122"/>
                <a:cs typeface="Calibri" pitchFamily="34" charset="-120"/>
              </a:rPr>
              <a:t>Smart IoT-Based Parking System</a:t>
            </a:r>
            <a:endParaRPr lang="en-US" sz="2400" dirty="0"/>
          </a:p>
        </p:txBody>
      </p:sp>
      <p:sp>
        <p:nvSpPr>
          <p:cNvPr id="10" name="Text 6"/>
          <p:cNvSpPr/>
          <p:nvPr/>
        </p:nvSpPr>
        <p:spPr>
          <a:xfrm>
            <a:off x="1267968" y="1647144"/>
            <a:ext cx="10070592" cy="365760"/>
          </a:xfrm>
          <a:prstGeom prst="rect">
            <a:avLst/>
          </a:prstGeom>
          <a:noFill/>
          <a:ln/>
        </p:spPr>
        <p:txBody>
          <a:bodyPr wrap="square" lIns="0" tIns="0" rIns="0" bIns="0" rtlCol="0" anchor="t"/>
          <a:lstStyle/>
          <a:p>
            <a:pPr marL="0" indent="0" algn="l">
              <a:lnSpc>
                <a:spcPct val="105000"/>
              </a:lnSpc>
              <a:buNone/>
            </a:pPr>
            <a:r>
              <a:rPr lang="en-US" sz="1200" dirty="0">
                <a:solidFill>
                  <a:srgbClr val="1C52C2"/>
                </a:solidFill>
                <a:latin typeface="Calibri" pitchFamily="34" charset="0"/>
                <a:ea typeface="Calibri" pitchFamily="34" charset="-122"/>
                <a:cs typeface="Calibri" pitchFamily="34" charset="-120"/>
              </a:rPr>
              <a:t>A real-time, sensor-based parking guidance system for drivers in crowded public and commercial spaces, cutting search time and congestion.</a:t>
            </a:r>
            <a:endParaRPr lang="en-US" sz="1200" dirty="0"/>
          </a:p>
        </p:txBody>
      </p:sp>
      <p:sp>
        <p:nvSpPr>
          <p:cNvPr id="11" name="Shape 7"/>
          <p:cNvSpPr/>
          <p:nvPr/>
        </p:nvSpPr>
        <p:spPr>
          <a:xfrm>
            <a:off x="505968" y="2236156"/>
            <a:ext cx="11183112" cy="4072943"/>
          </a:xfrm>
          <a:prstGeom prst="roundRect">
            <a:avLst>
              <a:gd name="adj" fmla="val 2712"/>
            </a:avLst>
          </a:prstGeom>
          <a:solidFill>
            <a:srgbClr val="F5F7FB"/>
          </a:solidFill>
          <a:ln w="12700">
            <a:solidFill>
              <a:srgbClr val="DFE4EE"/>
            </a:solidFill>
            <a:prstDash val="solid"/>
          </a:ln>
        </p:spPr>
      </p:sp>
      <p:pic>
        <p:nvPicPr>
          <p:cNvPr id="12" name="Image 2" descr="assets/ic_idea.png"/>
          <p:cNvPicPr>
            <a:picLocks noChangeAspect="1"/>
          </p:cNvPicPr>
          <p:nvPr/>
        </p:nvPicPr>
        <p:blipFill>
          <a:blip r:embed="rId5"/>
          <a:stretch>
            <a:fillRect/>
          </a:stretch>
        </p:blipFill>
        <p:spPr>
          <a:xfrm>
            <a:off x="697014" y="2202421"/>
            <a:ext cx="292608" cy="292608"/>
          </a:xfrm>
          <a:prstGeom prst="rect">
            <a:avLst/>
          </a:prstGeom>
        </p:spPr>
      </p:pic>
      <p:sp>
        <p:nvSpPr>
          <p:cNvPr id="13" name="Text 8"/>
          <p:cNvSpPr/>
          <p:nvPr/>
        </p:nvSpPr>
        <p:spPr>
          <a:xfrm>
            <a:off x="1081407" y="2186723"/>
            <a:ext cx="6544344" cy="237744"/>
          </a:xfrm>
          <a:prstGeom prst="rect">
            <a:avLst/>
          </a:prstGeom>
          <a:noFill/>
          <a:ln/>
        </p:spPr>
        <p:txBody>
          <a:bodyPr wrap="square" lIns="0" tIns="0" rIns="0" bIns="0" rtlCol="0" anchor="ctr"/>
          <a:lstStyle/>
          <a:p>
            <a:endParaRPr lang="en-US" sz="1150" dirty="0"/>
          </a:p>
        </p:txBody>
      </p:sp>
      <p:sp>
        <p:nvSpPr>
          <p:cNvPr id="14" name="Text 9"/>
          <p:cNvSpPr/>
          <p:nvPr/>
        </p:nvSpPr>
        <p:spPr>
          <a:xfrm>
            <a:off x="727897" y="2424467"/>
            <a:ext cx="10719356" cy="3734793"/>
          </a:xfrm>
          <a:prstGeom prst="rect">
            <a:avLst/>
          </a:prstGeom>
          <a:noFill/>
          <a:ln/>
        </p:spPr>
        <p:txBody>
          <a:bodyPr wrap="square" lIns="0" tIns="0" rIns="0" bIns="0" rtlCol="0" anchor="t"/>
          <a:lstStyle/>
          <a:p>
            <a:pPr>
              <a:lnSpc>
                <a:spcPct val="150000"/>
              </a:lnSpc>
            </a:pPr>
            <a:endParaRPr lang="en-IN" sz="1400" dirty="0"/>
          </a:p>
          <a:p>
            <a:pPr>
              <a:lnSpc>
                <a:spcPct val="150000"/>
              </a:lnSpc>
            </a:pPr>
            <a:r>
              <a:rPr lang="en-IN" sz="1400" dirty="0"/>
              <a:t>	</a:t>
            </a:r>
            <a:endParaRPr lang="en-US" sz="1200" i="1" dirty="0">
              <a:solidFill>
                <a:srgbClr val="FF0000"/>
              </a:solidFill>
            </a:endParaRPr>
          </a:p>
        </p:txBody>
      </p:sp>
      <p:sp>
        <p:nvSpPr>
          <p:cNvPr id="23"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fld id="{5644AFE7-A39B-4EB2-9803-2FB924B63569}" type="datetime1">
              <a:rPr lang="en-IN" smtClean="0"/>
              <a:t>25-07-2026</a:t>
            </a:fld>
            <a:endParaRPr lang="en-IN"/>
          </a:p>
        </p:txBody>
      </p:sp>
      <p:sp>
        <p:nvSpPr>
          <p:cNvPr id="24"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25"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fld id="{6F7C65C9-0437-487E-9E10-177541C0F808}" type="slidenum">
              <a:rPr lang="en-IN" smtClean="0"/>
              <a:t>3</a:t>
            </a:fld>
            <a:endParaRPr lang="en-IN"/>
          </a:p>
        </p:txBody>
      </p:sp>
      <p:pic>
        <p:nvPicPr>
          <p:cNvPr id="26" name="Picture 25">
            <a:extLst>
              <a:ext uri="{FF2B5EF4-FFF2-40B4-BE49-F238E27FC236}">
                <a16:creationId xmlns:a16="http://schemas.microsoft.com/office/drawing/2014/main" id="{148D9D2E-334D-2EB2-59A5-D502D2E6FFFD}"/>
              </a:ext>
            </a:extLst>
          </p:cNvPr>
          <p:cNvPicPr>
            <a:picLocks noChangeAspect="1"/>
          </p:cNvPicPr>
          <p:nvPr/>
        </p:nvPicPr>
        <p:blipFill>
          <a:blip r:embed="rId6"/>
          <a:stretch>
            <a:fillRect/>
          </a:stretch>
        </p:blipFill>
        <p:spPr>
          <a:xfrm>
            <a:off x="10363654" y="371776"/>
            <a:ext cx="1325426" cy="603504"/>
          </a:xfrm>
          <a:prstGeom prst="rect">
            <a:avLst/>
          </a:prstGeom>
        </p:spPr>
      </p:pic>
      <p:sp>
        <p:nvSpPr>
          <p:cNvPr id="27" name="TextBox 26">
            <a:extLst>
              <a:ext uri="{FF2B5EF4-FFF2-40B4-BE49-F238E27FC236}">
                <a16:creationId xmlns:a16="http://schemas.microsoft.com/office/drawing/2014/main" id="{38789443-E5D8-9121-C213-563649E88596}"/>
              </a:ext>
            </a:extLst>
          </p:cNvPr>
          <p:cNvSpPr txBox="1"/>
          <p:nvPr/>
        </p:nvSpPr>
        <p:spPr>
          <a:xfrm>
            <a:off x="734798" y="2549069"/>
            <a:ext cx="10719356" cy="3290581"/>
          </a:xfrm>
          <a:prstGeom prst="rect">
            <a:avLst/>
          </a:prstGeom>
          <a:noFill/>
        </p:spPr>
        <p:txBody>
          <a:bodyPr wrap="square" rtlCol="0">
            <a:spAutoFit/>
          </a:bodyPr>
          <a:lstStyle/>
          <a:p>
            <a:pPr algn="just">
              <a:lnSpc>
                <a:spcPct val="150000"/>
              </a:lnSpc>
            </a:pPr>
            <a:r>
              <a:rPr lang="en-IN" sz="1400" dirty="0">
                <a:solidFill>
                  <a:srgbClr val="FF0000"/>
                </a:solidFill>
                <a:latin typeface="Calibri" pitchFamily="34" charset="0"/>
                <a:ea typeface="Calibri" pitchFamily="34" charset="-122"/>
                <a:cs typeface="Calibri" pitchFamily="34" charset="-120"/>
              </a:rPr>
              <a:t>Finding a vacant parking space in crowded areas such as shopping malls, colleges, hospitals, airports, and railway stations is a major challenge. Drivers often spend several minutes searching for an available spot, leading to traffic congestion, fuel wastage, air pollution and frustration. Traditional parking systems rely on manual monitoring and give no real-time information about availability, resulting in inefficient use of space. To solve this, we propose a Smart Parking System using IoT technology. Ultrasonic sensors (HC-SR04) detect whether each slot is occupied or vacant, and a microcontroller (Arduino Uno / ESP8266 / ESP32) processes this data and displays it in real time on an LCD and a mobile/web app. </a:t>
            </a:r>
          </a:p>
          <a:p>
            <a:pPr algn="just">
              <a:lnSpc>
                <a:spcPct val="150000"/>
              </a:lnSpc>
            </a:pPr>
            <a:r>
              <a:rPr lang="en-IN" sz="1400" dirty="0">
                <a:solidFill>
                  <a:srgbClr val="FF0000"/>
                </a:solidFill>
                <a:latin typeface="Calibri" pitchFamily="34" charset="0"/>
                <a:ea typeface="Calibri" pitchFamily="34" charset="-122"/>
                <a:cs typeface="Calibri" pitchFamily="34" charset="-120"/>
              </a:rPr>
              <a:t>	The system also controls the entry gate using a servo motor, letting it open automatically once availability is confirmed. By showing drivers exactly where a free slot is before they enter, the system reduces the time spent searching, cuts unnecessary fuel consumption and congestion, and helps parking administrators monitor occupancy without manual effort. It is a low-cost, scalable solution suitable for malls, hospitals, colleges, airports, railway stations and office buildings alike.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02920" y="658368"/>
            <a:ext cx="11183112" cy="310896"/>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Concept Sketch / Block diagram</a:t>
            </a:r>
            <a:endParaRPr lang="en-US" sz="2800" dirty="0"/>
          </a:p>
        </p:txBody>
      </p:sp>
      <p:sp>
        <p:nvSpPr>
          <p:cNvPr id="5" name="Text 2"/>
          <p:cNvSpPr/>
          <p:nvPr/>
        </p:nvSpPr>
        <p:spPr>
          <a:xfrm>
            <a:off x="502920" y="960120"/>
            <a:ext cx="11183112" cy="292608"/>
          </a:xfrm>
          <a:prstGeom prst="rect">
            <a:avLst/>
          </a:prstGeom>
          <a:noFill/>
          <a:ln/>
        </p:spPr>
        <p:txBody>
          <a:bodyPr wrap="square" lIns="0" tIns="0" rIns="0" bIns="0" rtlCol="0" anchor="ctr"/>
          <a:lstStyle/>
          <a:p>
            <a:pPr marL="0" indent="0">
              <a:buNone/>
            </a:pPr>
            <a:r>
              <a:rPr lang="en-US" sz="1200" i="1" dirty="0">
                <a:solidFill>
                  <a:srgbClr val="FF0000"/>
                </a:solidFill>
                <a:latin typeface="Calibri" pitchFamily="34" charset="0"/>
                <a:ea typeface="Calibri" pitchFamily="34" charset="-122"/>
                <a:cs typeface="Calibri" pitchFamily="34" charset="-120"/>
              </a:rPr>
              <a:t>A hand-drawn sketch is perfectly acceptable — clarity matters more than polish and AI generated Images.</a:t>
            </a:r>
            <a:endParaRPr lang="en-US" sz="1200" i="1" dirty="0">
              <a:solidFill>
                <a:srgbClr val="FF0000"/>
              </a:solidFill>
            </a:endParaRPr>
          </a:p>
        </p:txBody>
      </p:sp>
      <p:sp>
        <p:nvSpPr>
          <p:cNvPr id="6" name="Shape 3"/>
          <p:cNvSpPr/>
          <p:nvPr/>
        </p:nvSpPr>
        <p:spPr>
          <a:xfrm>
            <a:off x="505968" y="1317426"/>
            <a:ext cx="11183112" cy="0"/>
          </a:xfrm>
          <a:prstGeom prst="line">
            <a:avLst/>
          </a:prstGeom>
          <a:noFill/>
          <a:ln w="12700">
            <a:solidFill>
              <a:srgbClr val="DFE4EE"/>
            </a:solidFill>
            <a:prstDash val="solid"/>
          </a:ln>
        </p:spPr>
      </p:sp>
      <p:sp>
        <p:nvSpPr>
          <p:cNvPr id="7" name="Shape 4"/>
          <p:cNvSpPr/>
          <p:nvPr/>
        </p:nvSpPr>
        <p:spPr>
          <a:xfrm>
            <a:off x="502920" y="1457864"/>
            <a:ext cx="10893552" cy="4558866"/>
          </a:xfrm>
          <a:prstGeom prst="roundRect">
            <a:avLst>
              <a:gd name="adj" fmla="val 1720"/>
            </a:avLst>
          </a:prstGeom>
          <a:solidFill>
            <a:srgbClr val="F5F7FB"/>
          </a:solidFill>
          <a:ln w="12700">
            <a:solidFill>
              <a:srgbClr val="DFE4EE"/>
            </a:solidFill>
            <a:prstDash val="solid"/>
          </a:ln>
        </p:spPr>
      </p:sp>
      <p:pic>
        <p:nvPicPr>
          <p:cNvPr id="8" name="Image 1" descr="assets/ic_sketch.png"/>
          <p:cNvPicPr>
            <a:picLocks noChangeAspect="1"/>
          </p:cNvPicPr>
          <p:nvPr/>
        </p:nvPicPr>
        <p:blipFill>
          <a:blip r:embed="rId4"/>
          <a:stretch>
            <a:fillRect/>
          </a:stretch>
        </p:blipFill>
        <p:spPr>
          <a:xfrm>
            <a:off x="676656" y="1554480"/>
            <a:ext cx="292608" cy="292608"/>
          </a:xfrm>
          <a:prstGeom prst="rect">
            <a:avLst/>
          </a:prstGeom>
        </p:spPr>
      </p:pic>
      <p:sp>
        <p:nvSpPr>
          <p:cNvPr id="9" name="Text 5"/>
          <p:cNvSpPr/>
          <p:nvPr/>
        </p:nvSpPr>
        <p:spPr>
          <a:xfrm>
            <a:off x="1143000" y="1605226"/>
            <a:ext cx="4572000" cy="237744"/>
          </a:xfrm>
          <a:prstGeom prst="rect">
            <a:avLst/>
          </a:prstGeom>
          <a:noFill/>
          <a:ln/>
        </p:spPr>
        <p:txBody>
          <a:bodyPr wrap="square" lIns="0" tIns="0" rIns="0" bIns="0" rtlCol="0" anchor="ctr"/>
          <a:lstStyle/>
          <a:p>
            <a:pPr marL="0" indent="0" algn="l">
              <a:buNone/>
            </a:pPr>
            <a:r>
              <a:rPr lang="en-US" sz="1400" b="1" kern="0" spc="60" dirty="0">
                <a:solidFill>
                  <a:srgbClr val="071A45"/>
                </a:solidFill>
                <a:latin typeface="Calibri" pitchFamily="34" charset="0"/>
                <a:ea typeface="Calibri" pitchFamily="34" charset="-122"/>
                <a:cs typeface="Calibri" pitchFamily="34" charset="-120"/>
              </a:rPr>
              <a:t>CONCEPT SKETCH / BLOCK DIAGRAM</a:t>
            </a:r>
            <a:endParaRPr lang="en-US" sz="1400" dirty="0"/>
          </a:p>
        </p:txBody>
      </p:sp>
      <p:sp>
        <p:nvSpPr>
          <p:cNvPr id="10" name="Text 6"/>
          <p:cNvSpPr/>
          <p:nvPr/>
        </p:nvSpPr>
        <p:spPr>
          <a:xfrm>
            <a:off x="795528" y="3019828"/>
            <a:ext cx="10349800" cy="395910"/>
          </a:xfrm>
          <a:prstGeom prst="rect">
            <a:avLst/>
          </a:prstGeom>
          <a:noFill/>
          <a:ln/>
        </p:spPr>
        <p:txBody>
          <a:bodyPr wrap="square" lIns="0" tIns="0" rIns="0" bIns="0" rtlCol="0" anchor="t"/>
          <a:lstStyle/>
          <a:p>
            <a:pPr marL="0" indent="0" algn="ctr">
              <a:lnSpc>
                <a:spcPct val="105000"/>
              </a:lnSpc>
              <a:buNone/>
            </a:pPr>
            <a:r>
              <a:rPr lang="en-US" sz="1200" i="1" dirty="0">
                <a:solidFill>
                  <a:srgbClr val="FF0000"/>
                </a:solidFill>
                <a:latin typeface="Calibri" pitchFamily="34" charset="0"/>
                <a:ea typeface="Calibri" pitchFamily="34" charset="-122"/>
                <a:cs typeface="Calibri" pitchFamily="34" charset="-120"/>
              </a:rPr>
              <a:t>Paste your sketch/ block diagram of the solution here.</a:t>
            </a:r>
            <a:endParaRPr lang="en-US" sz="1200" i="1" dirty="0">
              <a:solidFill>
                <a:srgbClr val="FF0000"/>
              </a:solidFill>
            </a:endParaRPr>
          </a:p>
        </p:txBody>
      </p:sp>
      <p:sp>
        <p:nvSpPr>
          <p:cNvPr id="11" name="Text 7"/>
          <p:cNvSpPr/>
          <p:nvPr/>
        </p:nvSpPr>
        <p:spPr>
          <a:xfrm>
            <a:off x="6172200" y="1785840"/>
            <a:ext cx="5486400" cy="237744"/>
          </a:xfrm>
          <a:prstGeom prst="rect">
            <a:avLst/>
          </a:prstGeom>
          <a:noFill/>
          <a:ln/>
        </p:spPr>
        <p:txBody>
          <a:bodyPr wrap="square" lIns="0" tIns="0" rIns="0" bIns="0" rtlCol="0" anchor="ctr"/>
          <a:lstStyle/>
          <a:p>
            <a:pPr marL="0" indent="0" algn="l">
              <a:buNone/>
            </a:pPr>
            <a:endParaRPr lang="en-US" sz="1150" dirty="0"/>
          </a:p>
        </p:txBody>
      </p:sp>
      <p:sp>
        <p:nvSpPr>
          <p:cNvPr id="14" name="Text 10"/>
          <p:cNvSpPr/>
          <p:nvPr/>
        </p:nvSpPr>
        <p:spPr>
          <a:xfrm>
            <a:off x="6336792" y="2542032"/>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4" name="Text 20"/>
          <p:cNvSpPr/>
          <p:nvPr/>
        </p:nvSpPr>
        <p:spPr>
          <a:xfrm>
            <a:off x="6336792" y="4370832"/>
            <a:ext cx="256032" cy="256032"/>
          </a:xfrm>
          <a:prstGeom prst="rect">
            <a:avLst/>
          </a:prstGeom>
          <a:noFill/>
          <a:ln/>
        </p:spPr>
        <p:txBody>
          <a:bodyPr wrap="square" lIns="0" tIns="0" rIns="0" bIns="0" rtlCol="0" anchor="ctr"/>
          <a:lstStyle/>
          <a:p>
            <a:pPr marL="0" indent="0" algn="ctr">
              <a:buNone/>
            </a:pPr>
            <a:endParaRPr lang="en-US" sz="1200" dirty="0"/>
          </a:p>
        </p:txBody>
      </p:sp>
      <p:sp>
        <p:nvSpPr>
          <p:cNvPr id="29" name="Text 25"/>
          <p:cNvSpPr/>
          <p:nvPr/>
        </p:nvSpPr>
        <p:spPr>
          <a:xfrm>
            <a:off x="9125712" y="4370832"/>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2"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fld id="{8814E809-9EF7-49A1-AD89-DD5B745C6200}" type="datetime1">
              <a:rPr lang="en-IN" smtClean="0"/>
              <a:t>25-07-2026</a:t>
            </a:fld>
            <a:endParaRPr lang="en-IN"/>
          </a:p>
        </p:txBody>
      </p:sp>
      <p:sp>
        <p:nvSpPr>
          <p:cNvPr id="33"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34"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fld id="{17E3C9B3-98AE-418A-A72A-81AA92F64440}" type="slidenum">
              <a:rPr lang="en-IN" smtClean="0"/>
              <a:t>4</a:t>
            </a:fld>
            <a:endParaRPr lang="en-IN"/>
          </a:p>
        </p:txBody>
      </p:sp>
      <p:pic>
        <p:nvPicPr>
          <p:cNvPr id="35" name="Picture 34">
            <a:extLst>
              <a:ext uri="{FF2B5EF4-FFF2-40B4-BE49-F238E27FC236}">
                <a16:creationId xmlns:a16="http://schemas.microsoft.com/office/drawing/2014/main" id="{E02DDAC9-7330-F2D5-2AD6-AEC4FDDD78D0}"/>
              </a:ext>
            </a:extLst>
          </p:cNvPr>
          <p:cNvPicPr>
            <a:picLocks noChangeAspect="1"/>
          </p:cNvPicPr>
          <p:nvPr/>
        </p:nvPicPr>
        <p:blipFill>
          <a:blip r:embed="rId5"/>
          <a:stretch>
            <a:fillRect/>
          </a:stretch>
        </p:blipFill>
        <p:spPr>
          <a:xfrm>
            <a:off x="10363654" y="371776"/>
            <a:ext cx="1325426" cy="6035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32"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fld id="{8814E809-9EF7-49A1-AD89-DD5B745C6200}" type="datetime1">
              <a:rPr lang="en-IN" smtClean="0"/>
              <a:t>25-07-2026</a:t>
            </a:fld>
            <a:endParaRPr lang="en-IN"/>
          </a:p>
        </p:txBody>
      </p:sp>
      <p:sp>
        <p:nvSpPr>
          <p:cNvPr id="33"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34"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fld id="{17E3C9B3-98AE-418A-A72A-81AA92F64440}" type="slidenum">
              <a:rPr lang="en-IN" smtClean="0"/>
              <a:t>5</a:t>
            </a:fld>
            <a:endParaRPr lang="en-IN"/>
          </a:p>
        </p:txBody>
      </p:sp>
      <p:sp>
        <p:nvSpPr>
          <p:cNvPr id="101" name="Text 102"/>
          <p:cNvSpPr/>
          <p:nvPr/>
        </p:nvSpPr>
        <p:spPr>
          <a:xfrm>
            <a:off x="502920" y="658368"/>
            <a:ext cx="11183112" cy="457200"/>
          </a:xfrm>
          <a:prstGeom prst="rect">
            <a:avLst/>
          </a:prstGeom>
          <a:noFill/>
          <a:ln/>
        </p:spPr>
        <p:txBody>
          <a:bodyPr wrap="square" lIns="0" tIns="0" rIns="0" bIns="0" rtlCol="0" anchor="t"/>
          <a:lstStyle/>
          <a:p>
            <a:pPr marL="0" indent="0" algn="l">
              <a:buNone/>
            </a:pPr>
            <a:r>
              <a:rPr lang="en-IN" sz="2800" b="1" dirty="0">
                <a:solidFill>
                  <a:srgbClr val="071A45"/>
                </a:solidFill>
                <a:latin typeface="Calibri" pitchFamily="34" charset="0"/>
                <a:ea typeface="Calibri" pitchFamily="34" charset="-122"/>
                <a:cs typeface="Calibri" pitchFamily="34" charset="-120"/>
              </a:rPr>
              <a:t>Storyboard</a:t>
            </a:r>
          </a:p>
        </p:txBody>
      </p:sp>
      <p:sp>
        <p:nvSpPr>
          <p:cNvPr id="103" name="Text 104"/>
          <p:cNvSpPr/>
          <p:nvPr/>
        </p:nvSpPr>
        <p:spPr>
          <a:xfrm>
            <a:off x="502920" y="1115568"/>
            <a:ext cx="11183112" cy="292608"/>
          </a:xfrm>
          <a:prstGeom prst="rect">
            <a:avLst/>
          </a:prstGeom>
          <a:noFill/>
          <a:ln/>
        </p:spPr>
        <p:txBody>
          <a:bodyPr wrap="square" lIns="0" tIns="0" rIns="0" bIns="0" rtlCol="0" anchor="t"/>
          <a:lstStyle/>
          <a:p>
            <a:pPr marL="0" indent="0" algn="l">
              <a:buNone/>
            </a:pPr>
            <a:r>
              <a:rPr lang="en-IN" sz="1200" i="1" dirty="0">
                <a:solidFill>
                  <a:srgbClr val="FF0000"/>
                </a:solidFill>
                <a:latin typeface="Calibri" pitchFamily="34" charset="0"/>
                <a:ea typeface="Calibri" pitchFamily="34" charset="-122"/>
                <a:cs typeface="Calibri" pitchFamily="34" charset="-120"/>
              </a:rPr>
              <a:t>Tell it as a short story — their day before your solution, and the day after it. No sketching needed.</a:t>
            </a:r>
          </a:p>
        </p:txBody>
      </p:sp>
      <p:cxnSp>
        <p:nvCxnSpPr>
          <p:cNvPr id="105" name="Line 106"/>
          <p:cNvCxnSpPr/>
          <p:nvPr/>
        </p:nvCxnSpPr>
        <p:spPr>
          <a:xfrm>
            <a:off x="502920" y="1317428"/>
            <a:ext cx="11183112" cy="0"/>
          </a:xfrm>
          <a:prstGeom prst="line">
            <a:avLst/>
          </a:prstGeom>
          <a:ln w="12700">
            <a:solidFill>
              <a:srgbClr val="DFE4EE"/>
            </a:solidFill>
          </a:ln>
        </p:spPr>
      </p:cxnSp>
      <p:sp>
        <p:nvSpPr>
          <p:cNvPr id="107" name="Card 108"/>
          <p:cNvSpPr/>
          <p:nvPr/>
        </p:nvSpPr>
        <p:spPr>
          <a:xfrm>
            <a:off x="512063" y="1524718"/>
            <a:ext cx="5504688" cy="4755312"/>
          </a:xfrm>
          <a:prstGeom prst="roundRect">
            <a:avLst>
              <a:gd name="adj" fmla="val 6000"/>
            </a:avLst>
          </a:prstGeom>
          <a:solidFill>
            <a:srgbClr val="FDF1F1"/>
          </a:solidFill>
          <a:ln w="12700">
            <a:solidFill>
              <a:srgbClr val="F0C9C9"/>
            </a:solidFill>
          </a:ln>
        </p:spPr>
        <p:txBody>
          <a:bodyPr/>
          <a:lstStyle/>
          <a:p>
            <a:endParaRPr lang="en-IN" dirty="0"/>
          </a:p>
        </p:txBody>
      </p:sp>
      <p:sp>
        <p:nvSpPr>
          <p:cNvPr id="109" name="Text 110"/>
          <p:cNvSpPr/>
          <p:nvPr/>
        </p:nvSpPr>
        <p:spPr>
          <a:xfrm>
            <a:off x="795527" y="2138160"/>
            <a:ext cx="4937760" cy="2391166"/>
          </a:xfrm>
          <a:prstGeom prst="rect">
            <a:avLst/>
          </a:prstGeom>
          <a:noFill/>
          <a:ln/>
        </p:spPr>
        <p:txBody>
          <a:bodyPr wrap="square" lIns="0" tIns="0" rIns="0" bIns="0" rtlCol="0" anchor="t"/>
          <a:lstStyle/>
          <a:p>
            <a:pPr marL="0" indent="0" algn="ctr">
              <a:buNone/>
            </a:pPr>
            <a:r>
              <a:rPr lang="en-IN" sz="1100" b="1" spc="60" dirty="0">
                <a:solidFill>
                  <a:srgbClr val="C62828"/>
                </a:solidFill>
                <a:latin typeface="Calibri" pitchFamily="34" charset="0"/>
                <a:ea typeface="Calibri" pitchFamily="34" charset="-122"/>
                <a:cs typeface="Calibri" pitchFamily="34" charset="-120"/>
              </a:rPr>
              <a:t>BEFORE  —  A DAY IN THEIR LIFE TODAY</a:t>
            </a:r>
          </a:p>
          <a:p>
            <a:pPr marL="0" indent="0" algn="l">
              <a:lnSpc>
                <a:spcPct val="115000"/>
              </a:lnSpc>
              <a:buNone/>
            </a:pPr>
            <a:r>
              <a:rPr lang="en-IN" sz="1600" dirty="0">
                <a:solidFill>
                  <a:srgbClr val="6A2E2E"/>
                </a:solidFill>
                <a:latin typeface="Calibri" pitchFamily="34" charset="0"/>
                <a:ea typeface="Calibri" pitchFamily="34" charset="-122"/>
                <a:cs typeface="Calibri" pitchFamily="34" charset="-120"/>
              </a:rPr>
              <a:t>Ravi drives to the mall for a quick errand. He circles the parking lot for 10 minutes, sees no signboard telling him which floor has space, and finally parks illegally near the exit out of frustration — making him late and stressed before he even starts his task.</a:t>
            </a:r>
          </a:p>
        </p:txBody>
      </p:sp>
      <p:sp>
        <p:nvSpPr>
          <p:cNvPr id="117" name="Card 118"/>
          <p:cNvSpPr/>
          <p:nvPr/>
        </p:nvSpPr>
        <p:spPr>
          <a:xfrm>
            <a:off x="6125760" y="1524718"/>
            <a:ext cx="5504688" cy="4755312"/>
          </a:xfrm>
          <a:prstGeom prst="roundRect">
            <a:avLst>
              <a:gd name="adj" fmla="val 6000"/>
            </a:avLst>
          </a:prstGeom>
          <a:solidFill>
            <a:srgbClr val="E9EFFC"/>
          </a:solidFill>
          <a:ln w="12700">
            <a:solidFill>
              <a:srgbClr val="C3CDE8"/>
            </a:solidFill>
          </a:ln>
        </p:spPr>
        <p:txBody>
          <a:bodyPr/>
          <a:lstStyle/>
          <a:p>
            <a:endParaRPr lang="en-IN"/>
          </a:p>
        </p:txBody>
      </p:sp>
      <p:sp>
        <p:nvSpPr>
          <p:cNvPr id="119" name="Text 120"/>
          <p:cNvSpPr/>
          <p:nvPr/>
        </p:nvSpPr>
        <p:spPr>
          <a:xfrm>
            <a:off x="6409224" y="2138159"/>
            <a:ext cx="4937760" cy="2089891"/>
          </a:xfrm>
          <a:prstGeom prst="rect">
            <a:avLst/>
          </a:prstGeom>
          <a:noFill/>
          <a:ln/>
        </p:spPr>
        <p:txBody>
          <a:bodyPr wrap="square" lIns="0" tIns="0" rIns="0" bIns="0" rtlCol="0" anchor="t"/>
          <a:lstStyle/>
          <a:p>
            <a:pPr marL="0" indent="0" algn="ctr">
              <a:buNone/>
            </a:pPr>
            <a:r>
              <a:rPr lang="en-IN" sz="1100" b="1" spc="60" dirty="0">
                <a:solidFill>
                  <a:srgbClr val="071A45"/>
                </a:solidFill>
                <a:latin typeface="Calibri" pitchFamily="34" charset="0"/>
                <a:ea typeface="Calibri" pitchFamily="34" charset="-122"/>
                <a:cs typeface="Calibri" pitchFamily="34" charset="-120"/>
              </a:rPr>
              <a:t>AFTER  —  A DAY WITH OUR SOLUTION</a:t>
            </a:r>
          </a:p>
          <a:p>
            <a:pPr marL="0" indent="0" algn="l">
              <a:lnSpc>
                <a:spcPct val="115000"/>
              </a:lnSpc>
              <a:buNone/>
            </a:pPr>
            <a:r>
              <a:rPr lang="en-IN" dirty="0">
                <a:solidFill>
                  <a:srgbClr val="1C3A6E"/>
                </a:solidFill>
                <a:latin typeface="Calibri" pitchFamily="34" charset="0"/>
                <a:ea typeface="Calibri" pitchFamily="34" charset="-122"/>
                <a:cs typeface="Calibri" pitchFamily="34" charset="-120"/>
              </a:rPr>
              <a:t>Ravi checks the mall’s parking app before he arrives and sees three vacant slots on Level 2. The gate opens automatically as he enters, the LCD board confirms the exact free slot, and he parks in under a minute — calm, on time, and stress-free.</a:t>
            </a:r>
          </a:p>
        </p:txBody>
      </p:sp>
      <p:sp>
        <p:nvSpPr>
          <p:cNvPr id="133" name="Text 134"/>
          <p:cNvSpPr/>
          <p:nvPr/>
        </p:nvSpPr>
        <p:spPr>
          <a:xfrm>
            <a:off x="502920" y="6163056"/>
            <a:ext cx="11183112" cy="219456"/>
          </a:xfrm>
          <a:prstGeom prst="rect">
            <a:avLst/>
          </a:prstGeom>
          <a:noFill/>
          <a:ln/>
        </p:spPr>
        <p:txBody>
          <a:bodyPr wrap="square" lIns="0" tIns="0" rIns="0" bIns="0" rtlCol="0" anchor="t"/>
          <a:lstStyle/>
          <a:p>
            <a:pPr marL="0" indent="0" algn="l">
              <a:buNone/>
            </a:pPr>
            <a:endParaRPr lang="en-IN" sz="950" i="1" dirty="0">
              <a:solidFill>
                <a:srgbClr val="8A93A8"/>
              </a:solidFill>
              <a:latin typeface="Calibri" pitchFamily="34" charset="0"/>
              <a:ea typeface="Calibri" pitchFamily="34" charset="-122"/>
              <a:cs typeface="Calibri" pitchFamily="34" charset="-120"/>
            </a:endParaRPr>
          </a:p>
        </p:txBody>
      </p:sp>
      <p:pic>
        <p:nvPicPr>
          <p:cNvPr id="6" name="Picture 5">
            <a:extLst>
              <a:ext uri="{FF2B5EF4-FFF2-40B4-BE49-F238E27FC236}">
                <a16:creationId xmlns:a16="http://schemas.microsoft.com/office/drawing/2014/main" id="{239B2AB6-EE98-353B-9D34-F58345FC5CB8}"/>
              </a:ext>
            </a:extLst>
          </p:cNvPr>
          <p:cNvPicPr>
            <a:picLocks noChangeAspect="1"/>
          </p:cNvPicPr>
          <p:nvPr/>
        </p:nvPicPr>
        <p:blipFill>
          <a:blip r:embed="rId4"/>
          <a:stretch>
            <a:fillRect/>
          </a:stretch>
        </p:blipFill>
        <p:spPr>
          <a:xfrm>
            <a:off x="10363654" y="371776"/>
            <a:ext cx="1325426" cy="60350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F5BAC-070B-5680-7A68-315A0A39A70C}"/>
            </a:ext>
          </a:extLst>
        </p:cNvPr>
        <p:cNvGrpSpPr/>
        <p:nvPr/>
      </p:nvGrpSpPr>
      <p:grpSpPr>
        <a:xfrm>
          <a:off x="0" y="0"/>
          <a:ext cx="0" cy="0"/>
          <a:chOff x="0" y="0"/>
          <a:chExt cx="0" cy="0"/>
        </a:xfrm>
      </p:grpSpPr>
      <p:pic>
        <p:nvPicPr>
          <p:cNvPr id="2" name="Image 0" descr="assets/logo.png">
            <a:extLst>
              <a:ext uri="{FF2B5EF4-FFF2-40B4-BE49-F238E27FC236}">
                <a16:creationId xmlns:a16="http://schemas.microsoft.com/office/drawing/2014/main" id="{7AEC189A-5AE2-6B26-A6A7-842B3A7634E1}"/>
              </a:ext>
            </a:extLst>
          </p:cNvPr>
          <p:cNvPicPr>
            <a:picLocks noChangeAspect="1"/>
          </p:cNvPicPr>
          <p:nvPr/>
        </p:nvPicPr>
        <p:blipFill>
          <a:blip r:embed="rId3"/>
          <a:stretch>
            <a:fillRect/>
          </a:stretch>
        </p:blipFill>
        <p:spPr>
          <a:xfrm>
            <a:off x="457200" y="237744"/>
            <a:ext cx="1024128" cy="283464"/>
          </a:xfrm>
          <a:prstGeom prst="rect">
            <a:avLst/>
          </a:prstGeom>
        </p:spPr>
      </p:pic>
      <p:sp>
        <p:nvSpPr>
          <p:cNvPr id="32" name="Date Placeholder">
            <a:extLst>
              <a:ext uri="{FF2B5EF4-FFF2-40B4-BE49-F238E27FC236}">
                <a16:creationId xmlns:a16="http://schemas.microsoft.com/office/drawing/2014/main" id="{0235A907-0C26-1FFB-2146-BF5BABC03DED}"/>
              </a:ext>
            </a:extLst>
          </p:cNvP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fld id="{8814E809-9EF7-49A1-AD89-DD5B745C6200}" type="datetime1">
              <a:rPr lang="en-IN" smtClean="0"/>
              <a:t>25-07-2026</a:t>
            </a:fld>
            <a:endParaRPr lang="en-IN"/>
          </a:p>
        </p:txBody>
      </p:sp>
      <p:sp>
        <p:nvSpPr>
          <p:cNvPr id="33" name="Footer Placeholder">
            <a:extLst>
              <a:ext uri="{FF2B5EF4-FFF2-40B4-BE49-F238E27FC236}">
                <a16:creationId xmlns:a16="http://schemas.microsoft.com/office/drawing/2014/main" id="{AD5EA8F5-C3C7-81C7-96BC-484813B8DE5D}"/>
              </a:ext>
            </a:extLst>
          </p:cNvP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34" name="Slide Number Placeholder">
            <a:extLst>
              <a:ext uri="{FF2B5EF4-FFF2-40B4-BE49-F238E27FC236}">
                <a16:creationId xmlns:a16="http://schemas.microsoft.com/office/drawing/2014/main" id="{6D700196-6FF7-2386-4062-3AD485BB020D}"/>
              </a:ext>
            </a:extLst>
          </p:cNvP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fld id="{17E3C9B3-98AE-418A-A72A-81AA92F64440}" type="slidenum">
              <a:rPr lang="en-IN" smtClean="0"/>
              <a:t>6</a:t>
            </a:fld>
            <a:endParaRPr lang="en-IN"/>
          </a:p>
        </p:txBody>
      </p:sp>
      <p:sp>
        <p:nvSpPr>
          <p:cNvPr id="101" name="Text 102">
            <a:extLst>
              <a:ext uri="{FF2B5EF4-FFF2-40B4-BE49-F238E27FC236}">
                <a16:creationId xmlns:a16="http://schemas.microsoft.com/office/drawing/2014/main" id="{6300E7B6-6C1D-8E1D-6C2E-081AB3B3D79D}"/>
              </a:ext>
            </a:extLst>
          </p:cNvPr>
          <p:cNvSpPr/>
          <p:nvPr/>
        </p:nvSpPr>
        <p:spPr>
          <a:xfrm>
            <a:off x="502920" y="658368"/>
            <a:ext cx="11183112" cy="457200"/>
          </a:xfrm>
          <a:prstGeom prst="rect">
            <a:avLst/>
          </a:prstGeom>
          <a:noFill/>
          <a:ln/>
        </p:spPr>
        <p:txBody>
          <a:bodyPr wrap="square" lIns="0" tIns="0" rIns="0" bIns="0" rtlCol="0" anchor="t"/>
          <a:lstStyle/>
          <a:p>
            <a:pPr marL="0" indent="0" algn="l">
              <a:buNone/>
            </a:pPr>
            <a:r>
              <a:rPr lang="en-IN" sz="2800" b="1" dirty="0">
                <a:solidFill>
                  <a:srgbClr val="071A45"/>
                </a:solidFill>
                <a:latin typeface="Calibri" pitchFamily="34" charset="0"/>
                <a:ea typeface="Calibri" pitchFamily="34" charset="-122"/>
                <a:cs typeface="Calibri" pitchFamily="34" charset="-120"/>
              </a:rPr>
              <a:t>Storyboard – SAMPLE </a:t>
            </a:r>
            <a:r>
              <a:rPr lang="en-IN" sz="1400" b="1" dirty="0">
                <a:solidFill>
                  <a:srgbClr val="FF0000"/>
                </a:solidFill>
                <a:latin typeface="Calibri" pitchFamily="34" charset="0"/>
                <a:ea typeface="Calibri" pitchFamily="34" charset="-122"/>
                <a:cs typeface="Calibri" pitchFamily="34" charset="-120"/>
              </a:rPr>
              <a:t>(Don’t Use this Slide for your presentation)</a:t>
            </a:r>
            <a:endParaRPr lang="en-IN" sz="2800" b="1" dirty="0">
              <a:solidFill>
                <a:srgbClr val="FF0000"/>
              </a:solidFill>
              <a:latin typeface="Calibri" pitchFamily="34" charset="0"/>
              <a:ea typeface="Calibri" pitchFamily="34" charset="-122"/>
              <a:cs typeface="Calibri" pitchFamily="34" charset="-120"/>
            </a:endParaRPr>
          </a:p>
        </p:txBody>
      </p:sp>
      <p:cxnSp>
        <p:nvCxnSpPr>
          <p:cNvPr id="105" name="Line 106">
            <a:extLst>
              <a:ext uri="{FF2B5EF4-FFF2-40B4-BE49-F238E27FC236}">
                <a16:creationId xmlns:a16="http://schemas.microsoft.com/office/drawing/2014/main" id="{AF48D5CA-7304-5996-B3DA-E2E2B7BBA798}"/>
              </a:ext>
            </a:extLst>
          </p:cNvPr>
          <p:cNvCxnSpPr/>
          <p:nvPr/>
        </p:nvCxnSpPr>
        <p:spPr>
          <a:xfrm>
            <a:off x="502920" y="1317428"/>
            <a:ext cx="11183112" cy="0"/>
          </a:xfrm>
          <a:prstGeom prst="line">
            <a:avLst/>
          </a:prstGeom>
          <a:ln w="12700">
            <a:solidFill>
              <a:srgbClr val="DFE4EE"/>
            </a:solidFill>
          </a:ln>
        </p:spPr>
      </p:cxnSp>
      <p:sp>
        <p:nvSpPr>
          <p:cNvPr id="133" name="Text 134">
            <a:extLst>
              <a:ext uri="{FF2B5EF4-FFF2-40B4-BE49-F238E27FC236}">
                <a16:creationId xmlns:a16="http://schemas.microsoft.com/office/drawing/2014/main" id="{389FB461-312E-B137-9013-773717C7C54B}"/>
              </a:ext>
            </a:extLst>
          </p:cNvPr>
          <p:cNvSpPr/>
          <p:nvPr/>
        </p:nvSpPr>
        <p:spPr>
          <a:xfrm>
            <a:off x="502920" y="6163056"/>
            <a:ext cx="11183112" cy="219456"/>
          </a:xfrm>
          <a:prstGeom prst="rect">
            <a:avLst/>
          </a:prstGeom>
          <a:noFill/>
          <a:ln/>
        </p:spPr>
        <p:txBody>
          <a:bodyPr wrap="square" lIns="0" tIns="0" rIns="0" bIns="0" rtlCol="0" anchor="t"/>
          <a:lstStyle/>
          <a:p>
            <a:pPr marL="0" indent="0" algn="l">
              <a:buNone/>
            </a:pPr>
            <a:endParaRPr lang="en-IN" sz="950" i="1" dirty="0">
              <a:solidFill>
                <a:srgbClr val="8A93A8"/>
              </a:solidFill>
              <a:latin typeface="Calibri" pitchFamily="34" charset="0"/>
              <a:ea typeface="Calibri" pitchFamily="34" charset="-122"/>
              <a:cs typeface="Calibri" pitchFamily="34" charset="-120"/>
            </a:endParaRPr>
          </a:p>
        </p:txBody>
      </p:sp>
      <p:pic>
        <p:nvPicPr>
          <p:cNvPr id="6" name="Picture 5">
            <a:extLst>
              <a:ext uri="{FF2B5EF4-FFF2-40B4-BE49-F238E27FC236}">
                <a16:creationId xmlns:a16="http://schemas.microsoft.com/office/drawing/2014/main" id="{28A8BE83-7350-BAAE-55D4-D36AD5D82545}"/>
              </a:ext>
            </a:extLst>
          </p:cNvPr>
          <p:cNvPicPr>
            <a:picLocks noChangeAspect="1"/>
          </p:cNvPicPr>
          <p:nvPr/>
        </p:nvPicPr>
        <p:blipFill>
          <a:blip r:embed="rId4"/>
          <a:stretch>
            <a:fillRect/>
          </a:stretch>
        </p:blipFill>
        <p:spPr>
          <a:xfrm>
            <a:off x="10363654" y="371776"/>
            <a:ext cx="1325426" cy="603504"/>
          </a:xfrm>
          <a:prstGeom prst="rect">
            <a:avLst/>
          </a:prstGeom>
        </p:spPr>
      </p:pic>
      <p:pic>
        <p:nvPicPr>
          <p:cNvPr id="5" name="Picture 4">
            <a:extLst>
              <a:ext uri="{FF2B5EF4-FFF2-40B4-BE49-F238E27FC236}">
                <a16:creationId xmlns:a16="http://schemas.microsoft.com/office/drawing/2014/main" id="{1DB38220-EF5A-AEDA-2C5A-61026DDAB578}"/>
              </a:ext>
            </a:extLst>
          </p:cNvPr>
          <p:cNvPicPr>
            <a:picLocks noChangeAspect="1"/>
          </p:cNvPicPr>
          <p:nvPr/>
        </p:nvPicPr>
        <p:blipFill>
          <a:blip r:embed="rId5"/>
          <a:stretch>
            <a:fillRect/>
          </a:stretch>
        </p:blipFill>
        <p:spPr>
          <a:xfrm>
            <a:off x="502920" y="1121438"/>
            <a:ext cx="10736580" cy="5540572"/>
          </a:xfrm>
          <a:prstGeom prst="rect">
            <a:avLst/>
          </a:prstGeom>
        </p:spPr>
      </p:pic>
    </p:spTree>
    <p:extLst>
      <p:ext uri="{BB962C8B-B14F-4D97-AF65-F5344CB8AC3E}">
        <p14:creationId xmlns:p14="http://schemas.microsoft.com/office/powerpoint/2010/main" val="2266170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02920" y="658368"/>
            <a:ext cx="11183112" cy="457200"/>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From Pain Point to Feature</a:t>
            </a:r>
            <a:endParaRPr lang="en-US" sz="2800" dirty="0"/>
          </a:p>
        </p:txBody>
      </p:sp>
      <p:sp>
        <p:nvSpPr>
          <p:cNvPr id="5" name="Text 2"/>
          <p:cNvSpPr/>
          <p:nvPr/>
        </p:nvSpPr>
        <p:spPr>
          <a:xfrm>
            <a:off x="505968" y="1028700"/>
            <a:ext cx="11183112" cy="292608"/>
          </a:xfrm>
          <a:prstGeom prst="rect">
            <a:avLst/>
          </a:prstGeom>
          <a:noFill/>
          <a:ln/>
        </p:spPr>
        <p:txBody>
          <a:bodyPr wrap="square" lIns="0" tIns="0" rIns="0" bIns="0" rtlCol="0" anchor="ctr"/>
          <a:lstStyle/>
          <a:p>
            <a:pPr marL="0" indent="0">
              <a:buNone/>
            </a:pPr>
            <a:r>
              <a:rPr lang="en-US" sz="1200" i="1" dirty="0">
                <a:solidFill>
                  <a:srgbClr val="FF0000"/>
                </a:solidFill>
                <a:latin typeface="Calibri" pitchFamily="34" charset="0"/>
                <a:ea typeface="Calibri" pitchFamily="34" charset="-122"/>
                <a:cs typeface="Calibri" pitchFamily="34" charset="-120"/>
              </a:rPr>
              <a:t>Prove the idea came from empathy — every pain point must meet a feature.</a:t>
            </a:r>
            <a:endParaRPr lang="en-US" sz="1200" i="1" dirty="0">
              <a:solidFill>
                <a:srgbClr val="FF0000"/>
              </a:solidFill>
            </a:endParaRPr>
          </a:p>
        </p:txBody>
      </p:sp>
      <p:sp>
        <p:nvSpPr>
          <p:cNvPr id="6" name="Shape 3"/>
          <p:cNvSpPr/>
          <p:nvPr/>
        </p:nvSpPr>
        <p:spPr>
          <a:xfrm>
            <a:off x="505968" y="1461660"/>
            <a:ext cx="11183112" cy="0"/>
          </a:xfrm>
          <a:prstGeom prst="line">
            <a:avLst/>
          </a:prstGeom>
          <a:noFill/>
          <a:ln w="12700">
            <a:solidFill>
              <a:srgbClr val="DFE4EE"/>
            </a:solidFill>
            <a:prstDash val="solid"/>
          </a:ln>
        </p:spPr>
      </p:sp>
      <p:sp>
        <p:nvSpPr>
          <p:cNvPr id="7" name="Shape 4"/>
          <p:cNvSpPr/>
          <p:nvPr/>
        </p:nvSpPr>
        <p:spPr>
          <a:xfrm>
            <a:off x="502920" y="1783080"/>
            <a:ext cx="5120640" cy="457200"/>
          </a:xfrm>
          <a:prstGeom prst="roundRect">
            <a:avLst>
              <a:gd name="adj" fmla="val 16000"/>
            </a:avLst>
          </a:prstGeom>
          <a:solidFill>
            <a:srgbClr val="FDF1F1"/>
          </a:solidFill>
          <a:ln w="12700">
            <a:solidFill>
              <a:srgbClr val="F0C9C9"/>
            </a:solidFill>
            <a:prstDash val="solid"/>
          </a:ln>
        </p:spPr>
      </p:sp>
      <p:sp>
        <p:nvSpPr>
          <p:cNvPr id="8" name="Text 5"/>
          <p:cNvSpPr/>
          <p:nvPr/>
        </p:nvSpPr>
        <p:spPr>
          <a:xfrm>
            <a:off x="777240" y="1874520"/>
            <a:ext cx="4572000" cy="237744"/>
          </a:xfrm>
          <a:prstGeom prst="rect">
            <a:avLst/>
          </a:prstGeom>
          <a:noFill/>
          <a:ln/>
        </p:spPr>
        <p:txBody>
          <a:bodyPr wrap="square" lIns="0" tIns="0" rIns="0" bIns="0" rtlCol="0" anchor="ctr"/>
          <a:lstStyle/>
          <a:p>
            <a:pPr marL="0" indent="0" algn="l">
              <a:buNone/>
            </a:pPr>
            <a:r>
              <a:rPr lang="en-US" sz="1100" b="1" kern="0" spc="60" dirty="0">
                <a:solidFill>
                  <a:srgbClr val="C62828"/>
                </a:solidFill>
                <a:latin typeface="Calibri" pitchFamily="34" charset="0"/>
                <a:ea typeface="Calibri" pitchFamily="34" charset="-122"/>
                <a:cs typeface="Calibri" pitchFamily="34" charset="-120"/>
              </a:rPr>
              <a:t>PAIN POINT  (from Empathy Map)</a:t>
            </a:r>
            <a:endParaRPr lang="en-US" sz="1100" dirty="0"/>
          </a:p>
        </p:txBody>
      </p:sp>
      <p:sp>
        <p:nvSpPr>
          <p:cNvPr id="9" name="Shape 6"/>
          <p:cNvSpPr/>
          <p:nvPr/>
        </p:nvSpPr>
        <p:spPr>
          <a:xfrm>
            <a:off x="6565392" y="1783080"/>
            <a:ext cx="5120640" cy="457200"/>
          </a:xfrm>
          <a:prstGeom prst="roundRect">
            <a:avLst>
              <a:gd name="adj" fmla="val 16000"/>
            </a:avLst>
          </a:prstGeom>
          <a:solidFill>
            <a:srgbClr val="E9EFFC"/>
          </a:solidFill>
          <a:ln w="12700">
            <a:solidFill>
              <a:srgbClr val="C3CDE8"/>
            </a:solidFill>
            <a:prstDash val="solid"/>
          </a:ln>
        </p:spPr>
      </p:sp>
      <p:sp>
        <p:nvSpPr>
          <p:cNvPr id="10" name="Text 7"/>
          <p:cNvSpPr/>
          <p:nvPr/>
        </p:nvSpPr>
        <p:spPr>
          <a:xfrm>
            <a:off x="6839712" y="1874520"/>
            <a:ext cx="4572000" cy="237744"/>
          </a:xfrm>
          <a:prstGeom prst="rect">
            <a:avLst/>
          </a:prstGeom>
          <a:noFill/>
          <a:ln/>
        </p:spPr>
        <p:txBody>
          <a:bodyPr wrap="square" lIns="0" tIns="0" rIns="0" bIns="0" rtlCol="0" anchor="ctr"/>
          <a:lstStyle/>
          <a:p>
            <a:pPr marL="0" indent="0" algn="l">
              <a:buNone/>
            </a:pPr>
            <a:r>
              <a:rPr lang="en-US" sz="1100" b="1" kern="0" spc="60" dirty="0">
                <a:solidFill>
                  <a:srgbClr val="071A45"/>
                </a:solidFill>
                <a:latin typeface="Calibri" pitchFamily="34" charset="0"/>
                <a:ea typeface="Calibri" pitchFamily="34" charset="-122"/>
                <a:cs typeface="Calibri" pitchFamily="34" charset="-120"/>
              </a:rPr>
              <a:t>OUR FEATURE THAT SOLVES IT</a:t>
            </a:r>
            <a:endParaRPr lang="en-US" sz="1100" dirty="0"/>
          </a:p>
        </p:txBody>
      </p:sp>
      <p:sp>
        <p:nvSpPr>
          <p:cNvPr id="11" name="Shape 8"/>
          <p:cNvSpPr/>
          <p:nvPr/>
        </p:nvSpPr>
        <p:spPr>
          <a:xfrm>
            <a:off x="502920" y="2395728"/>
            <a:ext cx="5120640" cy="777240"/>
          </a:xfrm>
          <a:prstGeom prst="roundRect">
            <a:avLst>
              <a:gd name="adj" fmla="val 9412"/>
            </a:avLst>
          </a:prstGeom>
          <a:solidFill>
            <a:srgbClr val="F5F7FB"/>
          </a:solidFill>
          <a:ln w="12700">
            <a:solidFill>
              <a:srgbClr val="DFE4EE"/>
            </a:solidFill>
            <a:prstDash val="solid"/>
          </a:ln>
        </p:spPr>
      </p:sp>
      <p:sp>
        <p:nvSpPr>
          <p:cNvPr id="12" name="Text 9"/>
          <p:cNvSpPr/>
          <p:nvPr/>
        </p:nvSpPr>
        <p:spPr>
          <a:xfrm>
            <a:off x="777240" y="2651760"/>
            <a:ext cx="4572000" cy="320040"/>
          </a:xfrm>
          <a:prstGeom prst="rect">
            <a:avLst/>
          </a:prstGeom>
          <a:noFill/>
          <a:ln/>
        </p:spPr>
        <p:txBody>
          <a:bodyPr wrap="square" lIns="0" tIns="0" rIns="0" bIns="0" rtlCol="0" anchor="t"/>
          <a:lstStyle/>
          <a:p>
            <a:pPr marL="0" indent="0" algn="l">
              <a:lnSpc>
                <a:spcPct val="105000"/>
              </a:lnSpc>
              <a:buNone/>
            </a:pPr>
            <a:r>
              <a:rPr lang="en-US" sz="1150" dirty="0">
                <a:solidFill>
                  <a:srgbClr val="5B6685"/>
                </a:solidFill>
                <a:latin typeface="Calibri" pitchFamily="34" charset="0"/>
                <a:ea typeface="Calibri" pitchFamily="34" charset="-122"/>
                <a:cs typeface="Calibri" pitchFamily="34" charset="-120"/>
              </a:rPr>
              <a:t>“I circled the parking lot  times and still couldn’t find an empty slot.”</a:t>
            </a:r>
            <a:endParaRPr lang="en-US" sz="1150" dirty="0"/>
          </a:p>
        </p:txBody>
      </p:sp>
      <p:pic>
        <p:nvPicPr>
          <p:cNvPr id="13" name="Image 1" descr="assets/ic_link.png"/>
          <p:cNvPicPr>
            <a:picLocks noChangeAspect="1"/>
          </p:cNvPicPr>
          <p:nvPr/>
        </p:nvPicPr>
        <p:blipFill>
          <a:blip r:embed="rId4"/>
          <a:stretch>
            <a:fillRect/>
          </a:stretch>
        </p:blipFill>
        <p:spPr>
          <a:xfrm>
            <a:off x="5943600" y="2651760"/>
            <a:ext cx="256032" cy="256032"/>
          </a:xfrm>
          <a:prstGeom prst="rect">
            <a:avLst/>
          </a:prstGeom>
        </p:spPr>
      </p:pic>
      <p:sp>
        <p:nvSpPr>
          <p:cNvPr id="14" name="Shape 10"/>
          <p:cNvSpPr/>
          <p:nvPr/>
        </p:nvSpPr>
        <p:spPr>
          <a:xfrm>
            <a:off x="6565392" y="2395728"/>
            <a:ext cx="5120640" cy="777240"/>
          </a:xfrm>
          <a:prstGeom prst="roundRect">
            <a:avLst>
              <a:gd name="adj" fmla="val 9412"/>
            </a:avLst>
          </a:prstGeom>
          <a:solidFill>
            <a:srgbClr val="E9EFFC"/>
          </a:solidFill>
          <a:ln w="12700">
            <a:solidFill>
              <a:srgbClr val="C3CDE8"/>
            </a:solidFill>
            <a:prstDash val="solid"/>
          </a:ln>
        </p:spPr>
      </p:sp>
      <p:sp>
        <p:nvSpPr>
          <p:cNvPr id="15" name="Text 11"/>
          <p:cNvSpPr/>
          <p:nvPr/>
        </p:nvSpPr>
        <p:spPr>
          <a:xfrm>
            <a:off x="6839712" y="2651760"/>
            <a:ext cx="4572000" cy="320040"/>
          </a:xfrm>
          <a:prstGeom prst="rect">
            <a:avLst/>
          </a:prstGeom>
          <a:noFill/>
          <a:ln/>
        </p:spPr>
        <p:txBody>
          <a:bodyPr wrap="square" lIns="0" tIns="0" rIns="0" bIns="0" rtlCol="0" anchor="t"/>
          <a:lstStyle/>
          <a:p>
            <a:pPr marL="0" indent="0" algn="l">
              <a:lnSpc>
                <a:spcPct val="105000"/>
              </a:lnSpc>
              <a:buNone/>
            </a:pPr>
            <a:r>
              <a:rPr lang="en-US" sz="1150" dirty="0">
                <a:solidFill>
                  <a:srgbClr val="071A45"/>
                </a:solidFill>
                <a:latin typeface="Calibri" pitchFamily="34" charset="0"/>
                <a:ea typeface="Calibri" pitchFamily="34" charset="-122"/>
                <a:cs typeface="Calibri" pitchFamily="34" charset="-120"/>
              </a:rPr>
              <a:t>Ultrasonic sensors detect every slot in real time and guide the driver straight to a vacant one.</a:t>
            </a:r>
            <a:endParaRPr lang="en-US" sz="1150" dirty="0"/>
          </a:p>
        </p:txBody>
      </p:sp>
      <p:sp>
        <p:nvSpPr>
          <p:cNvPr id="16" name="Shape 12"/>
          <p:cNvSpPr/>
          <p:nvPr/>
        </p:nvSpPr>
        <p:spPr>
          <a:xfrm>
            <a:off x="502920" y="3328416"/>
            <a:ext cx="5120640" cy="777240"/>
          </a:xfrm>
          <a:prstGeom prst="roundRect">
            <a:avLst>
              <a:gd name="adj" fmla="val 9412"/>
            </a:avLst>
          </a:prstGeom>
          <a:solidFill>
            <a:srgbClr val="F5F7FB"/>
          </a:solidFill>
          <a:ln w="12700">
            <a:solidFill>
              <a:srgbClr val="DFE4EE"/>
            </a:solidFill>
            <a:prstDash val="solid"/>
          </a:ln>
        </p:spPr>
      </p:sp>
      <p:sp>
        <p:nvSpPr>
          <p:cNvPr id="17" name="Text 13"/>
          <p:cNvSpPr/>
          <p:nvPr/>
        </p:nvSpPr>
        <p:spPr>
          <a:xfrm>
            <a:off x="777240" y="3584448"/>
            <a:ext cx="4572000" cy="320040"/>
          </a:xfrm>
          <a:prstGeom prst="rect">
            <a:avLst/>
          </a:prstGeom>
          <a:noFill/>
          <a:ln/>
        </p:spPr>
        <p:txBody>
          <a:bodyPr wrap="square" lIns="0" tIns="0" rIns="0" bIns="0" rtlCol="0" anchor="t"/>
          <a:lstStyle/>
          <a:p>
            <a:pPr marL="0" indent="0" algn="l">
              <a:lnSpc>
                <a:spcPct val="105000"/>
              </a:lnSpc>
              <a:buNone/>
            </a:pPr>
            <a:r>
              <a:rPr lang="en-US" sz="1150" dirty="0">
                <a:solidFill>
                  <a:srgbClr val="5B6685"/>
                </a:solidFill>
                <a:latin typeface="Calibri" pitchFamily="34" charset="0"/>
                <a:ea typeface="Calibri" pitchFamily="34" charset="-122"/>
                <a:cs typeface="Calibri" pitchFamily="34" charset="-120"/>
              </a:rPr>
              <a:t>“I don’t know if there’s space inside before I even enter.”</a:t>
            </a:r>
            <a:endParaRPr lang="en-US" sz="1150" dirty="0"/>
          </a:p>
        </p:txBody>
      </p:sp>
      <p:pic>
        <p:nvPicPr>
          <p:cNvPr id="18" name="Image 2" descr="assets/ic_link.png"/>
          <p:cNvPicPr>
            <a:picLocks noChangeAspect="1"/>
          </p:cNvPicPr>
          <p:nvPr/>
        </p:nvPicPr>
        <p:blipFill>
          <a:blip r:embed="rId4"/>
          <a:stretch>
            <a:fillRect/>
          </a:stretch>
        </p:blipFill>
        <p:spPr>
          <a:xfrm>
            <a:off x="5943600" y="3584448"/>
            <a:ext cx="256032" cy="256032"/>
          </a:xfrm>
          <a:prstGeom prst="rect">
            <a:avLst/>
          </a:prstGeom>
        </p:spPr>
      </p:pic>
      <p:sp>
        <p:nvSpPr>
          <p:cNvPr id="19" name="Shape 14"/>
          <p:cNvSpPr/>
          <p:nvPr/>
        </p:nvSpPr>
        <p:spPr>
          <a:xfrm>
            <a:off x="6565392" y="3328416"/>
            <a:ext cx="5120640" cy="777240"/>
          </a:xfrm>
          <a:prstGeom prst="roundRect">
            <a:avLst>
              <a:gd name="adj" fmla="val 9412"/>
            </a:avLst>
          </a:prstGeom>
          <a:solidFill>
            <a:srgbClr val="E9EFFC"/>
          </a:solidFill>
          <a:ln w="12700">
            <a:solidFill>
              <a:srgbClr val="C3CDE8"/>
            </a:solidFill>
            <a:prstDash val="solid"/>
          </a:ln>
        </p:spPr>
      </p:sp>
      <p:sp>
        <p:nvSpPr>
          <p:cNvPr id="20" name="Text 15"/>
          <p:cNvSpPr/>
          <p:nvPr/>
        </p:nvSpPr>
        <p:spPr>
          <a:xfrm>
            <a:off x="6839712" y="3584448"/>
            <a:ext cx="4572000" cy="320040"/>
          </a:xfrm>
          <a:prstGeom prst="rect">
            <a:avLst/>
          </a:prstGeom>
          <a:noFill/>
          <a:ln/>
        </p:spPr>
        <p:txBody>
          <a:bodyPr wrap="square" lIns="0" tIns="0" rIns="0" bIns="0" rtlCol="0" anchor="t"/>
          <a:lstStyle/>
          <a:p>
            <a:pPr marL="0" indent="0" algn="l">
              <a:lnSpc>
                <a:spcPct val="105000"/>
              </a:lnSpc>
              <a:buNone/>
            </a:pPr>
            <a:r>
              <a:rPr lang="en-US" sz="1150" dirty="0">
                <a:solidFill>
                  <a:srgbClr val="071A45"/>
                </a:solidFill>
                <a:latin typeface="Calibri" pitchFamily="34" charset="0"/>
                <a:ea typeface="Calibri" pitchFamily="34" charset="-122"/>
                <a:cs typeface="Calibri" pitchFamily="34" charset="-120"/>
              </a:rPr>
              <a:t>LCD/app display shows live vacancy count before entry, so drivers only come in when a slot is free.</a:t>
            </a:r>
            <a:endParaRPr lang="en-US" sz="1150" dirty="0"/>
          </a:p>
        </p:txBody>
      </p:sp>
      <p:sp>
        <p:nvSpPr>
          <p:cNvPr id="21" name="Shape 16"/>
          <p:cNvSpPr/>
          <p:nvPr/>
        </p:nvSpPr>
        <p:spPr>
          <a:xfrm>
            <a:off x="502920" y="4261104"/>
            <a:ext cx="5120640" cy="777240"/>
          </a:xfrm>
          <a:prstGeom prst="roundRect">
            <a:avLst>
              <a:gd name="adj" fmla="val 9412"/>
            </a:avLst>
          </a:prstGeom>
          <a:solidFill>
            <a:srgbClr val="F5F7FB"/>
          </a:solidFill>
          <a:ln w="12700">
            <a:solidFill>
              <a:srgbClr val="DFE4EE"/>
            </a:solidFill>
            <a:prstDash val="solid"/>
          </a:ln>
        </p:spPr>
      </p:sp>
      <p:sp>
        <p:nvSpPr>
          <p:cNvPr id="22" name="Text 17"/>
          <p:cNvSpPr/>
          <p:nvPr/>
        </p:nvSpPr>
        <p:spPr>
          <a:xfrm>
            <a:off x="777240" y="4517136"/>
            <a:ext cx="4572000" cy="320040"/>
          </a:xfrm>
          <a:prstGeom prst="rect">
            <a:avLst/>
          </a:prstGeom>
          <a:noFill/>
          <a:ln/>
        </p:spPr>
        <p:txBody>
          <a:bodyPr wrap="square" lIns="0" tIns="0" rIns="0" bIns="0" rtlCol="0" anchor="t"/>
          <a:lstStyle/>
          <a:p>
            <a:pPr marL="0" indent="0" algn="l">
              <a:lnSpc>
                <a:spcPct val="105000"/>
              </a:lnSpc>
              <a:buNone/>
            </a:pPr>
            <a:r>
              <a:rPr lang="en-US" sz="1150" dirty="0">
                <a:solidFill>
                  <a:srgbClr val="5B6685"/>
                </a:solidFill>
                <a:latin typeface="Calibri" pitchFamily="34" charset="0"/>
                <a:ea typeface="Calibri" pitchFamily="34" charset="-122"/>
                <a:cs typeface="Calibri" pitchFamily="34" charset="-120"/>
              </a:rPr>
              <a:t>“Manual checking by staff is slow and inconsistent.”</a:t>
            </a:r>
            <a:endParaRPr lang="en-US" sz="1150" dirty="0"/>
          </a:p>
        </p:txBody>
      </p:sp>
      <p:pic>
        <p:nvPicPr>
          <p:cNvPr id="23" name="Image 3" descr="assets/ic_link.png"/>
          <p:cNvPicPr>
            <a:picLocks noChangeAspect="1"/>
          </p:cNvPicPr>
          <p:nvPr/>
        </p:nvPicPr>
        <p:blipFill>
          <a:blip r:embed="rId4"/>
          <a:stretch>
            <a:fillRect/>
          </a:stretch>
        </p:blipFill>
        <p:spPr>
          <a:xfrm>
            <a:off x="5943600" y="4517136"/>
            <a:ext cx="256032" cy="256032"/>
          </a:xfrm>
          <a:prstGeom prst="rect">
            <a:avLst/>
          </a:prstGeom>
        </p:spPr>
      </p:pic>
      <p:sp>
        <p:nvSpPr>
          <p:cNvPr id="24" name="Shape 18"/>
          <p:cNvSpPr/>
          <p:nvPr/>
        </p:nvSpPr>
        <p:spPr>
          <a:xfrm>
            <a:off x="6565392" y="4261104"/>
            <a:ext cx="5120640" cy="777240"/>
          </a:xfrm>
          <a:prstGeom prst="roundRect">
            <a:avLst>
              <a:gd name="adj" fmla="val 9412"/>
            </a:avLst>
          </a:prstGeom>
          <a:solidFill>
            <a:srgbClr val="E9EFFC"/>
          </a:solidFill>
          <a:ln w="12700">
            <a:solidFill>
              <a:srgbClr val="C3CDE8"/>
            </a:solidFill>
            <a:prstDash val="solid"/>
          </a:ln>
        </p:spPr>
      </p:sp>
      <p:sp>
        <p:nvSpPr>
          <p:cNvPr id="25" name="Text 19"/>
          <p:cNvSpPr/>
          <p:nvPr/>
        </p:nvSpPr>
        <p:spPr>
          <a:xfrm>
            <a:off x="6839712" y="4517136"/>
            <a:ext cx="4572000" cy="320040"/>
          </a:xfrm>
          <a:prstGeom prst="rect">
            <a:avLst/>
          </a:prstGeom>
          <a:noFill/>
          <a:ln/>
        </p:spPr>
        <p:txBody>
          <a:bodyPr wrap="square" lIns="0" tIns="0" rIns="0" bIns="0" rtlCol="0" anchor="t"/>
          <a:lstStyle/>
          <a:p>
            <a:pPr marL="0" indent="0" algn="l">
              <a:lnSpc>
                <a:spcPct val="105000"/>
              </a:lnSpc>
              <a:buNone/>
            </a:pPr>
            <a:r>
              <a:rPr lang="en-US" sz="1150" dirty="0">
                <a:solidFill>
                  <a:srgbClr val="071A45"/>
                </a:solidFill>
                <a:latin typeface="Calibri" pitchFamily="34" charset="0"/>
                <a:ea typeface="Calibri" pitchFamily="34" charset="-122"/>
                <a:cs typeface="Calibri" pitchFamily="34" charset="-120"/>
              </a:rPr>
              <a:t>Microcontroller-based automated monitoring replaces manual checks, updating occupancy instantly.</a:t>
            </a:r>
            <a:endParaRPr lang="en-US" sz="1150" dirty="0"/>
          </a:p>
        </p:txBody>
      </p:sp>
      <p:sp>
        <p:nvSpPr>
          <p:cNvPr id="26" name="Shape 20"/>
          <p:cNvSpPr/>
          <p:nvPr/>
        </p:nvSpPr>
        <p:spPr>
          <a:xfrm>
            <a:off x="502920" y="5193792"/>
            <a:ext cx="5120640" cy="777240"/>
          </a:xfrm>
          <a:prstGeom prst="roundRect">
            <a:avLst>
              <a:gd name="adj" fmla="val 9412"/>
            </a:avLst>
          </a:prstGeom>
          <a:solidFill>
            <a:srgbClr val="F5F7FB"/>
          </a:solidFill>
          <a:ln w="12700">
            <a:solidFill>
              <a:srgbClr val="DFE4EE"/>
            </a:solidFill>
            <a:prstDash val="solid"/>
          </a:ln>
        </p:spPr>
      </p:sp>
      <p:sp>
        <p:nvSpPr>
          <p:cNvPr id="27" name="Text 21"/>
          <p:cNvSpPr/>
          <p:nvPr/>
        </p:nvSpPr>
        <p:spPr>
          <a:xfrm>
            <a:off x="777240" y="5449824"/>
            <a:ext cx="4572000" cy="320040"/>
          </a:xfrm>
          <a:prstGeom prst="rect">
            <a:avLst/>
          </a:prstGeom>
          <a:noFill/>
          <a:ln/>
        </p:spPr>
        <p:txBody>
          <a:bodyPr wrap="square" lIns="0" tIns="0" rIns="0" bIns="0" rtlCol="0" anchor="t"/>
          <a:lstStyle/>
          <a:p>
            <a:pPr marL="0" indent="0" algn="l">
              <a:lnSpc>
                <a:spcPct val="105000"/>
              </a:lnSpc>
              <a:buNone/>
            </a:pPr>
            <a:r>
              <a:rPr lang="en-US" sz="1150" dirty="0">
                <a:solidFill>
                  <a:srgbClr val="5B6685"/>
                </a:solidFill>
                <a:latin typeface="Calibri" pitchFamily="34" charset="0"/>
                <a:ea typeface="Calibri" pitchFamily="34" charset="-122"/>
                <a:cs typeface="Calibri" pitchFamily="34" charset="-120"/>
              </a:rPr>
              <a:t>“I waste fuel and get frustrated searching for parking.”</a:t>
            </a:r>
            <a:endParaRPr lang="en-US" sz="1150" dirty="0"/>
          </a:p>
        </p:txBody>
      </p:sp>
      <p:pic>
        <p:nvPicPr>
          <p:cNvPr id="28" name="Image 4" descr="assets/ic_link.png"/>
          <p:cNvPicPr>
            <a:picLocks noChangeAspect="1"/>
          </p:cNvPicPr>
          <p:nvPr/>
        </p:nvPicPr>
        <p:blipFill>
          <a:blip r:embed="rId4"/>
          <a:stretch>
            <a:fillRect/>
          </a:stretch>
        </p:blipFill>
        <p:spPr>
          <a:xfrm>
            <a:off x="5943600" y="5449824"/>
            <a:ext cx="256032" cy="256032"/>
          </a:xfrm>
          <a:prstGeom prst="rect">
            <a:avLst/>
          </a:prstGeom>
        </p:spPr>
      </p:pic>
      <p:sp>
        <p:nvSpPr>
          <p:cNvPr id="29" name="Shape 22"/>
          <p:cNvSpPr/>
          <p:nvPr/>
        </p:nvSpPr>
        <p:spPr>
          <a:xfrm>
            <a:off x="6565392" y="5193792"/>
            <a:ext cx="5120640" cy="777240"/>
          </a:xfrm>
          <a:prstGeom prst="roundRect">
            <a:avLst>
              <a:gd name="adj" fmla="val 9412"/>
            </a:avLst>
          </a:prstGeom>
          <a:solidFill>
            <a:srgbClr val="E9EFFC"/>
          </a:solidFill>
          <a:ln w="12700">
            <a:solidFill>
              <a:srgbClr val="C3CDE8"/>
            </a:solidFill>
            <a:prstDash val="solid"/>
          </a:ln>
        </p:spPr>
      </p:sp>
      <p:sp>
        <p:nvSpPr>
          <p:cNvPr id="30" name="Text 23"/>
          <p:cNvSpPr/>
          <p:nvPr/>
        </p:nvSpPr>
        <p:spPr>
          <a:xfrm>
            <a:off x="6839712" y="5449824"/>
            <a:ext cx="4572000" cy="320040"/>
          </a:xfrm>
          <a:prstGeom prst="rect">
            <a:avLst/>
          </a:prstGeom>
          <a:noFill/>
          <a:ln/>
        </p:spPr>
        <p:txBody>
          <a:bodyPr wrap="square" lIns="0" tIns="0" rIns="0" bIns="0" rtlCol="0" anchor="t"/>
          <a:lstStyle/>
          <a:p>
            <a:pPr marL="0" indent="0" algn="l">
              <a:lnSpc>
                <a:spcPct val="105000"/>
              </a:lnSpc>
              <a:buNone/>
            </a:pPr>
            <a:r>
              <a:rPr lang="en-US" sz="1150" dirty="0">
                <a:solidFill>
                  <a:srgbClr val="071A45"/>
                </a:solidFill>
                <a:latin typeface="Calibri" pitchFamily="34" charset="0"/>
                <a:ea typeface="Calibri" pitchFamily="34" charset="-122"/>
                <a:cs typeface="Calibri" pitchFamily="34" charset="-120"/>
              </a:rPr>
              <a:t>Automated servo-controlled gate plus real-time guidance cuts search time, fuel use and frustration.</a:t>
            </a:r>
            <a:endParaRPr lang="en-US" sz="1150" dirty="0"/>
          </a:p>
        </p:txBody>
      </p:sp>
      <p:sp>
        <p:nvSpPr>
          <p:cNvPr id="34"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fld id="{4CE60969-9BCD-401D-8411-B9435AEA6CC0}" type="datetime1">
              <a:rPr lang="en-IN" smtClean="0"/>
              <a:t>25-07-2026</a:t>
            </a:fld>
            <a:endParaRPr lang="en-IN"/>
          </a:p>
        </p:txBody>
      </p:sp>
      <p:sp>
        <p:nvSpPr>
          <p:cNvPr id="35"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36"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fld id="{30B3CF10-3DA7-49B1-8AB7-FFED44038B25}" type="slidenum">
              <a:rPr lang="en-IN" smtClean="0"/>
              <a:t>7</a:t>
            </a:fld>
            <a:endParaRPr lang="en-IN"/>
          </a:p>
        </p:txBody>
      </p:sp>
      <p:pic>
        <p:nvPicPr>
          <p:cNvPr id="37" name="Picture 36">
            <a:extLst>
              <a:ext uri="{FF2B5EF4-FFF2-40B4-BE49-F238E27FC236}">
                <a16:creationId xmlns:a16="http://schemas.microsoft.com/office/drawing/2014/main" id="{AD1A7A74-DB47-280E-FE6A-F3ECE090FB97}"/>
              </a:ext>
            </a:extLst>
          </p:cNvPr>
          <p:cNvPicPr>
            <a:picLocks noChangeAspect="1"/>
          </p:cNvPicPr>
          <p:nvPr/>
        </p:nvPicPr>
        <p:blipFill>
          <a:blip r:embed="rId5"/>
          <a:stretch>
            <a:fillRect/>
          </a:stretch>
        </p:blipFill>
        <p:spPr>
          <a:xfrm>
            <a:off x="10363654" y="371776"/>
            <a:ext cx="1325426" cy="60350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02920" y="658368"/>
            <a:ext cx="11183112" cy="457200"/>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Existing Works</a:t>
            </a:r>
            <a:endParaRPr lang="en-US" sz="2800" dirty="0"/>
          </a:p>
        </p:txBody>
      </p:sp>
      <p:sp>
        <p:nvSpPr>
          <p:cNvPr id="5" name="Text 2"/>
          <p:cNvSpPr/>
          <p:nvPr/>
        </p:nvSpPr>
        <p:spPr>
          <a:xfrm>
            <a:off x="502920" y="1115568"/>
            <a:ext cx="11183112" cy="292608"/>
          </a:xfrm>
          <a:prstGeom prst="rect">
            <a:avLst/>
          </a:prstGeom>
          <a:noFill/>
          <a:ln/>
        </p:spPr>
        <p:txBody>
          <a:bodyPr wrap="square" lIns="0" tIns="0" rIns="0" bIns="0" rtlCol="0" anchor="ctr"/>
          <a:lstStyle/>
          <a:p>
            <a:pPr marL="0" indent="0">
              <a:buNone/>
            </a:pPr>
            <a:r>
              <a:rPr lang="en-US" sz="1200" i="1" dirty="0">
                <a:solidFill>
                  <a:srgbClr val="FF0000"/>
                </a:solidFill>
                <a:latin typeface="Calibri" pitchFamily="34" charset="0"/>
                <a:ea typeface="Calibri" pitchFamily="34" charset="-122"/>
                <a:cs typeface="Calibri" pitchFamily="34" charset="-120"/>
              </a:rPr>
              <a:t>Carry the alternatives from your Problem Statement Canvas and show the gap you fill. Slides can be added for more content</a:t>
            </a:r>
            <a:endParaRPr lang="en-US" sz="1200" i="1" dirty="0">
              <a:solidFill>
                <a:srgbClr val="FF0000"/>
              </a:solidFill>
            </a:endParaRPr>
          </a:p>
        </p:txBody>
      </p:sp>
      <p:sp>
        <p:nvSpPr>
          <p:cNvPr id="6" name="Shape 3"/>
          <p:cNvSpPr/>
          <p:nvPr/>
        </p:nvSpPr>
        <p:spPr>
          <a:xfrm>
            <a:off x="502920" y="1481328"/>
            <a:ext cx="11183112" cy="0"/>
          </a:xfrm>
          <a:prstGeom prst="line">
            <a:avLst/>
          </a:prstGeom>
          <a:noFill/>
          <a:ln w="12700">
            <a:solidFill>
              <a:srgbClr val="DFE4EE"/>
            </a:solidFill>
            <a:prstDash val="solid"/>
          </a:ln>
        </p:spPr>
      </p:sp>
      <p:sp>
        <p:nvSpPr>
          <p:cNvPr id="7" name="Shape 4"/>
          <p:cNvSpPr/>
          <p:nvPr/>
        </p:nvSpPr>
        <p:spPr>
          <a:xfrm>
            <a:off x="502920" y="1783080"/>
            <a:ext cx="3611880" cy="3291840"/>
          </a:xfrm>
          <a:prstGeom prst="roundRect">
            <a:avLst>
              <a:gd name="adj" fmla="val 2222"/>
            </a:avLst>
          </a:prstGeom>
          <a:solidFill>
            <a:srgbClr val="F5F7FB"/>
          </a:solidFill>
          <a:ln w="12700">
            <a:solidFill>
              <a:srgbClr val="DFE4EE"/>
            </a:solidFill>
            <a:prstDash val="solid"/>
          </a:ln>
        </p:spPr>
      </p:sp>
      <p:pic>
        <p:nvPicPr>
          <p:cNvPr id="8" name="Image 1" descr="assets/ic_balance.png"/>
          <p:cNvPicPr>
            <a:picLocks noChangeAspect="1"/>
          </p:cNvPicPr>
          <p:nvPr/>
        </p:nvPicPr>
        <p:blipFill>
          <a:blip r:embed="rId4"/>
          <a:stretch>
            <a:fillRect/>
          </a:stretch>
        </p:blipFill>
        <p:spPr>
          <a:xfrm>
            <a:off x="777240" y="1993392"/>
            <a:ext cx="292608" cy="292608"/>
          </a:xfrm>
          <a:prstGeom prst="rect">
            <a:avLst/>
          </a:prstGeom>
        </p:spPr>
      </p:pic>
      <p:sp>
        <p:nvSpPr>
          <p:cNvPr id="9" name="Text 5"/>
          <p:cNvSpPr/>
          <p:nvPr/>
        </p:nvSpPr>
        <p:spPr>
          <a:xfrm>
            <a:off x="1179576" y="2011680"/>
            <a:ext cx="2743200" cy="237744"/>
          </a:xfrm>
          <a:prstGeom prst="rect">
            <a:avLst/>
          </a:prstGeom>
          <a:noFill/>
          <a:ln/>
        </p:spPr>
        <p:txBody>
          <a:bodyPr wrap="square" lIns="0" tIns="0" rIns="0" bIns="0" rtlCol="0" anchor="ctr"/>
          <a:lstStyle/>
          <a:p>
            <a:pPr marL="0" indent="0" algn="l">
              <a:buNone/>
            </a:pPr>
            <a:r>
              <a:rPr lang="en-US" sz="1100" b="1" kern="0" spc="60" dirty="0">
                <a:solidFill>
                  <a:srgbClr val="5B6685"/>
                </a:solidFill>
                <a:latin typeface="Calibri" pitchFamily="34" charset="0"/>
                <a:ea typeface="Calibri" pitchFamily="34" charset="-122"/>
                <a:cs typeface="Calibri" pitchFamily="34" charset="-120"/>
              </a:rPr>
              <a:t>WHAT USERS DO TODAY</a:t>
            </a:r>
            <a:endParaRPr lang="en-US" sz="1100" dirty="0"/>
          </a:p>
        </p:txBody>
      </p:sp>
      <p:sp>
        <p:nvSpPr>
          <p:cNvPr id="10" name="Text 6"/>
          <p:cNvSpPr/>
          <p:nvPr/>
        </p:nvSpPr>
        <p:spPr>
          <a:xfrm>
            <a:off x="777240" y="2514600"/>
            <a:ext cx="3063240" cy="640080"/>
          </a:xfrm>
          <a:prstGeom prst="rect">
            <a:avLst/>
          </a:prstGeom>
          <a:noFill/>
          <a:ln/>
        </p:spPr>
        <p:txBody>
          <a:bodyPr wrap="square" lIns="0" tIns="0" rIns="0" bIns="0" rtlCol="0" anchor="t"/>
          <a:lstStyle/>
          <a:p>
            <a:pPr marL="0" indent="0" algn="l">
              <a:lnSpc>
                <a:spcPct val="105000"/>
              </a:lnSpc>
              <a:buNone/>
            </a:pPr>
            <a:r>
              <a:rPr lang="en-US" sz="1150" dirty="0">
                <a:solidFill>
                  <a:srgbClr val="5B6685"/>
                </a:solidFill>
                <a:latin typeface="Calibri" pitchFamily="34" charset="0"/>
                <a:ea typeface="Calibri" pitchFamily="34" charset="-122"/>
                <a:cs typeface="Calibri" pitchFamily="34" charset="-120"/>
              </a:rPr>
              <a:t>Manually circling the parking lot looking for an empty slot</a:t>
            </a:r>
            <a:endParaRPr lang="en-US" sz="1150" dirty="0"/>
          </a:p>
        </p:txBody>
      </p:sp>
      <p:sp>
        <p:nvSpPr>
          <p:cNvPr id="11" name="Shape 7"/>
          <p:cNvSpPr/>
          <p:nvPr/>
        </p:nvSpPr>
        <p:spPr>
          <a:xfrm>
            <a:off x="777240" y="3200400"/>
            <a:ext cx="3063240" cy="0"/>
          </a:xfrm>
          <a:prstGeom prst="line">
            <a:avLst/>
          </a:prstGeom>
          <a:noFill/>
          <a:ln w="12700">
            <a:solidFill>
              <a:srgbClr val="DFE4EE"/>
            </a:solidFill>
            <a:prstDash val="solid"/>
          </a:ln>
        </p:spPr>
      </p:sp>
      <p:sp>
        <p:nvSpPr>
          <p:cNvPr id="12" name="Text 8"/>
          <p:cNvSpPr/>
          <p:nvPr/>
        </p:nvSpPr>
        <p:spPr>
          <a:xfrm>
            <a:off x="777240" y="3291840"/>
            <a:ext cx="3063240" cy="640080"/>
          </a:xfrm>
          <a:prstGeom prst="rect">
            <a:avLst/>
          </a:prstGeom>
          <a:noFill/>
          <a:ln/>
        </p:spPr>
        <p:txBody>
          <a:bodyPr wrap="square" lIns="0" tIns="0" rIns="0" bIns="0" rtlCol="0" anchor="t"/>
          <a:lstStyle/>
          <a:p>
            <a:pPr marL="0" indent="0" algn="l">
              <a:lnSpc>
                <a:spcPct val="105000"/>
              </a:lnSpc>
              <a:buNone/>
            </a:pPr>
            <a:r>
              <a:rPr lang="en-US" sz="1150" dirty="0">
                <a:solidFill>
                  <a:srgbClr val="5B6685"/>
                </a:solidFill>
                <a:latin typeface="Calibri" pitchFamily="34" charset="0"/>
                <a:ea typeface="Calibri" pitchFamily="34" charset="-122"/>
                <a:cs typeface="Calibri" pitchFamily="34" charset="-120"/>
              </a:rPr>
              <a:t>Asking security guards/attendants for directions</a:t>
            </a:r>
            <a:endParaRPr lang="en-US" sz="1150" dirty="0"/>
          </a:p>
        </p:txBody>
      </p:sp>
      <p:sp>
        <p:nvSpPr>
          <p:cNvPr id="13" name="Shape 9"/>
          <p:cNvSpPr/>
          <p:nvPr/>
        </p:nvSpPr>
        <p:spPr>
          <a:xfrm>
            <a:off x="777240" y="3977640"/>
            <a:ext cx="3063240" cy="0"/>
          </a:xfrm>
          <a:prstGeom prst="line">
            <a:avLst/>
          </a:prstGeom>
          <a:noFill/>
          <a:ln w="12700">
            <a:solidFill>
              <a:srgbClr val="DFE4EE"/>
            </a:solidFill>
            <a:prstDash val="solid"/>
          </a:ln>
        </p:spPr>
      </p:sp>
      <p:sp>
        <p:nvSpPr>
          <p:cNvPr id="14" name="Text 10"/>
          <p:cNvSpPr/>
          <p:nvPr/>
        </p:nvSpPr>
        <p:spPr>
          <a:xfrm>
            <a:off x="777240" y="4069080"/>
            <a:ext cx="3063240" cy="640080"/>
          </a:xfrm>
          <a:prstGeom prst="rect">
            <a:avLst/>
          </a:prstGeom>
          <a:noFill/>
          <a:ln/>
        </p:spPr>
        <p:txBody>
          <a:bodyPr wrap="square" lIns="0" tIns="0" rIns="0" bIns="0" rtlCol="0" anchor="t"/>
          <a:lstStyle/>
          <a:p>
            <a:pPr marL="0" indent="0" algn="l">
              <a:lnSpc>
                <a:spcPct val="105000"/>
              </a:lnSpc>
              <a:buNone/>
            </a:pPr>
            <a:r>
              <a:rPr lang="en-US" sz="1150" dirty="0">
                <a:solidFill>
                  <a:srgbClr val="5B6685"/>
                </a:solidFill>
                <a:latin typeface="Calibri" pitchFamily="34" charset="0"/>
                <a:ea typeface="Calibri" pitchFamily="34" charset="-122"/>
                <a:cs typeface="Calibri" pitchFamily="34" charset="-120"/>
              </a:rPr>
              <a:t>Using generic navigation apps that don’t show slot-level data</a:t>
            </a:r>
            <a:endParaRPr lang="en-US" sz="1150" dirty="0"/>
          </a:p>
        </p:txBody>
      </p:sp>
      <p:sp>
        <p:nvSpPr>
          <p:cNvPr id="15" name="Shape 11"/>
          <p:cNvSpPr/>
          <p:nvPr/>
        </p:nvSpPr>
        <p:spPr>
          <a:xfrm>
            <a:off x="4306824" y="1783080"/>
            <a:ext cx="3611880" cy="3291840"/>
          </a:xfrm>
          <a:prstGeom prst="roundRect">
            <a:avLst>
              <a:gd name="adj" fmla="val 2222"/>
            </a:avLst>
          </a:prstGeom>
          <a:solidFill>
            <a:srgbClr val="FDF1F1"/>
          </a:solidFill>
          <a:ln w="12700">
            <a:solidFill>
              <a:srgbClr val="F0C9C9"/>
            </a:solidFill>
            <a:prstDash val="solid"/>
          </a:ln>
        </p:spPr>
      </p:sp>
      <p:pic>
        <p:nvPicPr>
          <p:cNvPr id="16" name="Image 2" descr="assets/ic_research.png"/>
          <p:cNvPicPr>
            <a:picLocks noChangeAspect="1"/>
          </p:cNvPicPr>
          <p:nvPr/>
        </p:nvPicPr>
        <p:blipFill>
          <a:blip r:embed="rId5"/>
          <a:stretch>
            <a:fillRect/>
          </a:stretch>
        </p:blipFill>
        <p:spPr>
          <a:xfrm>
            <a:off x="4581144" y="1993392"/>
            <a:ext cx="292608" cy="292608"/>
          </a:xfrm>
          <a:prstGeom prst="rect">
            <a:avLst/>
          </a:prstGeom>
        </p:spPr>
      </p:pic>
      <p:sp>
        <p:nvSpPr>
          <p:cNvPr id="17" name="Text 12"/>
          <p:cNvSpPr/>
          <p:nvPr/>
        </p:nvSpPr>
        <p:spPr>
          <a:xfrm>
            <a:off x="4983480" y="2011680"/>
            <a:ext cx="2743200" cy="237744"/>
          </a:xfrm>
          <a:prstGeom prst="rect">
            <a:avLst/>
          </a:prstGeom>
          <a:noFill/>
          <a:ln/>
        </p:spPr>
        <p:txBody>
          <a:bodyPr wrap="square" lIns="0" tIns="0" rIns="0" bIns="0" rtlCol="0" anchor="ctr"/>
          <a:lstStyle/>
          <a:p>
            <a:pPr marL="0" indent="0" algn="l">
              <a:buNone/>
            </a:pPr>
            <a:r>
              <a:rPr lang="en-US" sz="1100" b="1" kern="0" spc="60" dirty="0">
                <a:solidFill>
                  <a:srgbClr val="C62828"/>
                </a:solidFill>
                <a:latin typeface="Calibri" pitchFamily="34" charset="0"/>
                <a:ea typeface="Calibri" pitchFamily="34" charset="-122"/>
                <a:cs typeface="Calibri" pitchFamily="34" charset="-120"/>
              </a:rPr>
              <a:t>WHY IT FALLS SHORT</a:t>
            </a:r>
            <a:endParaRPr lang="en-US" sz="1100" dirty="0"/>
          </a:p>
        </p:txBody>
      </p:sp>
      <p:sp>
        <p:nvSpPr>
          <p:cNvPr id="18" name="Text 13"/>
          <p:cNvSpPr/>
          <p:nvPr/>
        </p:nvSpPr>
        <p:spPr>
          <a:xfrm>
            <a:off x="4581144" y="2514600"/>
            <a:ext cx="3063240" cy="640080"/>
          </a:xfrm>
          <a:prstGeom prst="rect">
            <a:avLst/>
          </a:prstGeom>
          <a:noFill/>
          <a:ln/>
        </p:spPr>
        <p:txBody>
          <a:bodyPr wrap="square" lIns="0" tIns="0" rIns="0" bIns="0" rtlCol="0" anchor="t"/>
          <a:lstStyle/>
          <a:p>
            <a:pPr marL="0" indent="0" algn="l">
              <a:lnSpc>
                <a:spcPct val="105000"/>
              </a:lnSpc>
              <a:buNone/>
            </a:pPr>
            <a:r>
              <a:rPr lang="en-US" sz="1150" dirty="0">
                <a:solidFill>
                  <a:srgbClr val="C62828"/>
                </a:solidFill>
                <a:latin typeface="Calibri" pitchFamily="34" charset="0"/>
                <a:ea typeface="Calibri" pitchFamily="34" charset="-122"/>
                <a:cs typeface="Calibri" pitchFamily="34" charset="-120"/>
              </a:rPr>
              <a:t>Time-consuming and increases traffic congestion</a:t>
            </a:r>
            <a:endParaRPr lang="en-US" sz="1150" dirty="0"/>
          </a:p>
        </p:txBody>
      </p:sp>
      <p:sp>
        <p:nvSpPr>
          <p:cNvPr id="19" name="Shape 14"/>
          <p:cNvSpPr/>
          <p:nvPr/>
        </p:nvSpPr>
        <p:spPr>
          <a:xfrm>
            <a:off x="4581144" y="3200400"/>
            <a:ext cx="3063240" cy="0"/>
          </a:xfrm>
          <a:prstGeom prst="line">
            <a:avLst/>
          </a:prstGeom>
          <a:noFill/>
          <a:ln w="12700">
            <a:solidFill>
              <a:srgbClr val="F0C9C9"/>
            </a:solidFill>
            <a:prstDash val="solid"/>
          </a:ln>
        </p:spPr>
      </p:sp>
      <p:sp>
        <p:nvSpPr>
          <p:cNvPr id="20" name="Text 15"/>
          <p:cNvSpPr/>
          <p:nvPr/>
        </p:nvSpPr>
        <p:spPr>
          <a:xfrm>
            <a:off x="4581144" y="3291840"/>
            <a:ext cx="3063240" cy="640080"/>
          </a:xfrm>
          <a:prstGeom prst="rect">
            <a:avLst/>
          </a:prstGeom>
          <a:noFill/>
          <a:ln/>
        </p:spPr>
        <p:txBody>
          <a:bodyPr wrap="square" lIns="0" tIns="0" rIns="0" bIns="0" rtlCol="0" anchor="t"/>
          <a:lstStyle/>
          <a:p>
            <a:pPr marL="0" indent="0" algn="l">
              <a:lnSpc>
                <a:spcPct val="105000"/>
              </a:lnSpc>
              <a:buNone/>
            </a:pPr>
            <a:r>
              <a:rPr lang="en-US" sz="1150" dirty="0">
                <a:solidFill>
                  <a:srgbClr val="C62828"/>
                </a:solidFill>
                <a:latin typeface="Calibri" pitchFamily="34" charset="0"/>
                <a:ea typeface="Calibri" pitchFamily="34" charset="-122"/>
                <a:cs typeface="Calibri" pitchFamily="34" charset="-120"/>
              </a:rPr>
              <a:t>Guards give inconsistent or delayed information</a:t>
            </a:r>
            <a:endParaRPr lang="en-US" sz="1150" dirty="0"/>
          </a:p>
        </p:txBody>
      </p:sp>
      <p:sp>
        <p:nvSpPr>
          <p:cNvPr id="21" name="Shape 16"/>
          <p:cNvSpPr/>
          <p:nvPr/>
        </p:nvSpPr>
        <p:spPr>
          <a:xfrm>
            <a:off x="4581144" y="3977640"/>
            <a:ext cx="3063240" cy="0"/>
          </a:xfrm>
          <a:prstGeom prst="line">
            <a:avLst/>
          </a:prstGeom>
          <a:noFill/>
          <a:ln w="12700">
            <a:solidFill>
              <a:srgbClr val="F0C9C9"/>
            </a:solidFill>
            <a:prstDash val="solid"/>
          </a:ln>
        </p:spPr>
      </p:sp>
      <p:sp>
        <p:nvSpPr>
          <p:cNvPr id="22" name="Text 17"/>
          <p:cNvSpPr/>
          <p:nvPr/>
        </p:nvSpPr>
        <p:spPr>
          <a:xfrm>
            <a:off x="4581144" y="4069080"/>
            <a:ext cx="3063240" cy="640080"/>
          </a:xfrm>
          <a:prstGeom prst="rect">
            <a:avLst/>
          </a:prstGeom>
          <a:noFill/>
          <a:ln/>
        </p:spPr>
        <p:txBody>
          <a:bodyPr wrap="square" lIns="0" tIns="0" rIns="0" bIns="0" rtlCol="0" anchor="t"/>
          <a:lstStyle/>
          <a:p>
            <a:pPr marL="0" indent="0" algn="l">
              <a:lnSpc>
                <a:spcPct val="105000"/>
              </a:lnSpc>
              <a:buNone/>
            </a:pPr>
            <a:r>
              <a:rPr lang="en-US" sz="1150" dirty="0">
                <a:solidFill>
                  <a:srgbClr val="C62828"/>
                </a:solidFill>
                <a:latin typeface="Calibri" pitchFamily="34" charset="0"/>
                <a:ea typeface="Calibri" pitchFamily="34" charset="-122"/>
                <a:cs typeface="Calibri" pitchFamily="34" charset="-120"/>
              </a:rPr>
              <a:t>Apps show the lot’s location, not real-time slot availability</a:t>
            </a:r>
            <a:endParaRPr lang="en-US" sz="1150" dirty="0"/>
          </a:p>
        </p:txBody>
      </p:sp>
      <p:sp>
        <p:nvSpPr>
          <p:cNvPr id="23" name="Shape 18"/>
          <p:cNvSpPr/>
          <p:nvPr/>
        </p:nvSpPr>
        <p:spPr>
          <a:xfrm>
            <a:off x="8110728" y="1783080"/>
            <a:ext cx="3611880" cy="3291840"/>
          </a:xfrm>
          <a:prstGeom prst="roundRect">
            <a:avLst>
              <a:gd name="adj" fmla="val 2222"/>
            </a:avLst>
          </a:prstGeom>
          <a:solidFill>
            <a:srgbClr val="E9EFFC"/>
          </a:solidFill>
          <a:ln w="12700">
            <a:solidFill>
              <a:srgbClr val="C3CDE8"/>
            </a:solidFill>
            <a:prstDash val="solid"/>
          </a:ln>
        </p:spPr>
      </p:sp>
      <p:pic>
        <p:nvPicPr>
          <p:cNvPr id="24" name="Image 3" descr="assets/ic_target.png"/>
          <p:cNvPicPr>
            <a:picLocks noChangeAspect="1"/>
          </p:cNvPicPr>
          <p:nvPr/>
        </p:nvPicPr>
        <p:blipFill>
          <a:blip r:embed="rId6"/>
          <a:stretch>
            <a:fillRect/>
          </a:stretch>
        </p:blipFill>
        <p:spPr>
          <a:xfrm>
            <a:off x="8385048" y="1993392"/>
            <a:ext cx="292608" cy="292608"/>
          </a:xfrm>
          <a:prstGeom prst="rect">
            <a:avLst/>
          </a:prstGeom>
        </p:spPr>
      </p:pic>
      <p:sp>
        <p:nvSpPr>
          <p:cNvPr id="25" name="Text 19"/>
          <p:cNvSpPr/>
          <p:nvPr/>
        </p:nvSpPr>
        <p:spPr>
          <a:xfrm>
            <a:off x="8787384" y="2011680"/>
            <a:ext cx="2743200" cy="237744"/>
          </a:xfrm>
          <a:prstGeom prst="rect">
            <a:avLst/>
          </a:prstGeom>
          <a:noFill/>
          <a:ln/>
        </p:spPr>
        <p:txBody>
          <a:bodyPr wrap="square" lIns="0" tIns="0" rIns="0" bIns="0" rtlCol="0" anchor="ctr"/>
          <a:lstStyle/>
          <a:p>
            <a:pPr marL="0" indent="0" algn="l">
              <a:buNone/>
            </a:pPr>
            <a:r>
              <a:rPr lang="en-US" sz="1100" b="1" kern="0" spc="60" dirty="0">
                <a:solidFill>
                  <a:srgbClr val="071A45"/>
                </a:solidFill>
                <a:latin typeface="Calibri" pitchFamily="34" charset="0"/>
                <a:ea typeface="Calibri" pitchFamily="34" charset="-122"/>
                <a:cs typeface="Calibri" pitchFamily="34" charset="-120"/>
              </a:rPr>
              <a:t>WHAT WE DO DIFFERENTLY</a:t>
            </a:r>
            <a:endParaRPr lang="en-US" sz="1100" dirty="0"/>
          </a:p>
        </p:txBody>
      </p:sp>
      <p:sp>
        <p:nvSpPr>
          <p:cNvPr id="26" name="Text 20"/>
          <p:cNvSpPr/>
          <p:nvPr/>
        </p:nvSpPr>
        <p:spPr>
          <a:xfrm>
            <a:off x="8385048" y="2514600"/>
            <a:ext cx="3063240" cy="640080"/>
          </a:xfrm>
          <a:prstGeom prst="rect">
            <a:avLst/>
          </a:prstGeom>
          <a:noFill/>
          <a:ln/>
        </p:spPr>
        <p:txBody>
          <a:bodyPr wrap="square" lIns="0" tIns="0" rIns="0" bIns="0" rtlCol="0" anchor="t"/>
          <a:lstStyle/>
          <a:p>
            <a:pPr marL="0" indent="0" algn="l">
              <a:lnSpc>
                <a:spcPct val="105000"/>
              </a:lnSpc>
              <a:buNone/>
            </a:pPr>
            <a:r>
              <a:rPr lang="en-US" sz="1150" dirty="0">
                <a:solidFill>
                  <a:srgbClr val="071A45"/>
                </a:solidFill>
                <a:latin typeface="Calibri" pitchFamily="34" charset="0"/>
                <a:ea typeface="Calibri" pitchFamily="34" charset="-122"/>
                <a:cs typeface="Calibri" pitchFamily="34" charset="-120"/>
              </a:rPr>
              <a:t>Real-time, slot-level occupancy detection using ultrasonic sensors</a:t>
            </a:r>
            <a:endParaRPr lang="en-US" sz="1150" dirty="0"/>
          </a:p>
        </p:txBody>
      </p:sp>
      <p:sp>
        <p:nvSpPr>
          <p:cNvPr id="27" name="Shape 21"/>
          <p:cNvSpPr/>
          <p:nvPr/>
        </p:nvSpPr>
        <p:spPr>
          <a:xfrm>
            <a:off x="8385048" y="3200400"/>
            <a:ext cx="3063240" cy="0"/>
          </a:xfrm>
          <a:prstGeom prst="line">
            <a:avLst/>
          </a:prstGeom>
          <a:noFill/>
          <a:ln w="12700">
            <a:solidFill>
              <a:srgbClr val="C3CDE8"/>
            </a:solidFill>
            <a:prstDash val="solid"/>
          </a:ln>
        </p:spPr>
      </p:sp>
      <p:sp>
        <p:nvSpPr>
          <p:cNvPr id="28" name="Text 22"/>
          <p:cNvSpPr/>
          <p:nvPr/>
        </p:nvSpPr>
        <p:spPr>
          <a:xfrm>
            <a:off x="8385048" y="3291840"/>
            <a:ext cx="3063240" cy="640080"/>
          </a:xfrm>
          <a:prstGeom prst="rect">
            <a:avLst/>
          </a:prstGeom>
          <a:noFill/>
          <a:ln/>
        </p:spPr>
        <p:txBody>
          <a:bodyPr wrap="square" lIns="0" tIns="0" rIns="0" bIns="0" rtlCol="0" anchor="t"/>
          <a:lstStyle/>
          <a:p>
            <a:pPr marL="0" indent="0" algn="l">
              <a:lnSpc>
                <a:spcPct val="105000"/>
              </a:lnSpc>
              <a:buNone/>
            </a:pPr>
            <a:r>
              <a:rPr lang="en-US" sz="1150" dirty="0">
                <a:solidFill>
                  <a:srgbClr val="071A45"/>
                </a:solidFill>
                <a:latin typeface="Calibri" pitchFamily="34" charset="0"/>
                <a:ea typeface="Calibri" pitchFamily="34" charset="-122"/>
                <a:cs typeface="Calibri" pitchFamily="34" charset="-120"/>
              </a:rPr>
              <a:t>Live LCD/app display showing exact vacancy before entry</a:t>
            </a:r>
            <a:endParaRPr lang="en-US" sz="1150" dirty="0"/>
          </a:p>
        </p:txBody>
      </p:sp>
      <p:sp>
        <p:nvSpPr>
          <p:cNvPr id="29" name="Shape 23"/>
          <p:cNvSpPr/>
          <p:nvPr/>
        </p:nvSpPr>
        <p:spPr>
          <a:xfrm>
            <a:off x="8385048" y="3977640"/>
            <a:ext cx="3063240" cy="0"/>
          </a:xfrm>
          <a:prstGeom prst="line">
            <a:avLst/>
          </a:prstGeom>
          <a:noFill/>
          <a:ln w="12700">
            <a:solidFill>
              <a:srgbClr val="C3CDE8"/>
            </a:solidFill>
            <a:prstDash val="solid"/>
          </a:ln>
        </p:spPr>
      </p:sp>
      <p:sp>
        <p:nvSpPr>
          <p:cNvPr id="30" name="Text 24"/>
          <p:cNvSpPr/>
          <p:nvPr/>
        </p:nvSpPr>
        <p:spPr>
          <a:xfrm>
            <a:off x="8385048" y="4069080"/>
            <a:ext cx="3063240" cy="640080"/>
          </a:xfrm>
          <a:prstGeom prst="rect">
            <a:avLst/>
          </a:prstGeom>
          <a:noFill/>
          <a:ln/>
        </p:spPr>
        <p:txBody>
          <a:bodyPr wrap="square" lIns="0" tIns="0" rIns="0" bIns="0" rtlCol="0" anchor="t"/>
          <a:lstStyle/>
          <a:p>
            <a:pPr marL="0" indent="0" algn="l">
              <a:lnSpc>
                <a:spcPct val="105000"/>
              </a:lnSpc>
              <a:buNone/>
            </a:pPr>
            <a:r>
              <a:rPr lang="en-US" sz="1150" dirty="0">
                <a:solidFill>
                  <a:srgbClr val="071A45"/>
                </a:solidFill>
                <a:latin typeface="Calibri" pitchFamily="34" charset="0"/>
                <a:ea typeface="Calibri" pitchFamily="34" charset="-122"/>
                <a:cs typeface="Calibri" pitchFamily="34" charset="-120"/>
              </a:rPr>
              <a:t>Automated gate control integrated with the sensing system</a:t>
            </a:r>
            <a:endParaRPr lang="en-US" sz="1150" dirty="0"/>
          </a:p>
        </p:txBody>
      </p:sp>
      <p:sp>
        <p:nvSpPr>
          <p:cNvPr id="31" name="Shape 25"/>
          <p:cNvSpPr/>
          <p:nvPr/>
        </p:nvSpPr>
        <p:spPr>
          <a:xfrm>
            <a:off x="502920" y="5257800"/>
            <a:ext cx="11183112" cy="868680"/>
          </a:xfrm>
          <a:prstGeom prst="roundRect">
            <a:avLst>
              <a:gd name="adj" fmla="val 8421"/>
            </a:avLst>
          </a:prstGeom>
          <a:solidFill>
            <a:srgbClr val="FFF6DD"/>
          </a:solidFill>
          <a:ln w="12700">
            <a:solidFill>
              <a:srgbClr val="F2D98A"/>
            </a:solidFill>
            <a:prstDash val="solid"/>
          </a:ln>
        </p:spPr>
      </p:sp>
      <p:sp>
        <p:nvSpPr>
          <p:cNvPr id="32" name="Text 26"/>
          <p:cNvSpPr/>
          <p:nvPr/>
        </p:nvSpPr>
        <p:spPr>
          <a:xfrm>
            <a:off x="822960" y="5413248"/>
            <a:ext cx="4572000" cy="237744"/>
          </a:xfrm>
          <a:prstGeom prst="rect">
            <a:avLst/>
          </a:prstGeom>
          <a:noFill/>
          <a:ln/>
        </p:spPr>
        <p:txBody>
          <a:bodyPr wrap="square" lIns="0" tIns="0" rIns="0" bIns="0" rtlCol="0" anchor="ctr"/>
          <a:lstStyle/>
          <a:p>
            <a:pPr marL="0" indent="0" algn="l">
              <a:buNone/>
            </a:pPr>
            <a:r>
              <a:rPr lang="en-US" sz="1050" b="1" kern="0" spc="60" dirty="0">
                <a:solidFill>
                  <a:srgbClr val="7A5E16"/>
                </a:solidFill>
                <a:latin typeface="Calibri" pitchFamily="34" charset="0"/>
                <a:ea typeface="Calibri" pitchFamily="34" charset="-122"/>
                <a:cs typeface="Calibri" pitchFamily="34" charset="-120"/>
              </a:rPr>
              <a:t>OUR ONE-LINE DIFFERENTIATOR</a:t>
            </a:r>
            <a:endParaRPr lang="en-US" sz="1050" dirty="0"/>
          </a:p>
        </p:txBody>
      </p:sp>
      <p:sp>
        <p:nvSpPr>
          <p:cNvPr id="33" name="Text 27"/>
          <p:cNvSpPr/>
          <p:nvPr/>
        </p:nvSpPr>
        <p:spPr>
          <a:xfrm>
            <a:off x="822960" y="5687568"/>
            <a:ext cx="10515600" cy="320040"/>
          </a:xfrm>
          <a:prstGeom prst="rect">
            <a:avLst/>
          </a:prstGeom>
          <a:noFill/>
          <a:ln/>
        </p:spPr>
        <p:txBody>
          <a:bodyPr wrap="square" lIns="0" tIns="0" rIns="0" bIns="0" rtlCol="0" anchor="t"/>
          <a:lstStyle/>
          <a:p>
            <a:pPr marL="0" indent="0" algn="l">
              <a:lnSpc>
                <a:spcPct val="105000"/>
              </a:lnSpc>
              <a:buNone/>
            </a:pPr>
            <a:r>
              <a:rPr lang="en-US" sz="1350" dirty="0">
                <a:solidFill>
                  <a:srgbClr val="7A5E16"/>
                </a:solidFill>
                <a:latin typeface="Calibri" pitchFamily="34" charset="0"/>
                <a:ea typeface="Calibri" pitchFamily="34" charset="-122"/>
                <a:cs typeface="Calibri" pitchFamily="34" charset="-120"/>
              </a:rPr>
              <a:t>Unlike existing options, our solution  gives drivers real-time, slot-level parking availability instead of guesswork, saving time and fuel while reducing congestion.</a:t>
            </a:r>
            <a:endParaRPr lang="en-US" sz="1350" dirty="0"/>
          </a:p>
        </p:txBody>
      </p:sp>
      <p:sp>
        <p:nvSpPr>
          <p:cNvPr id="34"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fld id="{CDC48A37-ED57-48F5-9001-31D297F245A6}" type="datetime1">
              <a:rPr lang="en-IN" smtClean="0"/>
              <a:t>25-07-2026</a:t>
            </a:fld>
            <a:endParaRPr lang="en-IN"/>
          </a:p>
        </p:txBody>
      </p:sp>
      <p:sp>
        <p:nvSpPr>
          <p:cNvPr id="35"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36"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fld id="{E19952E7-5B5D-48CD-9A97-1E6CB7BE7932}" type="slidenum">
              <a:rPr lang="en-IN" smtClean="0"/>
              <a:t>8</a:t>
            </a:fld>
            <a:endParaRPr lang="en-IN"/>
          </a:p>
        </p:txBody>
      </p:sp>
      <p:pic>
        <p:nvPicPr>
          <p:cNvPr id="37" name="Picture 36">
            <a:extLst>
              <a:ext uri="{FF2B5EF4-FFF2-40B4-BE49-F238E27FC236}">
                <a16:creationId xmlns:a16="http://schemas.microsoft.com/office/drawing/2014/main" id="{482D336C-8DE0-5AB8-36E8-94133B7BE15D}"/>
              </a:ext>
            </a:extLst>
          </p:cNvPr>
          <p:cNvPicPr>
            <a:picLocks noChangeAspect="1"/>
          </p:cNvPicPr>
          <p:nvPr/>
        </p:nvPicPr>
        <p:blipFill>
          <a:blip r:embed="rId7"/>
          <a:stretch>
            <a:fillRect/>
          </a:stretch>
        </p:blipFill>
        <p:spPr>
          <a:xfrm>
            <a:off x="10363654" y="371776"/>
            <a:ext cx="1325426" cy="60350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02920" y="658368"/>
            <a:ext cx="11183112" cy="457200"/>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Feasibility Analysis</a:t>
            </a:r>
            <a:endParaRPr lang="en-US" sz="2800" dirty="0"/>
          </a:p>
        </p:txBody>
      </p:sp>
      <p:sp>
        <p:nvSpPr>
          <p:cNvPr id="5" name="Text 2"/>
          <p:cNvSpPr/>
          <p:nvPr/>
        </p:nvSpPr>
        <p:spPr>
          <a:xfrm>
            <a:off x="502920" y="1115568"/>
            <a:ext cx="11183112" cy="182879"/>
          </a:xfrm>
          <a:prstGeom prst="rect">
            <a:avLst/>
          </a:prstGeom>
          <a:noFill/>
          <a:ln/>
        </p:spPr>
        <p:txBody>
          <a:bodyPr wrap="square" lIns="0" tIns="0" rIns="0" bIns="0" rtlCol="0" anchor="ctr"/>
          <a:lstStyle/>
          <a:p>
            <a:pPr marL="0" indent="0">
              <a:buNone/>
            </a:pPr>
            <a:r>
              <a:rPr lang="en-US" sz="1200" i="1" dirty="0">
                <a:solidFill>
                  <a:srgbClr val="FF0000"/>
                </a:solidFill>
                <a:latin typeface="Calibri" pitchFamily="34" charset="0"/>
                <a:ea typeface="Calibri" pitchFamily="34" charset="-122"/>
                <a:cs typeface="Calibri" pitchFamily="34" charset="-120"/>
              </a:rPr>
              <a:t>An honest feasibility check — reviewers respect a team that knows its limits.</a:t>
            </a:r>
            <a:endParaRPr lang="en-US" sz="1200" i="1" dirty="0">
              <a:solidFill>
                <a:srgbClr val="FF0000"/>
              </a:solidFill>
            </a:endParaRPr>
          </a:p>
        </p:txBody>
      </p:sp>
      <p:sp>
        <p:nvSpPr>
          <p:cNvPr id="6" name="Shape 3"/>
          <p:cNvSpPr/>
          <p:nvPr/>
        </p:nvSpPr>
        <p:spPr>
          <a:xfrm>
            <a:off x="502920" y="1377811"/>
            <a:ext cx="11183112" cy="0"/>
          </a:xfrm>
          <a:prstGeom prst="line">
            <a:avLst/>
          </a:prstGeom>
          <a:noFill/>
          <a:ln w="12700">
            <a:solidFill>
              <a:srgbClr val="DFE4EE"/>
            </a:solidFill>
            <a:prstDash val="solid"/>
          </a:ln>
        </p:spPr>
      </p:sp>
      <p:sp>
        <p:nvSpPr>
          <p:cNvPr id="7" name="Shape 4"/>
          <p:cNvSpPr/>
          <p:nvPr/>
        </p:nvSpPr>
        <p:spPr>
          <a:xfrm>
            <a:off x="502920" y="1591055"/>
            <a:ext cx="2743200" cy="3809763"/>
          </a:xfrm>
          <a:prstGeom prst="roundRect">
            <a:avLst>
              <a:gd name="adj" fmla="val 5000"/>
            </a:avLst>
          </a:prstGeom>
          <a:solidFill>
            <a:srgbClr val="F5F7FB"/>
          </a:solidFill>
          <a:ln w="12700">
            <a:solidFill>
              <a:srgbClr val="DFE4EE"/>
            </a:solidFill>
            <a:prstDash val="solid"/>
          </a:ln>
        </p:spPr>
      </p:sp>
      <p:pic>
        <p:nvPicPr>
          <p:cNvPr id="8" name="Image 1" descr="assets/ic_tools.png"/>
          <p:cNvPicPr>
            <a:picLocks noChangeAspect="1"/>
          </p:cNvPicPr>
          <p:nvPr/>
        </p:nvPicPr>
        <p:blipFill>
          <a:blip r:embed="rId4"/>
          <a:stretch>
            <a:fillRect/>
          </a:stretch>
        </p:blipFill>
        <p:spPr>
          <a:xfrm>
            <a:off x="731520" y="1704584"/>
            <a:ext cx="274320" cy="274320"/>
          </a:xfrm>
          <a:prstGeom prst="rect">
            <a:avLst/>
          </a:prstGeom>
        </p:spPr>
      </p:pic>
      <p:sp>
        <p:nvSpPr>
          <p:cNvPr id="9" name="Text 5"/>
          <p:cNvSpPr/>
          <p:nvPr/>
        </p:nvSpPr>
        <p:spPr>
          <a:xfrm>
            <a:off x="1097280" y="1729942"/>
            <a:ext cx="2103120" cy="237744"/>
          </a:xfrm>
          <a:prstGeom prst="rect">
            <a:avLst/>
          </a:prstGeom>
          <a:noFill/>
          <a:ln/>
        </p:spPr>
        <p:txBody>
          <a:bodyPr wrap="square" lIns="0" tIns="0" rIns="0" bIns="0" rtlCol="0" anchor="ctr"/>
          <a:lstStyle/>
          <a:p>
            <a:pPr marL="0" indent="0" algn="l">
              <a:buNone/>
            </a:pPr>
            <a:r>
              <a:rPr lang="en-US" sz="1000" b="1" kern="0" spc="60" dirty="0">
                <a:solidFill>
                  <a:srgbClr val="071A45"/>
                </a:solidFill>
                <a:latin typeface="Calibri" pitchFamily="34" charset="0"/>
                <a:ea typeface="Calibri" pitchFamily="34" charset="-122"/>
                <a:cs typeface="Calibri" pitchFamily="34" charset="-120"/>
              </a:rPr>
              <a:t>TECHNOLOGY / MATERIALS</a:t>
            </a:r>
            <a:endParaRPr lang="en-US" sz="1000" dirty="0"/>
          </a:p>
        </p:txBody>
      </p:sp>
      <p:sp>
        <p:nvSpPr>
          <p:cNvPr id="10" name="Text 6"/>
          <p:cNvSpPr/>
          <p:nvPr/>
        </p:nvSpPr>
        <p:spPr>
          <a:xfrm>
            <a:off x="621102" y="2117790"/>
            <a:ext cx="2529006" cy="2563938"/>
          </a:xfrm>
          <a:prstGeom prst="rect">
            <a:avLst/>
          </a:prstGeom>
          <a:noFill/>
          <a:ln/>
        </p:spPr>
        <p:txBody>
          <a:bodyPr wrap="square" lIns="0" tIns="0" rIns="0" bIns="0" rtlCol="0" anchor="t"/>
          <a:lstStyle/>
          <a:p>
            <a:pPr marL="0" indent="0" algn="l">
              <a:lnSpc>
                <a:spcPct val="105000"/>
              </a:lnSpc>
              <a:buNone/>
            </a:pPr>
            <a:r>
              <a:rPr lang="en-US" sz="1000" dirty="0">
                <a:solidFill>
                  <a:srgbClr val="FF0000"/>
                </a:solidFill>
                <a:latin typeface="Calibri" pitchFamily="34" charset="0"/>
                <a:ea typeface="Calibri" pitchFamily="34" charset="-122"/>
                <a:cs typeface="Calibri" pitchFamily="34" charset="-120"/>
              </a:rPr>
              <a:t>Ultrasonic sensors (HC-SR04), microcontroller (Arduino Uno / ESP8266 / ESP32), servo motor, LCD display, Wi-Fi module, mobile/web app</a:t>
            </a:r>
            <a:endParaRPr lang="en-US" sz="1000" dirty="0">
              <a:solidFill>
                <a:srgbClr val="FF0000"/>
              </a:solidFill>
            </a:endParaRPr>
          </a:p>
        </p:txBody>
      </p:sp>
      <p:sp>
        <p:nvSpPr>
          <p:cNvPr id="11" name="Shape 7"/>
          <p:cNvSpPr/>
          <p:nvPr/>
        </p:nvSpPr>
        <p:spPr>
          <a:xfrm>
            <a:off x="3429000" y="1591055"/>
            <a:ext cx="2743200" cy="1938177"/>
          </a:xfrm>
          <a:prstGeom prst="roundRect">
            <a:avLst>
              <a:gd name="adj" fmla="val 5000"/>
            </a:avLst>
          </a:prstGeom>
          <a:solidFill>
            <a:srgbClr val="F5F7FB"/>
          </a:solidFill>
          <a:ln w="12700">
            <a:solidFill>
              <a:srgbClr val="DFE4EE"/>
            </a:solidFill>
            <a:prstDash val="solid"/>
          </a:ln>
        </p:spPr>
      </p:sp>
      <p:pic>
        <p:nvPicPr>
          <p:cNvPr id="12" name="Image 2" descr="assets/ic_check.png"/>
          <p:cNvPicPr>
            <a:picLocks noChangeAspect="1"/>
          </p:cNvPicPr>
          <p:nvPr/>
        </p:nvPicPr>
        <p:blipFill>
          <a:blip r:embed="rId5"/>
          <a:stretch>
            <a:fillRect/>
          </a:stretch>
        </p:blipFill>
        <p:spPr>
          <a:xfrm>
            <a:off x="3657600" y="1647820"/>
            <a:ext cx="274320" cy="274320"/>
          </a:xfrm>
          <a:prstGeom prst="rect">
            <a:avLst/>
          </a:prstGeom>
        </p:spPr>
      </p:pic>
      <p:sp>
        <p:nvSpPr>
          <p:cNvPr id="13" name="Text 8"/>
          <p:cNvSpPr/>
          <p:nvPr/>
        </p:nvSpPr>
        <p:spPr>
          <a:xfrm>
            <a:off x="4023360" y="1648856"/>
            <a:ext cx="2103120" cy="237744"/>
          </a:xfrm>
          <a:prstGeom prst="rect">
            <a:avLst/>
          </a:prstGeom>
          <a:noFill/>
          <a:ln/>
        </p:spPr>
        <p:txBody>
          <a:bodyPr wrap="square" lIns="0" tIns="0" rIns="0" bIns="0" rtlCol="0" anchor="ctr"/>
          <a:lstStyle/>
          <a:p>
            <a:pPr marL="0" indent="0" algn="l">
              <a:buNone/>
            </a:pPr>
            <a:r>
              <a:rPr lang="en-US" sz="1000" b="1" kern="0" spc="60" dirty="0">
                <a:solidFill>
                  <a:srgbClr val="071A45"/>
                </a:solidFill>
                <a:latin typeface="Calibri" pitchFamily="34" charset="0"/>
                <a:ea typeface="Calibri" pitchFamily="34" charset="-122"/>
                <a:cs typeface="Calibri" pitchFamily="34" charset="-120"/>
              </a:rPr>
              <a:t>SKILLS WE HAVE</a:t>
            </a:r>
            <a:endParaRPr lang="en-US" sz="1000" dirty="0"/>
          </a:p>
        </p:txBody>
      </p:sp>
      <p:sp>
        <p:nvSpPr>
          <p:cNvPr id="14" name="Text 9"/>
          <p:cNvSpPr/>
          <p:nvPr/>
        </p:nvSpPr>
        <p:spPr>
          <a:xfrm>
            <a:off x="3657600" y="1978904"/>
            <a:ext cx="2331720" cy="1157488"/>
          </a:xfrm>
          <a:prstGeom prst="rect">
            <a:avLst/>
          </a:prstGeom>
          <a:noFill/>
          <a:ln/>
        </p:spPr>
        <p:txBody>
          <a:bodyPr wrap="square" lIns="0" tIns="0" rIns="0" bIns="0" rtlCol="0" anchor="t"/>
          <a:lstStyle/>
          <a:p>
            <a:pPr marL="0" indent="0" algn="l">
              <a:lnSpc>
                <a:spcPct val="105000"/>
              </a:lnSpc>
              <a:buNone/>
            </a:pPr>
            <a:r>
              <a:rPr lang="en-US" sz="1000" i="1" dirty="0">
                <a:solidFill>
                  <a:srgbClr val="FF0000"/>
                </a:solidFill>
                <a:latin typeface="Calibri" pitchFamily="34" charset="0"/>
                <a:ea typeface="Calibri" pitchFamily="34" charset="-122"/>
                <a:cs typeface="Calibri" pitchFamily="34" charset="-120"/>
              </a:rPr>
              <a:t>Basic embedded programming (Arduino/ESP), circuit design, sensor interfacing</a:t>
            </a:r>
            <a:endParaRPr lang="en-US" sz="1000" i="1" dirty="0">
              <a:solidFill>
                <a:srgbClr val="FF0000"/>
              </a:solidFill>
            </a:endParaRPr>
          </a:p>
        </p:txBody>
      </p:sp>
      <p:sp>
        <p:nvSpPr>
          <p:cNvPr id="15" name="Shape 10"/>
          <p:cNvSpPr/>
          <p:nvPr/>
        </p:nvSpPr>
        <p:spPr>
          <a:xfrm>
            <a:off x="3429000" y="3667882"/>
            <a:ext cx="2743200" cy="1731495"/>
          </a:xfrm>
          <a:prstGeom prst="roundRect">
            <a:avLst>
              <a:gd name="adj" fmla="val 5000"/>
            </a:avLst>
          </a:prstGeom>
          <a:solidFill>
            <a:srgbClr val="F5F7FB"/>
          </a:solidFill>
          <a:ln w="12700">
            <a:solidFill>
              <a:srgbClr val="DFE4EE"/>
            </a:solidFill>
            <a:prstDash val="solid"/>
          </a:ln>
        </p:spPr>
        <p:txBody>
          <a:bodyPr/>
          <a:lstStyle/>
          <a:p>
            <a:endParaRPr lang="en-IN" dirty="0"/>
          </a:p>
        </p:txBody>
      </p:sp>
      <p:sp>
        <p:nvSpPr>
          <p:cNvPr id="23" name="Shape 16"/>
          <p:cNvSpPr/>
          <p:nvPr/>
        </p:nvSpPr>
        <p:spPr>
          <a:xfrm>
            <a:off x="6492240" y="1591055"/>
            <a:ext cx="5193792" cy="3730395"/>
          </a:xfrm>
          <a:prstGeom prst="roundRect">
            <a:avLst>
              <a:gd name="adj" fmla="val 2286"/>
            </a:avLst>
          </a:prstGeom>
          <a:solidFill>
            <a:srgbClr val="FDF1F1"/>
          </a:solidFill>
          <a:ln w="12700">
            <a:solidFill>
              <a:srgbClr val="F0C9C9"/>
            </a:solidFill>
            <a:prstDash val="solid"/>
          </a:ln>
        </p:spPr>
      </p:sp>
      <p:sp>
        <p:nvSpPr>
          <p:cNvPr id="24" name="Text 17"/>
          <p:cNvSpPr/>
          <p:nvPr/>
        </p:nvSpPr>
        <p:spPr>
          <a:xfrm>
            <a:off x="6812280" y="1993392"/>
            <a:ext cx="4572000" cy="237744"/>
          </a:xfrm>
          <a:prstGeom prst="rect">
            <a:avLst/>
          </a:prstGeom>
          <a:noFill/>
          <a:ln/>
        </p:spPr>
        <p:txBody>
          <a:bodyPr wrap="square" lIns="0" tIns="0" rIns="0" bIns="0" rtlCol="0" anchor="ctr"/>
          <a:lstStyle/>
          <a:p>
            <a:pPr marL="0" indent="0" algn="l">
              <a:buNone/>
            </a:pPr>
            <a:r>
              <a:rPr lang="en-US" sz="1150" b="1" kern="0" spc="60" dirty="0">
                <a:solidFill>
                  <a:srgbClr val="C62828"/>
                </a:solidFill>
                <a:latin typeface="Calibri" pitchFamily="34" charset="0"/>
                <a:ea typeface="Calibri" pitchFamily="34" charset="-122"/>
                <a:cs typeface="Calibri" pitchFamily="34" charset="-120"/>
              </a:rPr>
              <a:t>RISKS &amp; ASSUMPTIONS</a:t>
            </a:r>
            <a:endParaRPr lang="en-US" sz="1150" dirty="0"/>
          </a:p>
        </p:txBody>
      </p:sp>
      <p:sp>
        <p:nvSpPr>
          <p:cNvPr id="25" name="Shape 18"/>
          <p:cNvSpPr/>
          <p:nvPr/>
        </p:nvSpPr>
        <p:spPr>
          <a:xfrm>
            <a:off x="6812280" y="2450592"/>
            <a:ext cx="256032" cy="256032"/>
          </a:xfrm>
          <a:prstGeom prst="ellipse">
            <a:avLst/>
          </a:prstGeom>
          <a:solidFill>
            <a:srgbClr val="071A45"/>
          </a:solidFill>
          <a:ln w="12700">
            <a:solidFill>
              <a:srgbClr val="071A45"/>
            </a:solidFill>
            <a:prstDash val="solid"/>
          </a:ln>
        </p:spPr>
      </p:sp>
      <p:sp>
        <p:nvSpPr>
          <p:cNvPr id="26" name="Text 19"/>
          <p:cNvSpPr/>
          <p:nvPr/>
        </p:nvSpPr>
        <p:spPr>
          <a:xfrm>
            <a:off x="6812280" y="2450592"/>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7" name="Text 20"/>
          <p:cNvSpPr/>
          <p:nvPr/>
        </p:nvSpPr>
        <p:spPr>
          <a:xfrm>
            <a:off x="7178040" y="2468880"/>
            <a:ext cx="4206240" cy="274320"/>
          </a:xfrm>
          <a:prstGeom prst="rect">
            <a:avLst/>
          </a:prstGeom>
          <a:noFill/>
          <a:ln/>
        </p:spPr>
        <p:txBody>
          <a:bodyPr wrap="square" lIns="0" tIns="0" rIns="0" bIns="0" rtlCol="0" anchor="t"/>
          <a:lstStyle/>
          <a:p>
            <a:pPr marL="0" indent="0" algn="l">
              <a:lnSpc>
                <a:spcPct val="105000"/>
              </a:lnSpc>
              <a:buNone/>
            </a:pPr>
            <a:r>
              <a:rPr lang="en-US" sz="1150" dirty="0">
                <a:solidFill>
                  <a:srgbClr val="C62828"/>
                </a:solidFill>
                <a:latin typeface="Calibri" pitchFamily="34" charset="0"/>
                <a:ea typeface="Calibri" pitchFamily="34" charset="-122"/>
                <a:cs typeface="Calibri" pitchFamily="34" charset="-120"/>
              </a:rPr>
              <a:t>Sensor accuracy may vary with lighting/weather conditions</a:t>
            </a:r>
            <a:endParaRPr lang="en-US" sz="1150" dirty="0"/>
          </a:p>
        </p:txBody>
      </p:sp>
      <p:sp>
        <p:nvSpPr>
          <p:cNvPr id="28" name="Text 21"/>
          <p:cNvSpPr/>
          <p:nvPr/>
        </p:nvSpPr>
        <p:spPr>
          <a:xfrm>
            <a:off x="7178040" y="2761488"/>
            <a:ext cx="4206240" cy="274320"/>
          </a:xfrm>
          <a:prstGeom prst="rect">
            <a:avLst/>
          </a:prstGeom>
          <a:noFill/>
          <a:ln/>
        </p:spPr>
        <p:txBody>
          <a:bodyPr wrap="square" lIns="0" tIns="0" rIns="0" bIns="0" rtlCol="0" anchor="t"/>
          <a:lstStyle/>
          <a:p>
            <a:pPr marL="0" indent="0" algn="l">
              <a:lnSpc>
                <a:spcPct val="105000"/>
              </a:lnSpc>
              <a:buNone/>
            </a:pPr>
            <a:r>
              <a:rPr lang="en-US" sz="950" dirty="0">
                <a:solidFill>
                  <a:srgbClr val="C62828"/>
                </a:solidFill>
                <a:latin typeface="Calibri" pitchFamily="34" charset="0"/>
                <a:ea typeface="Calibri" pitchFamily="34" charset="-122"/>
                <a:cs typeface="Calibri" pitchFamily="34" charset="-120"/>
              </a:rPr>
              <a:t>Calibrate sensors and test under different conditions</a:t>
            </a:r>
            <a:endParaRPr lang="en-US" sz="950" dirty="0"/>
          </a:p>
        </p:txBody>
      </p:sp>
      <p:sp>
        <p:nvSpPr>
          <p:cNvPr id="29" name="Shape 22"/>
          <p:cNvSpPr/>
          <p:nvPr/>
        </p:nvSpPr>
        <p:spPr>
          <a:xfrm>
            <a:off x="6812280" y="3273552"/>
            <a:ext cx="256032" cy="256032"/>
          </a:xfrm>
          <a:prstGeom prst="ellipse">
            <a:avLst/>
          </a:prstGeom>
          <a:solidFill>
            <a:srgbClr val="071A45"/>
          </a:solidFill>
          <a:ln w="12700">
            <a:solidFill>
              <a:srgbClr val="071A45"/>
            </a:solidFill>
            <a:prstDash val="solid"/>
          </a:ln>
        </p:spPr>
      </p:sp>
      <p:sp>
        <p:nvSpPr>
          <p:cNvPr id="30" name="Text 23"/>
          <p:cNvSpPr/>
          <p:nvPr/>
        </p:nvSpPr>
        <p:spPr>
          <a:xfrm>
            <a:off x="6812280" y="3273552"/>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Text 24"/>
          <p:cNvSpPr/>
          <p:nvPr/>
        </p:nvSpPr>
        <p:spPr>
          <a:xfrm>
            <a:off x="7178040" y="3291840"/>
            <a:ext cx="4206240" cy="274320"/>
          </a:xfrm>
          <a:prstGeom prst="rect">
            <a:avLst/>
          </a:prstGeom>
          <a:noFill/>
          <a:ln/>
        </p:spPr>
        <p:txBody>
          <a:bodyPr wrap="square" lIns="0" tIns="0" rIns="0" bIns="0" rtlCol="0" anchor="t"/>
          <a:lstStyle/>
          <a:p>
            <a:pPr marL="0" indent="0" algn="l">
              <a:lnSpc>
                <a:spcPct val="105000"/>
              </a:lnSpc>
              <a:buNone/>
            </a:pPr>
            <a:r>
              <a:rPr lang="en-US" sz="1150" dirty="0">
                <a:solidFill>
                  <a:srgbClr val="C62828"/>
                </a:solidFill>
                <a:latin typeface="Calibri" pitchFamily="34" charset="0"/>
                <a:ea typeface="Calibri" pitchFamily="34" charset="-122"/>
                <a:cs typeface="Calibri" pitchFamily="34" charset="-120"/>
              </a:rPr>
              <a:t>Network issues could delay real-time updates</a:t>
            </a:r>
            <a:endParaRPr lang="en-US" sz="1150" dirty="0"/>
          </a:p>
        </p:txBody>
      </p:sp>
      <p:sp>
        <p:nvSpPr>
          <p:cNvPr id="32" name="Text 25"/>
          <p:cNvSpPr/>
          <p:nvPr/>
        </p:nvSpPr>
        <p:spPr>
          <a:xfrm>
            <a:off x="7178040" y="3584448"/>
            <a:ext cx="4206240" cy="274320"/>
          </a:xfrm>
          <a:prstGeom prst="rect">
            <a:avLst/>
          </a:prstGeom>
          <a:noFill/>
          <a:ln/>
        </p:spPr>
        <p:txBody>
          <a:bodyPr wrap="square" lIns="0" tIns="0" rIns="0" bIns="0" rtlCol="0" anchor="t"/>
          <a:lstStyle/>
          <a:p>
            <a:pPr marL="0" indent="0" algn="l">
              <a:lnSpc>
                <a:spcPct val="105000"/>
              </a:lnSpc>
              <a:buNone/>
            </a:pPr>
            <a:r>
              <a:rPr lang="en-US" sz="950" dirty="0">
                <a:solidFill>
                  <a:srgbClr val="C62828"/>
                </a:solidFill>
                <a:latin typeface="Calibri" pitchFamily="34" charset="0"/>
                <a:ea typeface="Calibri" pitchFamily="34" charset="-122"/>
                <a:cs typeface="Calibri" pitchFamily="34" charset="-120"/>
              </a:rPr>
              <a:t>Keep the local LCD display as a backup and use a reliable Wi-Fi module</a:t>
            </a:r>
            <a:endParaRPr lang="en-US" sz="950" dirty="0"/>
          </a:p>
        </p:txBody>
      </p:sp>
      <p:sp>
        <p:nvSpPr>
          <p:cNvPr id="33" name="Shape 26"/>
          <p:cNvSpPr/>
          <p:nvPr/>
        </p:nvSpPr>
        <p:spPr>
          <a:xfrm>
            <a:off x="6812280" y="4096512"/>
            <a:ext cx="256032" cy="256032"/>
          </a:xfrm>
          <a:prstGeom prst="ellipse">
            <a:avLst/>
          </a:prstGeom>
          <a:solidFill>
            <a:srgbClr val="071A45"/>
          </a:solidFill>
          <a:ln w="12700">
            <a:solidFill>
              <a:srgbClr val="071A45"/>
            </a:solidFill>
            <a:prstDash val="solid"/>
          </a:ln>
        </p:spPr>
      </p:sp>
      <p:sp>
        <p:nvSpPr>
          <p:cNvPr id="34" name="Text 27"/>
          <p:cNvSpPr/>
          <p:nvPr/>
        </p:nvSpPr>
        <p:spPr>
          <a:xfrm>
            <a:off x="6812280" y="4096512"/>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5" name="Text 28"/>
          <p:cNvSpPr/>
          <p:nvPr/>
        </p:nvSpPr>
        <p:spPr>
          <a:xfrm>
            <a:off x="7178040" y="4114800"/>
            <a:ext cx="4206240" cy="274320"/>
          </a:xfrm>
          <a:prstGeom prst="rect">
            <a:avLst/>
          </a:prstGeom>
          <a:noFill/>
          <a:ln/>
        </p:spPr>
        <p:txBody>
          <a:bodyPr wrap="square" lIns="0" tIns="0" rIns="0" bIns="0" rtlCol="0" anchor="t"/>
          <a:lstStyle/>
          <a:p>
            <a:pPr marL="0" indent="0" algn="l">
              <a:lnSpc>
                <a:spcPct val="105000"/>
              </a:lnSpc>
              <a:buNone/>
            </a:pPr>
            <a:r>
              <a:rPr lang="en-US" sz="1150" dirty="0">
                <a:solidFill>
                  <a:srgbClr val="C62828"/>
                </a:solidFill>
                <a:latin typeface="Calibri" pitchFamily="34" charset="0"/>
                <a:ea typeface="Calibri" pitchFamily="34" charset="-122"/>
                <a:cs typeface="Calibri" pitchFamily="34" charset="-120"/>
              </a:rPr>
              <a:t>Scaling to large parking lots may need more sensors</a:t>
            </a:r>
            <a:endParaRPr lang="en-US" sz="1150" dirty="0"/>
          </a:p>
        </p:txBody>
      </p:sp>
      <p:sp>
        <p:nvSpPr>
          <p:cNvPr id="36" name="Text 29"/>
          <p:cNvSpPr/>
          <p:nvPr/>
        </p:nvSpPr>
        <p:spPr>
          <a:xfrm>
            <a:off x="7178040" y="4407408"/>
            <a:ext cx="4206240" cy="274320"/>
          </a:xfrm>
          <a:prstGeom prst="rect">
            <a:avLst/>
          </a:prstGeom>
          <a:noFill/>
          <a:ln/>
        </p:spPr>
        <p:txBody>
          <a:bodyPr wrap="square" lIns="0" tIns="0" rIns="0" bIns="0" rtlCol="0" anchor="t"/>
          <a:lstStyle/>
          <a:p>
            <a:pPr marL="0" indent="0" algn="l">
              <a:lnSpc>
                <a:spcPct val="105000"/>
              </a:lnSpc>
              <a:buNone/>
            </a:pPr>
            <a:r>
              <a:rPr lang="en-US" sz="950" dirty="0">
                <a:solidFill>
                  <a:srgbClr val="C62828"/>
                </a:solidFill>
                <a:latin typeface="Calibri" pitchFamily="34" charset="0"/>
                <a:ea typeface="Calibri" pitchFamily="34" charset="-122"/>
                <a:cs typeface="Calibri" pitchFamily="34" charset="-120"/>
              </a:rPr>
              <a:t>Start with a pilot of a few slots and design the system modularly</a:t>
            </a:r>
            <a:endParaRPr lang="en-US" sz="950" dirty="0"/>
          </a:p>
        </p:txBody>
      </p:sp>
      <p:sp>
        <p:nvSpPr>
          <p:cNvPr id="40"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fld id="{EF306E85-1244-4026-AD9C-F17C24BBCA76}" type="datetime1">
              <a:rPr lang="en-IN" smtClean="0"/>
              <a:t>25-07-2026</a:t>
            </a:fld>
            <a:endParaRPr lang="en-IN"/>
          </a:p>
        </p:txBody>
      </p:sp>
      <p:sp>
        <p:nvSpPr>
          <p:cNvPr id="41"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42"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fld id="{0E210B9C-6648-4480-A202-BDD745668BB1}" type="slidenum">
              <a:rPr lang="en-IN" smtClean="0"/>
              <a:t>9</a:t>
            </a:fld>
            <a:endParaRPr lang="en-IN"/>
          </a:p>
        </p:txBody>
      </p:sp>
      <p:pic>
        <p:nvPicPr>
          <p:cNvPr id="43" name="Picture 42">
            <a:extLst>
              <a:ext uri="{FF2B5EF4-FFF2-40B4-BE49-F238E27FC236}">
                <a16:creationId xmlns:a16="http://schemas.microsoft.com/office/drawing/2014/main" id="{49AD59A9-0BF7-B256-20CE-6C0FDF2CC412}"/>
              </a:ext>
            </a:extLst>
          </p:cNvPr>
          <p:cNvPicPr>
            <a:picLocks noChangeAspect="1"/>
          </p:cNvPicPr>
          <p:nvPr/>
        </p:nvPicPr>
        <p:blipFill>
          <a:blip r:embed="rId6"/>
          <a:stretch>
            <a:fillRect/>
          </a:stretch>
        </p:blipFill>
        <p:spPr>
          <a:xfrm>
            <a:off x="10363654" y="371776"/>
            <a:ext cx="1325426" cy="603504"/>
          </a:xfrm>
          <a:prstGeom prst="rect">
            <a:avLst/>
          </a:prstGeom>
        </p:spPr>
      </p:pic>
      <p:pic>
        <p:nvPicPr>
          <p:cNvPr id="45" name="Image 2" descr="assets/ic_check.png">
            <a:extLst>
              <a:ext uri="{FF2B5EF4-FFF2-40B4-BE49-F238E27FC236}">
                <a16:creationId xmlns:a16="http://schemas.microsoft.com/office/drawing/2014/main" id="{8DDCAB67-D207-A987-4255-33A39229378E}"/>
              </a:ext>
            </a:extLst>
          </p:cNvPr>
          <p:cNvPicPr>
            <a:picLocks noChangeAspect="1"/>
          </p:cNvPicPr>
          <p:nvPr/>
        </p:nvPicPr>
        <p:blipFill>
          <a:blip r:embed="rId5"/>
          <a:stretch>
            <a:fillRect/>
          </a:stretch>
        </p:blipFill>
        <p:spPr>
          <a:xfrm>
            <a:off x="3596641" y="3699780"/>
            <a:ext cx="274320" cy="274320"/>
          </a:xfrm>
          <a:prstGeom prst="rect">
            <a:avLst/>
          </a:prstGeom>
        </p:spPr>
      </p:pic>
      <p:sp>
        <p:nvSpPr>
          <p:cNvPr id="47" name="Text 8">
            <a:extLst>
              <a:ext uri="{FF2B5EF4-FFF2-40B4-BE49-F238E27FC236}">
                <a16:creationId xmlns:a16="http://schemas.microsoft.com/office/drawing/2014/main" id="{EC628F76-8A5E-75A7-4B44-4DBE6F01DA8B}"/>
              </a:ext>
            </a:extLst>
          </p:cNvPr>
          <p:cNvSpPr/>
          <p:nvPr/>
        </p:nvSpPr>
        <p:spPr>
          <a:xfrm>
            <a:off x="3931920" y="3714017"/>
            <a:ext cx="2103120" cy="237744"/>
          </a:xfrm>
          <a:prstGeom prst="rect">
            <a:avLst/>
          </a:prstGeom>
          <a:noFill/>
          <a:ln/>
        </p:spPr>
        <p:txBody>
          <a:bodyPr wrap="square" lIns="0" tIns="0" rIns="0" bIns="0" rtlCol="0" anchor="ctr"/>
          <a:lstStyle/>
          <a:p>
            <a:pPr marL="0" indent="0" algn="l">
              <a:buNone/>
            </a:pPr>
            <a:r>
              <a:rPr lang="en-US" sz="1000" b="1" kern="0" spc="60" dirty="0">
                <a:solidFill>
                  <a:srgbClr val="071A45"/>
                </a:solidFill>
                <a:latin typeface="Calibri" pitchFamily="34" charset="0"/>
                <a:ea typeface="Calibri" pitchFamily="34" charset="-122"/>
                <a:cs typeface="Calibri" pitchFamily="34" charset="-120"/>
              </a:rPr>
              <a:t>SKILLS WE NEED</a:t>
            </a:r>
            <a:endParaRPr lang="en-US" sz="1000" dirty="0"/>
          </a:p>
        </p:txBody>
      </p:sp>
      <p:sp>
        <p:nvSpPr>
          <p:cNvPr id="49" name="Text 9">
            <a:extLst>
              <a:ext uri="{FF2B5EF4-FFF2-40B4-BE49-F238E27FC236}">
                <a16:creationId xmlns:a16="http://schemas.microsoft.com/office/drawing/2014/main" id="{76369D0E-60D5-544B-8716-FAEDC615B39D}"/>
              </a:ext>
            </a:extLst>
          </p:cNvPr>
          <p:cNvSpPr/>
          <p:nvPr/>
        </p:nvSpPr>
        <p:spPr>
          <a:xfrm>
            <a:off x="3604978" y="4021030"/>
            <a:ext cx="2491021" cy="857375"/>
          </a:xfrm>
          <a:prstGeom prst="rect">
            <a:avLst/>
          </a:prstGeom>
          <a:noFill/>
          <a:ln/>
        </p:spPr>
        <p:txBody>
          <a:bodyPr wrap="square" lIns="0" tIns="0" rIns="0" bIns="0" rtlCol="0" anchor="t"/>
          <a:lstStyle/>
          <a:p>
            <a:pPr marL="0" indent="0" algn="l">
              <a:lnSpc>
                <a:spcPct val="105000"/>
              </a:lnSpc>
              <a:buNone/>
            </a:pPr>
            <a:r>
              <a:rPr lang="en-US" sz="1000" dirty="0">
                <a:solidFill>
                  <a:srgbClr val="FF0000"/>
                </a:solidFill>
                <a:latin typeface="Calibri" pitchFamily="34" charset="0"/>
                <a:ea typeface="Calibri" pitchFamily="34" charset="-122"/>
                <a:cs typeface="Calibri" pitchFamily="34" charset="-120"/>
              </a:rPr>
              <a:t>Mobile/web app development, IoT cloud integration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02920" y="658368"/>
            <a:ext cx="11183112" cy="457200"/>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Cost Estimate &amp; Bill of Materials</a:t>
            </a:r>
            <a:endParaRPr lang="en-US" sz="2800" dirty="0"/>
          </a:p>
        </p:txBody>
      </p:sp>
      <p:sp>
        <p:nvSpPr>
          <p:cNvPr id="5" name="Text 2"/>
          <p:cNvSpPr/>
          <p:nvPr/>
        </p:nvSpPr>
        <p:spPr>
          <a:xfrm>
            <a:off x="502920" y="1115568"/>
            <a:ext cx="11183112" cy="292608"/>
          </a:xfrm>
          <a:prstGeom prst="rect">
            <a:avLst/>
          </a:prstGeom>
          <a:noFill/>
          <a:ln/>
        </p:spPr>
        <p:txBody>
          <a:bodyPr wrap="square" lIns="0" tIns="0" rIns="0" bIns="0" rtlCol="0" anchor="ctr"/>
          <a:lstStyle/>
          <a:p>
            <a:pPr marL="0" indent="0">
              <a:buNone/>
            </a:pPr>
            <a:r>
              <a:rPr lang="en-US" sz="1200" i="1" dirty="0">
                <a:solidFill>
                  <a:srgbClr val="FF0000"/>
                </a:solidFill>
                <a:latin typeface="Calibri" pitchFamily="34" charset="0"/>
                <a:ea typeface="Calibri" pitchFamily="34" charset="-122"/>
                <a:cs typeface="Calibri" pitchFamily="34" charset="-120"/>
              </a:rPr>
              <a:t>A rough costing is enough at this stage — show you have thought about money. Add or Remove rows.</a:t>
            </a:r>
            <a:endParaRPr lang="en-US" sz="1200" i="1" dirty="0">
              <a:solidFill>
                <a:srgbClr val="FF0000"/>
              </a:solidFill>
            </a:endParaRPr>
          </a:p>
        </p:txBody>
      </p:sp>
      <p:sp>
        <p:nvSpPr>
          <p:cNvPr id="6" name="Shape 3"/>
          <p:cNvSpPr/>
          <p:nvPr/>
        </p:nvSpPr>
        <p:spPr>
          <a:xfrm>
            <a:off x="502920" y="1481328"/>
            <a:ext cx="11183112" cy="0"/>
          </a:xfrm>
          <a:prstGeom prst="line">
            <a:avLst/>
          </a:prstGeom>
          <a:noFill/>
          <a:ln w="12700">
            <a:solidFill>
              <a:srgbClr val="DFE4EE"/>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771092829"/>
              </p:ext>
            </p:extLst>
          </p:nvPr>
        </p:nvGraphicFramePr>
        <p:xfrm>
          <a:off x="502919" y="1725285"/>
          <a:ext cx="10573397" cy="4390840"/>
        </p:xfrm>
        <a:graphic>
          <a:graphicData uri="http://schemas.openxmlformats.org/drawingml/2006/table">
            <a:tbl>
              <a:tblPr/>
              <a:tblGrid>
                <a:gridCol w="987625">
                  <a:extLst>
                    <a:ext uri="{9D8B030D-6E8A-4147-A177-3AD203B41FA5}">
                      <a16:colId xmlns:a16="http://schemas.microsoft.com/office/drawing/2014/main" val="20000"/>
                    </a:ext>
                  </a:extLst>
                </a:gridCol>
                <a:gridCol w="4880029">
                  <a:extLst>
                    <a:ext uri="{9D8B030D-6E8A-4147-A177-3AD203B41FA5}">
                      <a16:colId xmlns:a16="http://schemas.microsoft.com/office/drawing/2014/main" val="20001"/>
                    </a:ext>
                  </a:extLst>
                </a:gridCol>
                <a:gridCol w="987625">
                  <a:extLst>
                    <a:ext uri="{9D8B030D-6E8A-4147-A177-3AD203B41FA5}">
                      <a16:colId xmlns:a16="http://schemas.microsoft.com/office/drawing/2014/main" val="20002"/>
                    </a:ext>
                  </a:extLst>
                </a:gridCol>
                <a:gridCol w="1859059">
                  <a:extLst>
                    <a:ext uri="{9D8B030D-6E8A-4147-A177-3AD203B41FA5}">
                      <a16:colId xmlns:a16="http://schemas.microsoft.com/office/drawing/2014/main" val="20003"/>
                    </a:ext>
                  </a:extLst>
                </a:gridCol>
                <a:gridCol w="1859059">
                  <a:extLst>
                    <a:ext uri="{9D8B030D-6E8A-4147-A177-3AD203B41FA5}">
                      <a16:colId xmlns:a16="http://schemas.microsoft.com/office/drawing/2014/main" val="20004"/>
                    </a:ext>
                  </a:extLst>
                </a:gridCol>
              </a:tblGrid>
              <a:tr h="548855">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 No.</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Item / Component</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Qty</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Unit Cost (₹)</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Total (₹)</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extLst>
                  <a:ext uri="{0D108BD9-81ED-4DB2-BD59-A6C34878D82A}">
                    <a16:rowId xmlns:a16="http://schemas.microsoft.com/office/drawing/2014/main" val="10000"/>
                  </a:ext>
                </a:extLst>
              </a:tr>
              <a:tr h="548855">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B6685"/>
                          </a:solidFill>
                          <a:latin typeface="Calibri" pitchFamily="34" charset="0"/>
                          <a:ea typeface="Calibri" pitchFamily="34" charset="-122"/>
                          <a:cs typeface="Calibri" pitchFamily="34" charset="-120"/>
                        </a:rPr>
                        <a:t>HC-SR04 Ultrasonic Sensor</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600</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855">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marL="0" indent="0" algn="l">
                        <a:buNone/>
                      </a:pPr>
                      <a:r>
                        <a:rPr lang="en-US" sz="1100" dirty="0">
                          <a:solidFill>
                            <a:srgbClr val="5B6685"/>
                          </a:solidFill>
                          <a:latin typeface="Calibri" pitchFamily="34" charset="0"/>
                          <a:ea typeface="Calibri" pitchFamily="34" charset="-122"/>
                          <a:cs typeface="Calibri" pitchFamily="34" charset="-120"/>
                        </a:rPr>
                        <a:t>Arduino Uno / ESP32 Board</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700</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700</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extLst>
                  <a:ext uri="{0D108BD9-81ED-4DB2-BD59-A6C34878D82A}">
                    <a16:rowId xmlns:a16="http://schemas.microsoft.com/office/drawing/2014/main" val="10002"/>
                  </a:ext>
                </a:extLst>
              </a:tr>
              <a:tr h="548855">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B6685"/>
                          </a:solidFill>
                          <a:latin typeface="Calibri" pitchFamily="34" charset="0"/>
                          <a:ea typeface="Calibri" pitchFamily="34" charset="-122"/>
                          <a:cs typeface="Calibri" pitchFamily="34" charset="-120"/>
                        </a:rPr>
                        <a:t>Servo Motor (SG90)</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150</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150</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855">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marL="0" indent="0" algn="l">
                        <a:buNone/>
                      </a:pPr>
                      <a:r>
                        <a:rPr lang="en-US" sz="1100" dirty="0">
                          <a:solidFill>
                            <a:srgbClr val="5B6685"/>
                          </a:solidFill>
                          <a:latin typeface="Calibri" pitchFamily="34" charset="0"/>
                          <a:ea typeface="Calibri" pitchFamily="34" charset="-122"/>
                          <a:cs typeface="Calibri" pitchFamily="34" charset="-120"/>
                        </a:rPr>
                        <a:t>LED Lights(</a:t>
                      </a:r>
                      <a:r>
                        <a:rPr lang="en-US" sz="1100" dirty="0" err="1">
                          <a:solidFill>
                            <a:srgbClr val="5B6685"/>
                          </a:solidFill>
                          <a:latin typeface="Calibri" pitchFamily="34" charset="0"/>
                          <a:ea typeface="Calibri" pitchFamily="34" charset="-122"/>
                          <a:cs typeface="Calibri" pitchFamily="34" charset="-120"/>
                        </a:rPr>
                        <a:t>Green&amp;Red</a:t>
                      </a:r>
                      <a:r>
                        <a:rPr lang="en-US" sz="1100" dirty="0">
                          <a:solidFill>
                            <a:srgbClr val="5B668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extLst>
                  <a:ext uri="{0D108BD9-81ED-4DB2-BD59-A6C34878D82A}">
                    <a16:rowId xmlns:a16="http://schemas.microsoft.com/office/drawing/2014/main" val="10004"/>
                  </a:ext>
                </a:extLst>
              </a:tr>
              <a:tr h="548855">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B6685"/>
                          </a:solidFill>
                          <a:latin typeface="Calibri" pitchFamily="34" charset="0"/>
                          <a:ea typeface="Calibri" pitchFamily="34" charset="-122"/>
                          <a:cs typeface="Calibri" pitchFamily="34" charset="-120"/>
                        </a:rPr>
                        <a:t>Wi-Fi Module (ESP8266)</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300</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300</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855">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marL="0" indent="0" algn="l">
                        <a:buNone/>
                      </a:pPr>
                      <a:r>
                        <a:rPr lang="en-US" sz="1100" dirty="0">
                          <a:solidFill>
                            <a:srgbClr val="5B6685"/>
                          </a:solidFill>
                          <a:latin typeface="Calibri" pitchFamily="34" charset="0"/>
                          <a:ea typeface="Calibri" pitchFamily="34" charset="-122"/>
                          <a:cs typeface="Calibri" pitchFamily="34" charset="-120"/>
                        </a:rPr>
                        <a:t>Wires, breadboard, power supply &amp; misc.</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1 set</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550</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marL="0" indent="0" algn="ctr">
                        <a:buNone/>
                      </a:pPr>
                      <a:r>
                        <a:rPr lang="en-US" sz="1100" dirty="0">
                          <a:solidFill>
                            <a:srgbClr val="5B6685"/>
                          </a:solidFill>
                          <a:latin typeface="Calibri" pitchFamily="34" charset="0"/>
                          <a:ea typeface="Calibri" pitchFamily="34" charset="-122"/>
                          <a:cs typeface="Calibri" pitchFamily="34" charset="-120"/>
                        </a:rPr>
                        <a:t>550</a:t>
                      </a:r>
                      <a:endParaRPr lang="en-US" sz="110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extLst>
                  <a:ext uri="{0D108BD9-81ED-4DB2-BD59-A6C34878D82A}">
                    <a16:rowId xmlns:a16="http://schemas.microsoft.com/office/drawing/2014/main" val="10006"/>
                  </a:ext>
                </a:extLst>
              </a:tr>
              <a:tr h="548855">
                <a:tc gridSpan="4">
                  <a:txBody>
                    <a:bodyPr/>
                    <a:lstStyle/>
                    <a:p>
                      <a:pPr marL="0" indent="0" algn="r">
                        <a:buNone/>
                      </a:pPr>
                      <a:r>
                        <a:rPr lang="en-US" sz="1150" b="1" dirty="0">
                          <a:solidFill>
                            <a:srgbClr val="7A5E16"/>
                          </a:solidFill>
                          <a:latin typeface="Calibri" pitchFamily="34" charset="0"/>
                          <a:ea typeface="Calibri" pitchFamily="34" charset="-122"/>
                          <a:cs typeface="Calibri" pitchFamily="34" charset="-120"/>
                        </a:rPr>
                        <a:t>TOTAL ESTIMATED COST</a:t>
                      </a:r>
                      <a:endParaRPr lang="en-US" sz="115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6DD"/>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indent="0" algn="ctr">
                        <a:buNone/>
                      </a:pPr>
                      <a:r>
                        <a:rPr lang="en-US" sz="1150" b="1" dirty="0">
                          <a:solidFill>
                            <a:srgbClr val="7A5E16"/>
                          </a:solidFill>
                          <a:latin typeface="Calibri" pitchFamily="34" charset="0"/>
                          <a:ea typeface="Calibri" pitchFamily="34" charset="-122"/>
                          <a:cs typeface="Calibri" pitchFamily="34" charset="-120"/>
                        </a:rPr>
                        <a:t>₹ 2,500</a:t>
                      </a:r>
                      <a:endParaRPr lang="en-US" sz="1150" dirty="0">
                        <a:latin typeface="Calibri" charset="0"/>
                        <a:ea typeface="Calibri" charset="0"/>
                        <a:cs typeface="Calibri" charset="0"/>
                      </a:endParaRPr>
                    </a:p>
                  </a:txBody>
                  <a:tcPr marL="54864" marR="54864" marT="54864" marB="54864"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6DD"/>
                    </a:solidFill>
                  </a:tcPr>
                </a:tc>
                <a:extLst>
                  <a:ext uri="{0D108BD9-81ED-4DB2-BD59-A6C34878D82A}">
                    <a16:rowId xmlns:a16="http://schemas.microsoft.com/office/drawing/2014/main" val="10007"/>
                  </a:ext>
                </a:extLst>
              </a:tr>
            </a:tbl>
          </a:graphicData>
        </a:graphic>
      </p:graphicFrame>
      <p:sp>
        <p:nvSpPr>
          <p:cNvPr id="15"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fld id="{6AEF2098-7F66-4734-84CA-B220559FA7E1}" type="datetime1">
              <a:rPr lang="en-IN" smtClean="0"/>
              <a:t>25-07-2026</a:t>
            </a:fld>
            <a:endParaRPr lang="en-IN"/>
          </a:p>
        </p:txBody>
      </p:sp>
      <p:sp>
        <p:nvSpPr>
          <p:cNvPr id="16"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17"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fld id="{E3578D1D-08D0-42A1-9351-7F687FC029E9}" type="slidenum">
              <a:rPr lang="en-IN" smtClean="0"/>
              <a:t>10</a:t>
            </a:fld>
            <a:endParaRPr lang="en-IN"/>
          </a:p>
        </p:txBody>
      </p:sp>
      <p:pic>
        <p:nvPicPr>
          <p:cNvPr id="8" name="Picture 7">
            <a:extLst>
              <a:ext uri="{FF2B5EF4-FFF2-40B4-BE49-F238E27FC236}">
                <a16:creationId xmlns:a16="http://schemas.microsoft.com/office/drawing/2014/main" id="{BF923C6C-F75F-E780-459D-E7C515A6E80F}"/>
              </a:ext>
            </a:extLst>
          </p:cNvPr>
          <p:cNvPicPr>
            <a:picLocks noChangeAspect="1"/>
          </p:cNvPicPr>
          <p:nvPr/>
        </p:nvPicPr>
        <p:blipFill>
          <a:blip r:embed="rId4"/>
          <a:stretch>
            <a:fillRect/>
          </a:stretch>
        </p:blipFill>
        <p:spPr>
          <a:xfrm>
            <a:off x="10363654" y="371776"/>
            <a:ext cx="1325426" cy="60350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02920" y="658368"/>
            <a:ext cx="11183112" cy="457200"/>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Impact &amp; SDG Mapping</a:t>
            </a:r>
            <a:endParaRPr lang="en-US" sz="2800" dirty="0"/>
          </a:p>
        </p:txBody>
      </p:sp>
      <p:sp>
        <p:nvSpPr>
          <p:cNvPr id="6" name="Shape 3"/>
          <p:cNvSpPr/>
          <p:nvPr/>
        </p:nvSpPr>
        <p:spPr>
          <a:xfrm>
            <a:off x="502920" y="1153534"/>
            <a:ext cx="11183112" cy="0"/>
          </a:xfrm>
          <a:prstGeom prst="line">
            <a:avLst/>
          </a:prstGeom>
          <a:noFill/>
          <a:ln w="12700">
            <a:solidFill>
              <a:srgbClr val="DFE4EE"/>
            </a:solidFill>
            <a:prstDash val="solid"/>
          </a:ln>
        </p:spPr>
      </p:sp>
      <p:sp>
        <p:nvSpPr>
          <p:cNvPr id="7" name="Shape 4"/>
          <p:cNvSpPr/>
          <p:nvPr/>
        </p:nvSpPr>
        <p:spPr>
          <a:xfrm>
            <a:off x="502920" y="1382135"/>
            <a:ext cx="3611880" cy="2504065"/>
          </a:xfrm>
          <a:prstGeom prst="roundRect">
            <a:avLst>
              <a:gd name="adj" fmla="val 3478"/>
            </a:avLst>
          </a:prstGeom>
          <a:solidFill>
            <a:srgbClr val="F5F7FB"/>
          </a:solidFill>
          <a:ln w="12700">
            <a:solidFill>
              <a:srgbClr val="DFE4EE"/>
            </a:solidFill>
            <a:prstDash val="solid"/>
          </a:ln>
        </p:spPr>
      </p:sp>
      <p:pic>
        <p:nvPicPr>
          <p:cNvPr id="8" name="Image 1" descr="assets/ic_users.png"/>
          <p:cNvPicPr>
            <a:picLocks noChangeAspect="1"/>
          </p:cNvPicPr>
          <p:nvPr/>
        </p:nvPicPr>
        <p:blipFill>
          <a:blip r:embed="rId4"/>
          <a:stretch>
            <a:fillRect/>
          </a:stretch>
        </p:blipFill>
        <p:spPr>
          <a:xfrm>
            <a:off x="777240" y="1493062"/>
            <a:ext cx="292608" cy="292608"/>
          </a:xfrm>
          <a:prstGeom prst="rect">
            <a:avLst/>
          </a:prstGeom>
        </p:spPr>
      </p:pic>
      <p:sp>
        <p:nvSpPr>
          <p:cNvPr id="9" name="Text 5"/>
          <p:cNvSpPr/>
          <p:nvPr/>
        </p:nvSpPr>
        <p:spPr>
          <a:xfrm>
            <a:off x="1179576" y="1511348"/>
            <a:ext cx="2743200" cy="237744"/>
          </a:xfrm>
          <a:prstGeom prst="rect">
            <a:avLst/>
          </a:prstGeom>
          <a:noFill/>
          <a:ln/>
        </p:spPr>
        <p:txBody>
          <a:bodyPr wrap="square" lIns="0" tIns="0" rIns="0" bIns="0" rtlCol="0" anchor="ctr"/>
          <a:lstStyle/>
          <a:p>
            <a:pPr marL="0" indent="0" algn="l">
              <a:buNone/>
            </a:pPr>
            <a:r>
              <a:rPr lang="en-US" sz="1100" b="1" kern="0" spc="60" dirty="0">
                <a:solidFill>
                  <a:srgbClr val="5B6685"/>
                </a:solidFill>
                <a:latin typeface="Calibri" pitchFamily="34" charset="0"/>
                <a:ea typeface="Calibri" pitchFamily="34" charset="-122"/>
                <a:cs typeface="Calibri" pitchFamily="34" charset="-120"/>
              </a:rPr>
              <a:t>WHO BENEFITS</a:t>
            </a:r>
            <a:endParaRPr lang="en-US" sz="1100" dirty="0"/>
          </a:p>
        </p:txBody>
      </p:sp>
      <p:sp>
        <p:nvSpPr>
          <p:cNvPr id="10" name="Text 6"/>
          <p:cNvSpPr/>
          <p:nvPr/>
        </p:nvSpPr>
        <p:spPr>
          <a:xfrm>
            <a:off x="777240" y="1878305"/>
            <a:ext cx="3063240" cy="1825015"/>
          </a:xfrm>
          <a:prstGeom prst="rect">
            <a:avLst/>
          </a:prstGeom>
          <a:noFill/>
          <a:ln/>
        </p:spPr>
        <p:txBody>
          <a:bodyPr wrap="square" lIns="0" tIns="0" rIns="0" bIns="0" rtlCol="0" anchor="t"/>
          <a:lstStyle/>
          <a:p>
            <a:pPr marL="0" indent="0" algn="l">
              <a:lnSpc>
                <a:spcPct val="105000"/>
              </a:lnSpc>
              <a:buNone/>
            </a:pPr>
            <a:r>
              <a:rPr lang="en-US" sz="1100" dirty="0">
                <a:solidFill>
                  <a:srgbClr val="5B6685"/>
                </a:solidFill>
                <a:latin typeface="Calibri" pitchFamily="34" charset="0"/>
                <a:ea typeface="Calibri" pitchFamily="34" charset="-122"/>
                <a:cs typeface="Calibri" pitchFamily="34" charset="-120"/>
              </a:rPr>
              <a:t>Drivers/commuters at malls, hospitals, colleges, airports, railway stations and offices</a:t>
            </a:r>
            <a:endParaRPr lang="en-US" sz="1100" dirty="0"/>
          </a:p>
          <a:p>
            <a:pPr marL="0" indent="0" algn="l">
              <a:lnSpc>
                <a:spcPct val="105000"/>
              </a:lnSpc>
              <a:buNone/>
            </a:pPr>
            <a:r>
              <a:rPr lang="en-US" sz="1100" dirty="0">
                <a:solidFill>
                  <a:srgbClr val="5B6685"/>
                </a:solidFill>
                <a:latin typeface="Calibri" pitchFamily="34" charset="0"/>
                <a:ea typeface="Calibri" pitchFamily="34" charset="-122"/>
                <a:cs typeface="Calibri" pitchFamily="34" charset="-120"/>
              </a:rPr>
              <a:t>Parking administrators and the environment, through reduced emissions</a:t>
            </a:r>
            <a:endParaRPr lang="en-US" sz="1100" dirty="0"/>
          </a:p>
        </p:txBody>
      </p:sp>
      <p:sp>
        <p:nvSpPr>
          <p:cNvPr id="11" name="Shape 7"/>
          <p:cNvSpPr/>
          <p:nvPr/>
        </p:nvSpPr>
        <p:spPr>
          <a:xfrm>
            <a:off x="4306824" y="1382136"/>
            <a:ext cx="7640760" cy="2504064"/>
          </a:xfrm>
          <a:prstGeom prst="roundRect">
            <a:avLst>
              <a:gd name="adj" fmla="val 3478"/>
            </a:avLst>
          </a:prstGeom>
          <a:solidFill>
            <a:srgbClr val="E9EFFC"/>
          </a:solidFill>
          <a:ln w="12700">
            <a:solidFill>
              <a:srgbClr val="C3CDE8"/>
            </a:solidFill>
            <a:prstDash val="solid"/>
          </a:ln>
        </p:spPr>
      </p:sp>
      <p:pic>
        <p:nvPicPr>
          <p:cNvPr id="12" name="Image 2" descr="assets/ic_target.png"/>
          <p:cNvPicPr>
            <a:picLocks noChangeAspect="1"/>
          </p:cNvPicPr>
          <p:nvPr/>
        </p:nvPicPr>
        <p:blipFill>
          <a:blip r:embed="rId5"/>
          <a:stretch>
            <a:fillRect/>
          </a:stretch>
        </p:blipFill>
        <p:spPr>
          <a:xfrm>
            <a:off x="4581144" y="1501688"/>
            <a:ext cx="292608" cy="292608"/>
          </a:xfrm>
          <a:prstGeom prst="rect">
            <a:avLst/>
          </a:prstGeom>
        </p:spPr>
      </p:pic>
      <p:sp>
        <p:nvSpPr>
          <p:cNvPr id="13" name="Text 8"/>
          <p:cNvSpPr/>
          <p:nvPr/>
        </p:nvSpPr>
        <p:spPr>
          <a:xfrm>
            <a:off x="4983480" y="1494093"/>
            <a:ext cx="2743200" cy="237744"/>
          </a:xfrm>
          <a:prstGeom prst="rect">
            <a:avLst/>
          </a:prstGeom>
          <a:noFill/>
          <a:ln/>
        </p:spPr>
        <p:txBody>
          <a:bodyPr wrap="square" lIns="0" tIns="0" rIns="0" bIns="0" rtlCol="0" anchor="ctr"/>
          <a:lstStyle/>
          <a:p>
            <a:pPr marL="0" indent="0" algn="l">
              <a:buNone/>
            </a:pPr>
            <a:r>
              <a:rPr lang="en-US" sz="1100" b="1" kern="0" spc="60" dirty="0">
                <a:solidFill>
                  <a:srgbClr val="071A45"/>
                </a:solidFill>
                <a:latin typeface="Calibri" pitchFamily="34" charset="0"/>
                <a:ea typeface="Calibri" pitchFamily="34" charset="-122"/>
                <a:cs typeface="Calibri" pitchFamily="34" charset="-120"/>
              </a:rPr>
              <a:t>MEASURABLE IMPACT</a:t>
            </a:r>
            <a:endParaRPr lang="en-US" sz="1100" dirty="0"/>
          </a:p>
        </p:txBody>
      </p:sp>
      <p:sp>
        <p:nvSpPr>
          <p:cNvPr id="14" name="Text 9"/>
          <p:cNvSpPr/>
          <p:nvPr/>
        </p:nvSpPr>
        <p:spPr>
          <a:xfrm>
            <a:off x="4581144" y="1878305"/>
            <a:ext cx="7196328" cy="1825015"/>
          </a:xfrm>
          <a:prstGeom prst="rect">
            <a:avLst/>
          </a:prstGeom>
          <a:noFill/>
          <a:ln/>
        </p:spPr>
        <p:txBody>
          <a:bodyPr wrap="square" lIns="0" tIns="0" rIns="0" bIns="0" rtlCol="0" anchor="t"/>
          <a:lstStyle/>
          <a:p>
            <a:pPr marL="0" indent="0" algn="l">
              <a:lnSpc>
                <a:spcPct val="105000"/>
              </a:lnSpc>
              <a:buNone/>
            </a:pPr>
            <a:r>
              <a:rPr lang="en-US" sz="1100" dirty="0">
                <a:solidFill>
                  <a:srgbClr val="071A45"/>
                </a:solidFill>
                <a:latin typeface="Calibri" pitchFamily="34" charset="0"/>
                <a:ea typeface="Calibri" pitchFamily="34" charset="-122"/>
                <a:cs typeface="Calibri" pitchFamily="34" charset="-120"/>
              </a:rPr>
              <a:t>Saves approximately 5–10 minutes per visit spent searching for parking</a:t>
            </a:r>
            <a:endParaRPr lang="en-US" sz="1100" dirty="0"/>
          </a:p>
          <a:p>
            <a:pPr marL="0" indent="0" algn="l">
              <a:lnSpc>
                <a:spcPct val="105000"/>
              </a:lnSpc>
              <a:buNone/>
            </a:pPr>
            <a:r>
              <a:rPr lang="en-US" sz="1100" dirty="0">
                <a:solidFill>
                  <a:srgbClr val="071A45"/>
                </a:solidFill>
                <a:latin typeface="Calibri" pitchFamily="34" charset="0"/>
                <a:ea typeface="Calibri" pitchFamily="34" charset="-122"/>
                <a:cs typeface="Calibri" pitchFamily="34" charset="-120"/>
              </a:rPr>
              <a:t>Reduces unnecessary fuel consumption and related emissions from idle circling</a:t>
            </a:r>
            <a:endParaRPr lang="en-US" sz="1100" dirty="0"/>
          </a:p>
          <a:p>
            <a:pPr marL="0" indent="0" algn="l">
              <a:lnSpc>
                <a:spcPct val="105000"/>
              </a:lnSpc>
              <a:buNone/>
            </a:pPr>
            <a:r>
              <a:rPr lang="en-US" sz="1100" dirty="0">
                <a:solidFill>
                  <a:srgbClr val="071A45"/>
                </a:solidFill>
                <a:latin typeface="Calibri" pitchFamily="34" charset="0"/>
                <a:ea typeface="Calibri" pitchFamily="34" charset="-122"/>
                <a:cs typeface="Calibri" pitchFamily="34" charset="-120"/>
              </a:rPr>
              <a:t>Always include units.</a:t>
            </a:r>
            <a:endParaRPr lang="en-US" sz="1100" dirty="0"/>
          </a:p>
        </p:txBody>
      </p:sp>
      <p:sp>
        <p:nvSpPr>
          <p:cNvPr id="19" name="Shape 13"/>
          <p:cNvSpPr/>
          <p:nvPr/>
        </p:nvSpPr>
        <p:spPr>
          <a:xfrm>
            <a:off x="502919" y="4069080"/>
            <a:ext cx="11444665" cy="1965960"/>
          </a:xfrm>
          <a:prstGeom prst="roundRect">
            <a:avLst>
              <a:gd name="adj" fmla="val 3721"/>
            </a:avLst>
          </a:prstGeom>
          <a:solidFill>
            <a:srgbClr val="F5F7FB"/>
          </a:solidFill>
          <a:ln w="12700">
            <a:solidFill>
              <a:srgbClr val="DFE4EE"/>
            </a:solidFill>
            <a:prstDash val="solid"/>
          </a:ln>
        </p:spPr>
      </p:sp>
      <p:pic>
        <p:nvPicPr>
          <p:cNvPr id="20" name="Image 4" descr="assets/ic_globe.png"/>
          <p:cNvPicPr>
            <a:picLocks noChangeAspect="1"/>
          </p:cNvPicPr>
          <p:nvPr/>
        </p:nvPicPr>
        <p:blipFill>
          <a:blip r:embed="rId6"/>
          <a:stretch>
            <a:fillRect/>
          </a:stretch>
        </p:blipFill>
        <p:spPr>
          <a:xfrm>
            <a:off x="822960" y="4279392"/>
            <a:ext cx="310896" cy="310896"/>
          </a:xfrm>
          <a:prstGeom prst="rect">
            <a:avLst/>
          </a:prstGeom>
        </p:spPr>
      </p:pic>
      <p:sp>
        <p:nvSpPr>
          <p:cNvPr id="21" name="Text 14"/>
          <p:cNvSpPr/>
          <p:nvPr/>
        </p:nvSpPr>
        <p:spPr>
          <a:xfrm>
            <a:off x="1234440" y="4297680"/>
            <a:ext cx="5486400" cy="237744"/>
          </a:xfrm>
          <a:prstGeom prst="rect">
            <a:avLst/>
          </a:prstGeom>
          <a:noFill/>
          <a:ln/>
        </p:spPr>
        <p:txBody>
          <a:bodyPr wrap="square" lIns="0" tIns="0" rIns="0" bIns="0" rtlCol="0" anchor="ctr"/>
          <a:lstStyle/>
          <a:p>
            <a:pPr marL="0" indent="0" algn="l">
              <a:buNone/>
            </a:pPr>
            <a:r>
              <a:rPr lang="en-US" sz="1150" b="1" kern="0" spc="60" dirty="0">
                <a:solidFill>
                  <a:srgbClr val="071A45"/>
                </a:solidFill>
                <a:latin typeface="Calibri" pitchFamily="34" charset="0"/>
                <a:ea typeface="Calibri" pitchFamily="34" charset="-122"/>
                <a:cs typeface="Calibri" pitchFamily="34" charset="-120"/>
              </a:rPr>
              <a:t>UN SUSTAINABLE DEVELOPMENT GOALS</a:t>
            </a:r>
            <a:endParaRPr lang="en-US" sz="1150" dirty="0"/>
          </a:p>
        </p:txBody>
      </p:sp>
      <p:sp>
        <p:nvSpPr>
          <p:cNvPr id="22" name="Shape 15"/>
          <p:cNvSpPr/>
          <p:nvPr/>
        </p:nvSpPr>
        <p:spPr>
          <a:xfrm>
            <a:off x="822960" y="4754880"/>
            <a:ext cx="1152144" cy="310896"/>
          </a:xfrm>
          <a:prstGeom prst="roundRect">
            <a:avLst>
              <a:gd name="adj" fmla="val 17647"/>
            </a:avLst>
          </a:prstGeom>
          <a:solidFill>
            <a:srgbClr val="FFFFFF"/>
          </a:solidFill>
          <a:ln w="12700">
            <a:solidFill>
              <a:srgbClr val="C3CDE8"/>
            </a:solidFill>
            <a:prstDash val="solid"/>
          </a:ln>
        </p:spPr>
      </p:sp>
      <p:sp>
        <p:nvSpPr>
          <p:cNvPr id="23" name="Text 16"/>
          <p:cNvSpPr/>
          <p:nvPr/>
        </p:nvSpPr>
        <p:spPr>
          <a:xfrm>
            <a:off x="822960" y="4754880"/>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1 No Poverty</a:t>
            </a:r>
            <a:endParaRPr lang="en-US" sz="750" dirty="0"/>
          </a:p>
        </p:txBody>
      </p:sp>
      <p:sp>
        <p:nvSpPr>
          <p:cNvPr id="24" name="Shape 17"/>
          <p:cNvSpPr/>
          <p:nvPr/>
        </p:nvSpPr>
        <p:spPr>
          <a:xfrm>
            <a:off x="2048256" y="4754880"/>
            <a:ext cx="1152144" cy="310896"/>
          </a:xfrm>
          <a:prstGeom prst="roundRect">
            <a:avLst>
              <a:gd name="adj" fmla="val 17647"/>
            </a:avLst>
          </a:prstGeom>
          <a:solidFill>
            <a:srgbClr val="FFFFFF"/>
          </a:solidFill>
          <a:ln w="12700">
            <a:solidFill>
              <a:srgbClr val="C3CDE8"/>
            </a:solidFill>
            <a:prstDash val="solid"/>
          </a:ln>
        </p:spPr>
      </p:sp>
      <p:sp>
        <p:nvSpPr>
          <p:cNvPr id="25" name="Text 18"/>
          <p:cNvSpPr/>
          <p:nvPr/>
        </p:nvSpPr>
        <p:spPr>
          <a:xfrm>
            <a:off x="2048256" y="4754880"/>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2 Zero Hunger</a:t>
            </a:r>
            <a:endParaRPr lang="en-US" sz="750" dirty="0"/>
          </a:p>
        </p:txBody>
      </p:sp>
      <p:sp>
        <p:nvSpPr>
          <p:cNvPr id="26" name="Shape 19"/>
          <p:cNvSpPr/>
          <p:nvPr/>
        </p:nvSpPr>
        <p:spPr>
          <a:xfrm>
            <a:off x="3273552" y="4754880"/>
            <a:ext cx="1152144" cy="310896"/>
          </a:xfrm>
          <a:prstGeom prst="roundRect">
            <a:avLst>
              <a:gd name="adj" fmla="val 17647"/>
            </a:avLst>
          </a:prstGeom>
          <a:solidFill>
            <a:srgbClr val="FFFFFF"/>
          </a:solidFill>
          <a:ln w="12700">
            <a:solidFill>
              <a:srgbClr val="C3CDE8"/>
            </a:solidFill>
            <a:prstDash val="solid"/>
          </a:ln>
        </p:spPr>
      </p:sp>
      <p:sp>
        <p:nvSpPr>
          <p:cNvPr id="27" name="Text 20"/>
          <p:cNvSpPr/>
          <p:nvPr/>
        </p:nvSpPr>
        <p:spPr>
          <a:xfrm>
            <a:off x="3273552" y="4754880"/>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3 Good Health</a:t>
            </a:r>
            <a:endParaRPr lang="en-US" sz="750" dirty="0"/>
          </a:p>
        </p:txBody>
      </p:sp>
      <p:sp>
        <p:nvSpPr>
          <p:cNvPr id="28" name="Shape 21"/>
          <p:cNvSpPr/>
          <p:nvPr/>
        </p:nvSpPr>
        <p:spPr>
          <a:xfrm>
            <a:off x="4498848" y="4754880"/>
            <a:ext cx="1152144" cy="310896"/>
          </a:xfrm>
          <a:prstGeom prst="roundRect">
            <a:avLst>
              <a:gd name="adj" fmla="val 17647"/>
            </a:avLst>
          </a:prstGeom>
          <a:solidFill>
            <a:srgbClr val="FFFFFF"/>
          </a:solidFill>
          <a:ln w="12700">
            <a:solidFill>
              <a:srgbClr val="C3CDE8"/>
            </a:solidFill>
            <a:prstDash val="solid"/>
          </a:ln>
        </p:spPr>
      </p:sp>
      <p:sp>
        <p:nvSpPr>
          <p:cNvPr id="29" name="Text 22"/>
          <p:cNvSpPr/>
          <p:nvPr/>
        </p:nvSpPr>
        <p:spPr>
          <a:xfrm>
            <a:off x="4498848" y="4754880"/>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4 Quality Education</a:t>
            </a:r>
            <a:endParaRPr lang="en-US" sz="750" dirty="0"/>
          </a:p>
        </p:txBody>
      </p:sp>
      <p:sp>
        <p:nvSpPr>
          <p:cNvPr id="30" name="Shape 23"/>
          <p:cNvSpPr/>
          <p:nvPr/>
        </p:nvSpPr>
        <p:spPr>
          <a:xfrm>
            <a:off x="5724144" y="4754880"/>
            <a:ext cx="1152144" cy="310896"/>
          </a:xfrm>
          <a:prstGeom prst="roundRect">
            <a:avLst>
              <a:gd name="adj" fmla="val 17647"/>
            </a:avLst>
          </a:prstGeom>
          <a:solidFill>
            <a:srgbClr val="FFFFFF"/>
          </a:solidFill>
          <a:ln w="12700">
            <a:solidFill>
              <a:srgbClr val="C3CDE8"/>
            </a:solidFill>
            <a:prstDash val="solid"/>
          </a:ln>
        </p:spPr>
      </p:sp>
      <p:sp>
        <p:nvSpPr>
          <p:cNvPr id="31" name="Text 24"/>
          <p:cNvSpPr/>
          <p:nvPr/>
        </p:nvSpPr>
        <p:spPr>
          <a:xfrm>
            <a:off x="5724144" y="4754880"/>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5 Gender Equality</a:t>
            </a:r>
            <a:endParaRPr lang="en-US" sz="750" dirty="0"/>
          </a:p>
        </p:txBody>
      </p:sp>
      <p:sp>
        <p:nvSpPr>
          <p:cNvPr id="32" name="Shape 25"/>
          <p:cNvSpPr/>
          <p:nvPr/>
        </p:nvSpPr>
        <p:spPr>
          <a:xfrm>
            <a:off x="6949440" y="4754880"/>
            <a:ext cx="1152144" cy="310896"/>
          </a:xfrm>
          <a:prstGeom prst="roundRect">
            <a:avLst>
              <a:gd name="adj" fmla="val 17647"/>
            </a:avLst>
          </a:prstGeom>
          <a:solidFill>
            <a:srgbClr val="FFFFFF"/>
          </a:solidFill>
          <a:ln w="12700">
            <a:solidFill>
              <a:srgbClr val="C3CDE8"/>
            </a:solidFill>
            <a:prstDash val="solid"/>
          </a:ln>
        </p:spPr>
      </p:sp>
      <p:sp>
        <p:nvSpPr>
          <p:cNvPr id="33" name="Text 26"/>
          <p:cNvSpPr/>
          <p:nvPr/>
        </p:nvSpPr>
        <p:spPr>
          <a:xfrm>
            <a:off x="6949440" y="4754880"/>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6 Clean Water</a:t>
            </a:r>
            <a:endParaRPr lang="en-US" sz="750" dirty="0"/>
          </a:p>
        </p:txBody>
      </p:sp>
      <p:sp>
        <p:nvSpPr>
          <p:cNvPr id="34" name="Shape 27"/>
          <p:cNvSpPr/>
          <p:nvPr/>
        </p:nvSpPr>
        <p:spPr>
          <a:xfrm>
            <a:off x="8174736" y="4754880"/>
            <a:ext cx="1152144" cy="310896"/>
          </a:xfrm>
          <a:prstGeom prst="roundRect">
            <a:avLst>
              <a:gd name="adj" fmla="val 17647"/>
            </a:avLst>
          </a:prstGeom>
          <a:solidFill>
            <a:srgbClr val="FFFFFF"/>
          </a:solidFill>
          <a:ln w="12700">
            <a:solidFill>
              <a:srgbClr val="C3CDE8"/>
            </a:solidFill>
            <a:prstDash val="solid"/>
          </a:ln>
        </p:spPr>
      </p:sp>
      <p:sp>
        <p:nvSpPr>
          <p:cNvPr id="35" name="Text 28"/>
          <p:cNvSpPr/>
          <p:nvPr/>
        </p:nvSpPr>
        <p:spPr>
          <a:xfrm>
            <a:off x="8174736" y="4754880"/>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7 Clean Energy</a:t>
            </a:r>
            <a:endParaRPr lang="en-US" sz="750" dirty="0"/>
          </a:p>
        </p:txBody>
      </p:sp>
      <p:sp>
        <p:nvSpPr>
          <p:cNvPr id="36" name="Shape 29"/>
          <p:cNvSpPr/>
          <p:nvPr/>
        </p:nvSpPr>
        <p:spPr>
          <a:xfrm>
            <a:off x="9400032" y="4754880"/>
            <a:ext cx="1152144" cy="310896"/>
          </a:xfrm>
          <a:prstGeom prst="roundRect">
            <a:avLst>
              <a:gd name="adj" fmla="val 17647"/>
            </a:avLst>
          </a:prstGeom>
          <a:solidFill>
            <a:srgbClr val="FFFFFF"/>
          </a:solidFill>
          <a:ln w="12700">
            <a:solidFill>
              <a:srgbClr val="C3CDE8"/>
            </a:solidFill>
            <a:prstDash val="solid"/>
          </a:ln>
        </p:spPr>
      </p:sp>
      <p:sp>
        <p:nvSpPr>
          <p:cNvPr id="37" name="Text 30"/>
          <p:cNvSpPr/>
          <p:nvPr/>
        </p:nvSpPr>
        <p:spPr>
          <a:xfrm>
            <a:off x="9400032" y="4754880"/>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8 Decent Work</a:t>
            </a:r>
            <a:endParaRPr lang="en-US" sz="750" dirty="0"/>
          </a:p>
        </p:txBody>
      </p:sp>
      <p:sp>
        <p:nvSpPr>
          <p:cNvPr id="38" name="Shape 31"/>
          <p:cNvSpPr/>
          <p:nvPr/>
        </p:nvSpPr>
        <p:spPr>
          <a:xfrm>
            <a:off x="10625328" y="4754880"/>
            <a:ext cx="1152144" cy="310896"/>
          </a:xfrm>
          <a:prstGeom prst="roundRect">
            <a:avLst>
              <a:gd name="adj" fmla="val 17647"/>
            </a:avLst>
          </a:prstGeom>
          <a:solidFill>
            <a:srgbClr val="FFFFFF"/>
          </a:solidFill>
          <a:ln w="12700">
            <a:solidFill>
              <a:srgbClr val="C3CDE8"/>
            </a:solidFill>
            <a:prstDash val="solid"/>
          </a:ln>
        </p:spPr>
      </p:sp>
      <p:sp>
        <p:nvSpPr>
          <p:cNvPr id="39" name="Text 32"/>
          <p:cNvSpPr/>
          <p:nvPr/>
        </p:nvSpPr>
        <p:spPr>
          <a:xfrm>
            <a:off x="10625328" y="4754880"/>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9 Industry &amp; Innovation</a:t>
            </a:r>
            <a:endParaRPr lang="en-US" sz="750" dirty="0"/>
          </a:p>
        </p:txBody>
      </p:sp>
      <p:sp>
        <p:nvSpPr>
          <p:cNvPr id="40" name="Shape 33"/>
          <p:cNvSpPr/>
          <p:nvPr/>
        </p:nvSpPr>
        <p:spPr>
          <a:xfrm>
            <a:off x="822960" y="5138928"/>
            <a:ext cx="1152144" cy="310896"/>
          </a:xfrm>
          <a:prstGeom prst="roundRect">
            <a:avLst>
              <a:gd name="adj" fmla="val 17647"/>
            </a:avLst>
          </a:prstGeom>
          <a:solidFill>
            <a:srgbClr val="FFFFFF"/>
          </a:solidFill>
          <a:ln w="12700">
            <a:solidFill>
              <a:srgbClr val="C3CDE8"/>
            </a:solidFill>
            <a:prstDash val="solid"/>
          </a:ln>
        </p:spPr>
      </p:sp>
      <p:sp>
        <p:nvSpPr>
          <p:cNvPr id="41" name="Text 34"/>
          <p:cNvSpPr/>
          <p:nvPr/>
        </p:nvSpPr>
        <p:spPr>
          <a:xfrm>
            <a:off x="822960" y="5138928"/>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10 Reduced Inequalities</a:t>
            </a:r>
            <a:endParaRPr lang="en-US" sz="750" dirty="0"/>
          </a:p>
        </p:txBody>
      </p:sp>
      <p:sp>
        <p:nvSpPr>
          <p:cNvPr id="42" name="Shape 35"/>
          <p:cNvSpPr/>
          <p:nvPr/>
        </p:nvSpPr>
        <p:spPr>
          <a:xfrm>
            <a:off x="2048256" y="5138928"/>
            <a:ext cx="1152144" cy="310896"/>
          </a:xfrm>
          <a:prstGeom prst="roundRect">
            <a:avLst>
              <a:gd name="adj" fmla="val 17647"/>
            </a:avLst>
          </a:prstGeom>
          <a:solidFill>
            <a:srgbClr val="FFFFFF"/>
          </a:solidFill>
          <a:ln w="12700">
            <a:solidFill>
              <a:srgbClr val="C3CDE8"/>
            </a:solidFill>
            <a:prstDash val="solid"/>
          </a:ln>
        </p:spPr>
      </p:sp>
      <p:sp>
        <p:nvSpPr>
          <p:cNvPr id="43" name="Text 36"/>
          <p:cNvSpPr/>
          <p:nvPr/>
        </p:nvSpPr>
        <p:spPr>
          <a:xfrm>
            <a:off x="2048256" y="5138928"/>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11 Sustainable Cities</a:t>
            </a:r>
            <a:endParaRPr lang="en-US" sz="750" dirty="0"/>
          </a:p>
        </p:txBody>
      </p:sp>
      <p:sp>
        <p:nvSpPr>
          <p:cNvPr id="44" name="Shape 37"/>
          <p:cNvSpPr/>
          <p:nvPr/>
        </p:nvSpPr>
        <p:spPr>
          <a:xfrm>
            <a:off x="3273552" y="5138928"/>
            <a:ext cx="1152144" cy="310896"/>
          </a:xfrm>
          <a:prstGeom prst="roundRect">
            <a:avLst>
              <a:gd name="adj" fmla="val 17647"/>
            </a:avLst>
          </a:prstGeom>
          <a:solidFill>
            <a:srgbClr val="FFFFFF"/>
          </a:solidFill>
          <a:ln w="12700">
            <a:solidFill>
              <a:srgbClr val="C3CDE8"/>
            </a:solidFill>
            <a:prstDash val="solid"/>
          </a:ln>
        </p:spPr>
      </p:sp>
      <p:sp>
        <p:nvSpPr>
          <p:cNvPr id="45" name="Text 38"/>
          <p:cNvSpPr/>
          <p:nvPr/>
        </p:nvSpPr>
        <p:spPr>
          <a:xfrm>
            <a:off x="3273552" y="5138928"/>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12 Responsible Consumption</a:t>
            </a:r>
            <a:endParaRPr lang="en-US" sz="750" dirty="0"/>
          </a:p>
        </p:txBody>
      </p:sp>
      <p:sp>
        <p:nvSpPr>
          <p:cNvPr id="46" name="Shape 39"/>
          <p:cNvSpPr/>
          <p:nvPr/>
        </p:nvSpPr>
        <p:spPr>
          <a:xfrm>
            <a:off x="4498848" y="5138928"/>
            <a:ext cx="1152144" cy="310896"/>
          </a:xfrm>
          <a:prstGeom prst="roundRect">
            <a:avLst>
              <a:gd name="adj" fmla="val 17647"/>
            </a:avLst>
          </a:prstGeom>
          <a:solidFill>
            <a:srgbClr val="FFFFFF"/>
          </a:solidFill>
          <a:ln w="12700">
            <a:solidFill>
              <a:srgbClr val="C3CDE8"/>
            </a:solidFill>
            <a:prstDash val="solid"/>
          </a:ln>
        </p:spPr>
      </p:sp>
      <p:sp>
        <p:nvSpPr>
          <p:cNvPr id="47" name="Text 40"/>
          <p:cNvSpPr/>
          <p:nvPr/>
        </p:nvSpPr>
        <p:spPr>
          <a:xfrm>
            <a:off x="4498848" y="5138928"/>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13 Climate Action</a:t>
            </a:r>
            <a:endParaRPr lang="en-US" sz="750" dirty="0"/>
          </a:p>
        </p:txBody>
      </p:sp>
      <p:sp>
        <p:nvSpPr>
          <p:cNvPr id="48" name="Shape 41"/>
          <p:cNvSpPr/>
          <p:nvPr/>
        </p:nvSpPr>
        <p:spPr>
          <a:xfrm>
            <a:off x="5724144" y="5138928"/>
            <a:ext cx="1152144" cy="310896"/>
          </a:xfrm>
          <a:prstGeom prst="roundRect">
            <a:avLst>
              <a:gd name="adj" fmla="val 17647"/>
            </a:avLst>
          </a:prstGeom>
          <a:solidFill>
            <a:srgbClr val="FFFFFF"/>
          </a:solidFill>
          <a:ln w="12700">
            <a:solidFill>
              <a:srgbClr val="C3CDE8"/>
            </a:solidFill>
            <a:prstDash val="solid"/>
          </a:ln>
        </p:spPr>
      </p:sp>
      <p:sp>
        <p:nvSpPr>
          <p:cNvPr id="49" name="Text 42"/>
          <p:cNvSpPr/>
          <p:nvPr/>
        </p:nvSpPr>
        <p:spPr>
          <a:xfrm>
            <a:off x="5724144" y="5138928"/>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14 Life Below Water</a:t>
            </a:r>
            <a:endParaRPr lang="en-US" sz="750" dirty="0"/>
          </a:p>
        </p:txBody>
      </p:sp>
      <p:sp>
        <p:nvSpPr>
          <p:cNvPr id="50" name="Shape 43"/>
          <p:cNvSpPr/>
          <p:nvPr/>
        </p:nvSpPr>
        <p:spPr>
          <a:xfrm>
            <a:off x="6949440" y="5138928"/>
            <a:ext cx="1152144" cy="310896"/>
          </a:xfrm>
          <a:prstGeom prst="roundRect">
            <a:avLst>
              <a:gd name="adj" fmla="val 17647"/>
            </a:avLst>
          </a:prstGeom>
          <a:solidFill>
            <a:srgbClr val="FFFFFF"/>
          </a:solidFill>
          <a:ln w="12700">
            <a:solidFill>
              <a:srgbClr val="C3CDE8"/>
            </a:solidFill>
            <a:prstDash val="solid"/>
          </a:ln>
        </p:spPr>
      </p:sp>
      <p:sp>
        <p:nvSpPr>
          <p:cNvPr id="51" name="Text 44"/>
          <p:cNvSpPr/>
          <p:nvPr/>
        </p:nvSpPr>
        <p:spPr>
          <a:xfrm>
            <a:off x="6949440" y="5138928"/>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15 Life on Land</a:t>
            </a:r>
            <a:endParaRPr lang="en-US" sz="750" dirty="0"/>
          </a:p>
        </p:txBody>
      </p:sp>
      <p:sp>
        <p:nvSpPr>
          <p:cNvPr id="52" name="Shape 45"/>
          <p:cNvSpPr/>
          <p:nvPr/>
        </p:nvSpPr>
        <p:spPr>
          <a:xfrm>
            <a:off x="8174736" y="5138928"/>
            <a:ext cx="1152144" cy="310896"/>
          </a:xfrm>
          <a:prstGeom prst="roundRect">
            <a:avLst>
              <a:gd name="adj" fmla="val 17647"/>
            </a:avLst>
          </a:prstGeom>
          <a:solidFill>
            <a:srgbClr val="FFFFFF"/>
          </a:solidFill>
          <a:ln w="12700">
            <a:solidFill>
              <a:srgbClr val="C3CDE8"/>
            </a:solidFill>
            <a:prstDash val="solid"/>
          </a:ln>
        </p:spPr>
      </p:sp>
      <p:sp>
        <p:nvSpPr>
          <p:cNvPr id="53" name="Text 46"/>
          <p:cNvSpPr/>
          <p:nvPr/>
        </p:nvSpPr>
        <p:spPr>
          <a:xfrm>
            <a:off x="8174736" y="5138928"/>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16 Peace &amp; Justice</a:t>
            </a:r>
            <a:endParaRPr lang="en-US" sz="750" dirty="0"/>
          </a:p>
        </p:txBody>
      </p:sp>
      <p:sp>
        <p:nvSpPr>
          <p:cNvPr id="54" name="Shape 47"/>
          <p:cNvSpPr/>
          <p:nvPr/>
        </p:nvSpPr>
        <p:spPr>
          <a:xfrm>
            <a:off x="9400032" y="5138928"/>
            <a:ext cx="1152144" cy="310896"/>
          </a:xfrm>
          <a:prstGeom prst="roundRect">
            <a:avLst>
              <a:gd name="adj" fmla="val 17647"/>
            </a:avLst>
          </a:prstGeom>
          <a:solidFill>
            <a:srgbClr val="FFFFFF"/>
          </a:solidFill>
          <a:ln w="12700">
            <a:solidFill>
              <a:srgbClr val="C3CDE8"/>
            </a:solidFill>
            <a:prstDash val="solid"/>
          </a:ln>
        </p:spPr>
      </p:sp>
      <p:sp>
        <p:nvSpPr>
          <p:cNvPr id="55" name="Text 48"/>
          <p:cNvSpPr/>
          <p:nvPr/>
        </p:nvSpPr>
        <p:spPr>
          <a:xfrm>
            <a:off x="9400032" y="5138928"/>
            <a:ext cx="1152144" cy="310896"/>
          </a:xfrm>
          <a:prstGeom prst="rect">
            <a:avLst/>
          </a:prstGeom>
          <a:noFill/>
          <a:ln/>
        </p:spPr>
        <p:txBody>
          <a:bodyPr wrap="square" lIns="0" tIns="0" rIns="0" bIns="0" rtlCol="0" anchor="ctr"/>
          <a:lstStyle/>
          <a:p>
            <a:pPr marL="0" indent="0" algn="ctr">
              <a:buNone/>
            </a:pPr>
            <a:r>
              <a:rPr lang="en-US" sz="750" dirty="0">
                <a:solidFill>
                  <a:srgbClr val="071A45"/>
                </a:solidFill>
                <a:latin typeface="Calibri" pitchFamily="34" charset="0"/>
                <a:ea typeface="Calibri" pitchFamily="34" charset="-122"/>
                <a:cs typeface="Calibri" pitchFamily="34" charset="-120"/>
              </a:rPr>
              <a:t>17 Partnerships</a:t>
            </a:r>
            <a:endParaRPr lang="en-US" sz="750" dirty="0"/>
          </a:p>
        </p:txBody>
      </p:sp>
      <p:sp>
        <p:nvSpPr>
          <p:cNvPr id="56" name="Text 49"/>
          <p:cNvSpPr/>
          <p:nvPr/>
        </p:nvSpPr>
        <p:spPr>
          <a:xfrm>
            <a:off x="822960" y="5596128"/>
            <a:ext cx="10515600" cy="292608"/>
          </a:xfrm>
          <a:prstGeom prst="rect">
            <a:avLst/>
          </a:prstGeom>
          <a:noFill/>
          <a:ln/>
        </p:spPr>
        <p:txBody>
          <a:bodyPr wrap="square" lIns="0" tIns="0" rIns="0" bIns="0" rtlCol="0" anchor="t"/>
          <a:lstStyle/>
          <a:p>
            <a:pPr marL="0" indent="0" algn="l">
              <a:lnSpc>
                <a:spcPct val="105000"/>
              </a:lnSpc>
              <a:buNone/>
            </a:pPr>
            <a:r>
              <a:rPr lang="en-US" sz="1200" dirty="0">
                <a:solidFill>
                  <a:srgbClr val="1C52C2"/>
                </a:solidFill>
                <a:latin typeface="Calibri" pitchFamily="34" charset="0"/>
                <a:ea typeface="Calibri" pitchFamily="34" charset="-122"/>
                <a:cs typeface="Calibri" pitchFamily="34" charset="-120"/>
              </a:rPr>
              <a:t>Our solution maps to  SDG [ 11 ]  because  it reduces traffic congestion and fuel wastage by helping vehicles find parking quickly, making urban infrastructure more sustainable</a:t>
            </a:r>
            <a:endParaRPr lang="en-US" sz="1200" dirty="0"/>
          </a:p>
        </p:txBody>
      </p:sp>
      <p:sp>
        <p:nvSpPr>
          <p:cNvPr id="57"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fld id="{2997CE17-3E82-4D03-8A72-C10CF14BBE4A}" type="datetime1">
              <a:rPr lang="en-IN" smtClean="0"/>
              <a:t>25-07-2026</a:t>
            </a:fld>
            <a:endParaRPr lang="en-IN"/>
          </a:p>
        </p:txBody>
      </p:sp>
      <p:sp>
        <p:nvSpPr>
          <p:cNvPr id="58"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59"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fld id="{ED2CEF3F-3531-4D77-BB92-F96027EFBB75}" type="slidenum">
              <a:rPr lang="en-IN" smtClean="0"/>
              <a:t>11</a:t>
            </a:fld>
            <a:endParaRPr lang="en-IN"/>
          </a:p>
        </p:txBody>
      </p:sp>
      <p:pic>
        <p:nvPicPr>
          <p:cNvPr id="5" name="Picture 4">
            <a:extLst>
              <a:ext uri="{FF2B5EF4-FFF2-40B4-BE49-F238E27FC236}">
                <a16:creationId xmlns:a16="http://schemas.microsoft.com/office/drawing/2014/main" id="{D0B2F201-B669-D1C7-0D03-468F555FC01D}"/>
              </a:ext>
            </a:extLst>
          </p:cNvPr>
          <p:cNvPicPr>
            <a:picLocks noChangeAspect="1"/>
          </p:cNvPicPr>
          <p:nvPr/>
        </p:nvPicPr>
        <p:blipFill>
          <a:blip r:embed="rId7"/>
          <a:stretch>
            <a:fillRect/>
          </a:stretch>
        </p:blipFill>
        <p:spPr>
          <a:xfrm>
            <a:off x="10363654" y="371776"/>
            <a:ext cx="1325426" cy="6035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02920" y="658368"/>
            <a:ext cx="11183112" cy="457200"/>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Team Contribution</a:t>
            </a:r>
            <a:endParaRPr lang="en-US" sz="2800" dirty="0"/>
          </a:p>
        </p:txBody>
      </p:sp>
      <p:sp>
        <p:nvSpPr>
          <p:cNvPr id="5" name="Text 2"/>
          <p:cNvSpPr/>
          <p:nvPr/>
        </p:nvSpPr>
        <p:spPr>
          <a:xfrm>
            <a:off x="502920" y="1115568"/>
            <a:ext cx="11183112" cy="292608"/>
          </a:xfrm>
          <a:prstGeom prst="rect">
            <a:avLst/>
          </a:prstGeom>
          <a:noFill/>
          <a:ln/>
        </p:spPr>
        <p:txBody>
          <a:bodyPr wrap="square" lIns="0" tIns="0" rIns="0" bIns="0" rtlCol="0" anchor="ctr"/>
          <a:lstStyle/>
          <a:p>
            <a:pPr marL="0" indent="0">
              <a:buNone/>
            </a:pPr>
            <a:r>
              <a:rPr lang="en-US" sz="1200" i="1" dirty="0">
                <a:solidFill>
                  <a:srgbClr val="FF0000"/>
                </a:solidFill>
                <a:latin typeface="Calibri" pitchFamily="34" charset="0"/>
                <a:ea typeface="Calibri" pitchFamily="34" charset="-122"/>
                <a:cs typeface="Calibri" pitchFamily="34" charset="-120"/>
              </a:rPr>
              <a:t>Every member should be able to speak to their part.</a:t>
            </a:r>
            <a:endParaRPr lang="en-US" sz="1200" i="1" dirty="0">
              <a:solidFill>
                <a:srgbClr val="FF0000"/>
              </a:solidFill>
            </a:endParaRPr>
          </a:p>
        </p:txBody>
      </p:sp>
      <p:sp>
        <p:nvSpPr>
          <p:cNvPr id="6" name="Shape 3"/>
          <p:cNvSpPr/>
          <p:nvPr/>
        </p:nvSpPr>
        <p:spPr>
          <a:xfrm>
            <a:off x="502920" y="1481328"/>
            <a:ext cx="11183112" cy="0"/>
          </a:xfrm>
          <a:prstGeom prst="line">
            <a:avLst/>
          </a:prstGeom>
          <a:noFill/>
          <a:ln w="12700">
            <a:solidFill>
              <a:srgbClr val="DFE4EE"/>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2130188775"/>
              </p:ext>
            </p:extLst>
          </p:nvPr>
        </p:nvGraphicFramePr>
        <p:xfrm>
          <a:off x="502920" y="1828800"/>
          <a:ext cx="11183112" cy="1755648"/>
        </p:xfrm>
        <a:graphic>
          <a:graphicData uri="http://schemas.openxmlformats.org/drawingml/2006/table">
            <a:tbl>
              <a:tblPr/>
              <a:tblGrid>
                <a:gridCol w="26517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gridCol w="1764792">
                  <a:extLst>
                    <a:ext uri="{9D8B030D-6E8A-4147-A177-3AD203B41FA5}">
                      <a16:colId xmlns:a16="http://schemas.microsoft.com/office/drawing/2014/main" val="20004"/>
                    </a:ext>
                  </a:extLst>
                </a:gridCol>
              </a:tblGrid>
              <a:tr h="43891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Member Name</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Roll No.</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Role in the Team</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Contribution to Ideation</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Next Task</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071A45"/>
                    </a:solidFill>
                  </a:tcPr>
                </a:tc>
                <a:extLst>
                  <a:ext uri="{0D108BD9-81ED-4DB2-BD59-A6C34878D82A}">
                    <a16:rowId xmlns:a16="http://schemas.microsoft.com/office/drawing/2014/main" val="10000"/>
                  </a:ext>
                </a:extLst>
              </a:tr>
              <a:tr h="438912">
                <a:tc>
                  <a:txBody>
                    <a:bodyPr/>
                    <a:lstStyle/>
                    <a:p>
                      <a:pPr marL="0" indent="0" algn="l">
                        <a:buNone/>
                      </a:pPr>
                      <a:r>
                        <a:rPr lang="en-US" sz="1200" dirty="0">
                          <a:solidFill>
                            <a:srgbClr val="5B6685"/>
                          </a:solidFill>
                          <a:latin typeface="Calibri" pitchFamily="34" charset="0"/>
                          <a:ea typeface="Calibri" pitchFamily="34" charset="-122"/>
                          <a:cs typeface="Calibri" pitchFamily="34" charset="-120"/>
                        </a:rPr>
                        <a:t>[ NISHANTH.K ]</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B6685"/>
                          </a:solidFill>
                          <a:latin typeface="Calibri" pitchFamily="34" charset="0"/>
                          <a:ea typeface="Calibri" pitchFamily="34" charset="-122"/>
                          <a:cs typeface="Calibri" pitchFamily="34" charset="-120"/>
                        </a:rPr>
                        <a:t>[ 25SY042 ]</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B6685"/>
                          </a:solidFill>
                          <a:latin typeface="Calibri" pitchFamily="34" charset="0"/>
                          <a:ea typeface="Calibri" pitchFamily="34" charset="-122"/>
                          <a:cs typeface="Calibri" pitchFamily="34" charset="-120"/>
                        </a:rPr>
                        <a:t>[ e.g., research lead ]</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B6685"/>
                          </a:solidFill>
                          <a:latin typeface="Calibri" pitchFamily="34" charset="0"/>
                          <a:ea typeface="Calibri" pitchFamily="34" charset="-122"/>
                          <a:cs typeface="Calibri" pitchFamily="34" charset="-120"/>
                        </a:rPr>
                        <a:t>[ what they did in this stage ]</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B6685"/>
                          </a:solidFill>
                          <a:latin typeface="Calibri" pitchFamily="34" charset="0"/>
                          <a:ea typeface="Calibri" pitchFamily="34" charset="-122"/>
                          <a:cs typeface="Calibri" pitchFamily="34" charset="-120"/>
                        </a:rPr>
                        <a:t>[ next ]</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200" dirty="0">
                          <a:solidFill>
                            <a:srgbClr val="5B6685"/>
                          </a:solidFill>
                          <a:latin typeface="Calibri" pitchFamily="34" charset="0"/>
                          <a:ea typeface="Calibri" pitchFamily="34" charset="-122"/>
                          <a:cs typeface="Calibri" pitchFamily="34" charset="-120"/>
                        </a:rPr>
                        <a:t>[ SRIDHARAN.R ]</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marL="0" indent="0" algn="l">
                        <a:buNone/>
                      </a:pPr>
                      <a:r>
                        <a:rPr lang="en-US" sz="1200" dirty="0">
                          <a:solidFill>
                            <a:srgbClr val="5B6685"/>
                          </a:solidFill>
                          <a:latin typeface="Calibri" pitchFamily="34" charset="0"/>
                          <a:ea typeface="Calibri" pitchFamily="34" charset="-122"/>
                          <a:cs typeface="Calibri" pitchFamily="34" charset="-120"/>
                        </a:rPr>
                        <a:t>[ 25SY050 ]</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marL="0" indent="0" algn="l">
                        <a:buNone/>
                      </a:pPr>
                      <a:r>
                        <a:rPr lang="en-US" sz="1200" dirty="0">
                          <a:solidFill>
                            <a:srgbClr val="5B6685"/>
                          </a:solidFill>
                          <a:latin typeface="Calibri" pitchFamily="34" charset="0"/>
                          <a:ea typeface="Calibri" pitchFamily="34" charset="-122"/>
                          <a:cs typeface="Calibri" pitchFamily="34" charset="-120"/>
                        </a:rPr>
                        <a:t>[ e.g., research lead ]</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marL="0" indent="0" algn="l">
                        <a:buNone/>
                      </a:pPr>
                      <a:r>
                        <a:rPr lang="en-US" sz="1200" dirty="0">
                          <a:solidFill>
                            <a:srgbClr val="5B6685"/>
                          </a:solidFill>
                          <a:latin typeface="Calibri" pitchFamily="34" charset="0"/>
                          <a:ea typeface="Calibri" pitchFamily="34" charset="-122"/>
                          <a:cs typeface="Calibri" pitchFamily="34" charset="-120"/>
                        </a:rPr>
                        <a:t>[ what they did in this stage ]</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tc>
                  <a:txBody>
                    <a:bodyPr/>
                    <a:lstStyle/>
                    <a:p>
                      <a:pPr marL="0" indent="0" algn="l">
                        <a:buNone/>
                      </a:pPr>
                      <a:r>
                        <a:rPr lang="en-US" sz="1200" dirty="0">
                          <a:solidFill>
                            <a:srgbClr val="5B6685"/>
                          </a:solidFill>
                          <a:latin typeface="Calibri" pitchFamily="34" charset="0"/>
                          <a:ea typeface="Calibri" pitchFamily="34" charset="-122"/>
                          <a:cs typeface="Calibri" pitchFamily="34" charset="-120"/>
                        </a:rPr>
                        <a:t>[ next ]</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5F7FB"/>
                    </a:solidFill>
                  </a:tcPr>
                </a:tc>
                <a:extLst>
                  <a:ext uri="{0D108BD9-81ED-4DB2-BD59-A6C34878D82A}">
                    <a16:rowId xmlns:a16="http://schemas.microsoft.com/office/drawing/2014/main" val="10002"/>
                  </a:ext>
                </a:extLst>
              </a:tr>
              <a:tr h="438912">
                <a:tc>
                  <a:txBody>
                    <a:bodyPr/>
                    <a:lstStyle/>
                    <a:p>
                      <a:pPr marL="0" indent="0" algn="l">
                        <a:buNone/>
                      </a:pPr>
                      <a:r>
                        <a:rPr lang="en-US" sz="1200" dirty="0">
                          <a:solidFill>
                            <a:srgbClr val="5B6685"/>
                          </a:solidFill>
                          <a:latin typeface="Calibri" pitchFamily="34" charset="0"/>
                          <a:ea typeface="Calibri" pitchFamily="34" charset="-122"/>
                          <a:cs typeface="Calibri" pitchFamily="34" charset="-120"/>
                        </a:rPr>
                        <a:t>[ Name ]</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B6685"/>
                          </a:solidFill>
                          <a:latin typeface="Calibri" pitchFamily="34" charset="0"/>
                          <a:ea typeface="Calibri" pitchFamily="34" charset="-122"/>
                          <a:cs typeface="Calibri" pitchFamily="34" charset="-120"/>
                        </a:rPr>
                        <a:t>[ Roll No ]</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B6685"/>
                          </a:solidFill>
                          <a:latin typeface="Calibri" pitchFamily="34" charset="0"/>
                          <a:ea typeface="Calibri" pitchFamily="34" charset="-122"/>
                          <a:cs typeface="Calibri" pitchFamily="34" charset="-120"/>
                        </a:rPr>
                        <a:t>[ e.g., research lead ]</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B6685"/>
                          </a:solidFill>
                          <a:latin typeface="Calibri" pitchFamily="34" charset="0"/>
                          <a:ea typeface="Calibri" pitchFamily="34" charset="-122"/>
                          <a:cs typeface="Calibri" pitchFamily="34" charset="-120"/>
                        </a:rPr>
                        <a:t>[ what they did in this stage ]</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B6685"/>
                          </a:solidFill>
                          <a:latin typeface="Calibri" pitchFamily="34" charset="0"/>
                          <a:ea typeface="Calibri" pitchFamily="34" charset="-122"/>
                          <a:cs typeface="Calibri" pitchFamily="34" charset="-120"/>
                        </a:rPr>
                        <a:t>[ next ]</a:t>
                      </a:r>
                      <a:endParaRPr lang="en-US" sz="1200" dirty="0">
                        <a:latin typeface="Calibri" charset="0"/>
                        <a:ea typeface="Calibri" charset="0"/>
                        <a:cs typeface="Calibri" charset="0"/>
                      </a:endParaRPr>
                    </a:p>
                  </a:txBody>
                  <a:tcPr marL="64008" marR="64008" marT="64008" marB="64008" anchor="ctr">
                    <a:lnL w="12700" cap="flat" cmpd="sng" algn="ctr">
                      <a:solidFill>
                        <a:srgbClr val="DFE4EE"/>
                      </a:solidFill>
                      <a:prstDash val="solid"/>
                      <a:round/>
                      <a:headEnd type="none" w="med" len="med"/>
                      <a:tailEnd type="none" w="med" len="med"/>
                    </a:lnL>
                    <a:lnR w="12700" cap="flat" cmpd="sng" algn="ctr">
                      <a:solidFill>
                        <a:srgbClr val="DFE4EE"/>
                      </a:solidFill>
                      <a:prstDash val="solid"/>
                      <a:round/>
                      <a:headEnd type="none" w="med" len="med"/>
                      <a:tailEnd type="none" w="med" len="med"/>
                    </a:lnR>
                    <a:lnT w="12700" cap="flat" cmpd="sng" algn="ctr">
                      <a:solidFill>
                        <a:srgbClr val="DFE4EE"/>
                      </a:solidFill>
                      <a:prstDash val="solid"/>
                      <a:round/>
                      <a:headEnd type="none" w="med" len="med"/>
                      <a:tailEnd type="none" w="med" len="med"/>
                    </a:lnT>
                    <a:lnB w="12700" cap="flat" cmpd="sng" algn="ctr">
                      <a:solidFill>
                        <a:srgbClr val="DFE4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8"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fld id="{F8DEE351-3605-4C13-B2E8-8969E14F4CF0}" type="datetime1">
              <a:rPr lang="en-IN" smtClean="0"/>
              <a:t>25-07-2026</a:t>
            </a:fld>
            <a:endParaRPr lang="en-IN"/>
          </a:p>
        </p:txBody>
      </p:sp>
      <p:sp>
        <p:nvSpPr>
          <p:cNvPr id="19"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20"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fld id="{1D469A99-2085-4A27-959A-DCBE265A244E}" type="slidenum">
              <a:rPr lang="en-IN" smtClean="0"/>
              <a:t>12</a:t>
            </a:fld>
            <a:endParaRPr lang="en-IN"/>
          </a:p>
        </p:txBody>
      </p:sp>
      <p:pic>
        <p:nvPicPr>
          <p:cNvPr id="7" name="Picture 6">
            <a:extLst>
              <a:ext uri="{FF2B5EF4-FFF2-40B4-BE49-F238E27FC236}">
                <a16:creationId xmlns:a16="http://schemas.microsoft.com/office/drawing/2014/main" id="{EB3CBBC7-3D19-4274-94C8-1A9CBF2DC55C}"/>
              </a:ext>
            </a:extLst>
          </p:cNvPr>
          <p:cNvPicPr>
            <a:picLocks noChangeAspect="1"/>
          </p:cNvPicPr>
          <p:nvPr/>
        </p:nvPicPr>
        <p:blipFill>
          <a:blip r:embed="rId4"/>
          <a:stretch>
            <a:fillRect/>
          </a:stretch>
        </p:blipFill>
        <p:spPr>
          <a:xfrm>
            <a:off x="10363654" y="371776"/>
            <a:ext cx="1325426" cy="60350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457200" y="237744"/>
            <a:ext cx="1024128" cy="283464"/>
          </a:xfrm>
          <a:prstGeom prst="rect">
            <a:avLst/>
          </a:prstGeom>
        </p:spPr>
      </p:pic>
      <p:sp>
        <p:nvSpPr>
          <p:cNvPr id="4" name="Text 1"/>
          <p:cNvSpPr/>
          <p:nvPr/>
        </p:nvSpPr>
        <p:spPr>
          <a:xfrm>
            <a:off x="502920" y="658368"/>
            <a:ext cx="11183112" cy="457200"/>
          </a:xfrm>
          <a:prstGeom prst="rect">
            <a:avLst/>
          </a:prstGeom>
          <a:noFill/>
          <a:ln/>
        </p:spPr>
        <p:txBody>
          <a:bodyPr wrap="square" lIns="0" tIns="0" rIns="0" bIns="0" rtlCol="0" anchor="ctr"/>
          <a:lstStyle/>
          <a:p>
            <a:pPr marL="0" indent="0">
              <a:buNone/>
            </a:pPr>
            <a:r>
              <a:rPr lang="en-US" sz="2800" b="1" dirty="0">
                <a:solidFill>
                  <a:srgbClr val="071A45"/>
                </a:solidFill>
                <a:latin typeface="Calibri" pitchFamily="34" charset="0"/>
                <a:ea typeface="Calibri" pitchFamily="34" charset="-122"/>
                <a:cs typeface="Calibri" pitchFamily="34" charset="-120"/>
              </a:rPr>
              <a:t>Roadmap</a:t>
            </a:r>
            <a:endParaRPr lang="en-US" sz="2800" dirty="0"/>
          </a:p>
        </p:txBody>
      </p:sp>
      <p:sp>
        <p:nvSpPr>
          <p:cNvPr id="5" name="Text 2"/>
          <p:cNvSpPr/>
          <p:nvPr/>
        </p:nvSpPr>
        <p:spPr>
          <a:xfrm>
            <a:off x="502920" y="1115568"/>
            <a:ext cx="11183112" cy="292608"/>
          </a:xfrm>
          <a:prstGeom prst="rect">
            <a:avLst/>
          </a:prstGeom>
          <a:noFill/>
          <a:ln/>
        </p:spPr>
        <p:txBody>
          <a:bodyPr wrap="square" lIns="0" tIns="0" rIns="0" bIns="0" rtlCol="0" anchor="ctr"/>
          <a:lstStyle/>
          <a:p>
            <a:pPr marL="0" indent="0">
              <a:buNone/>
            </a:pPr>
            <a:r>
              <a:rPr lang="en-US" sz="1200" i="1" dirty="0">
                <a:solidFill>
                  <a:srgbClr val="FF0000"/>
                </a:solidFill>
                <a:latin typeface="Calibri" pitchFamily="34" charset="0"/>
                <a:ea typeface="Calibri" pitchFamily="34" charset="-122"/>
                <a:cs typeface="Calibri" pitchFamily="34" charset="-120"/>
              </a:rPr>
              <a:t>What happens between today and the Prototype review. - Sample</a:t>
            </a:r>
            <a:endParaRPr lang="en-US" sz="1200" i="1" dirty="0">
              <a:solidFill>
                <a:srgbClr val="FF0000"/>
              </a:solidFill>
            </a:endParaRPr>
          </a:p>
        </p:txBody>
      </p:sp>
      <p:sp>
        <p:nvSpPr>
          <p:cNvPr id="6" name="Shape 3"/>
          <p:cNvSpPr/>
          <p:nvPr/>
        </p:nvSpPr>
        <p:spPr>
          <a:xfrm>
            <a:off x="502920" y="1481328"/>
            <a:ext cx="11183112" cy="0"/>
          </a:xfrm>
          <a:prstGeom prst="line">
            <a:avLst/>
          </a:prstGeom>
          <a:noFill/>
          <a:ln w="12700">
            <a:solidFill>
              <a:srgbClr val="DFE4EE"/>
            </a:solidFill>
            <a:prstDash val="solid"/>
          </a:ln>
        </p:spPr>
      </p:sp>
      <p:sp>
        <p:nvSpPr>
          <p:cNvPr id="7" name="Shape 4"/>
          <p:cNvSpPr/>
          <p:nvPr/>
        </p:nvSpPr>
        <p:spPr>
          <a:xfrm>
            <a:off x="1005840" y="3246120"/>
            <a:ext cx="10149840" cy="0"/>
          </a:xfrm>
          <a:prstGeom prst="line">
            <a:avLst/>
          </a:prstGeom>
          <a:noFill/>
          <a:ln w="25400">
            <a:solidFill>
              <a:srgbClr val="C3CDE8"/>
            </a:solidFill>
            <a:prstDash val="solid"/>
          </a:ln>
        </p:spPr>
      </p:sp>
      <p:sp>
        <p:nvSpPr>
          <p:cNvPr id="8" name="Shape 5"/>
          <p:cNvSpPr/>
          <p:nvPr/>
        </p:nvSpPr>
        <p:spPr>
          <a:xfrm>
            <a:off x="2039112" y="3054096"/>
            <a:ext cx="384048" cy="384048"/>
          </a:xfrm>
          <a:prstGeom prst="ellipse">
            <a:avLst/>
          </a:prstGeom>
          <a:solidFill>
            <a:srgbClr val="071A45"/>
          </a:solidFill>
          <a:ln w="12700">
            <a:solidFill>
              <a:srgbClr val="071A45"/>
            </a:solidFill>
            <a:prstDash val="solid"/>
          </a:ln>
        </p:spPr>
      </p:sp>
      <p:sp>
        <p:nvSpPr>
          <p:cNvPr id="9" name="Text 6"/>
          <p:cNvSpPr/>
          <p:nvPr/>
        </p:nvSpPr>
        <p:spPr>
          <a:xfrm>
            <a:off x="2039112" y="305409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7"/>
          <p:cNvSpPr/>
          <p:nvPr/>
        </p:nvSpPr>
        <p:spPr>
          <a:xfrm>
            <a:off x="868680" y="1783080"/>
            <a:ext cx="2651760" cy="1188720"/>
          </a:xfrm>
          <a:prstGeom prst="roundRect">
            <a:avLst>
              <a:gd name="adj" fmla="val 6154"/>
            </a:avLst>
          </a:prstGeom>
          <a:solidFill>
            <a:srgbClr val="FFF6DD"/>
          </a:solidFill>
          <a:ln w="12700">
            <a:solidFill>
              <a:srgbClr val="F2D98A"/>
            </a:solidFill>
            <a:prstDash val="solid"/>
          </a:ln>
        </p:spPr>
      </p:sp>
      <p:sp>
        <p:nvSpPr>
          <p:cNvPr id="11" name="Text 8"/>
          <p:cNvSpPr/>
          <p:nvPr/>
        </p:nvSpPr>
        <p:spPr>
          <a:xfrm>
            <a:off x="1097280" y="1947672"/>
            <a:ext cx="2194560" cy="237744"/>
          </a:xfrm>
          <a:prstGeom prst="rect">
            <a:avLst/>
          </a:prstGeom>
          <a:noFill/>
          <a:ln/>
        </p:spPr>
        <p:txBody>
          <a:bodyPr wrap="square" lIns="0" tIns="0" rIns="0" bIns="0" rtlCol="0" anchor="ctr"/>
          <a:lstStyle/>
          <a:p>
            <a:pPr marL="0" indent="0" algn="l">
              <a:buNone/>
            </a:pPr>
            <a:r>
              <a:rPr lang="en-US" sz="950" b="1" kern="0" spc="60" dirty="0">
                <a:solidFill>
                  <a:srgbClr val="7A5E16"/>
                </a:solidFill>
                <a:latin typeface="Calibri" pitchFamily="34" charset="0"/>
                <a:ea typeface="Calibri" pitchFamily="34" charset="-122"/>
                <a:cs typeface="Calibri" pitchFamily="34" charset="-120"/>
              </a:rPr>
              <a:t>STEP 1</a:t>
            </a:r>
            <a:endParaRPr lang="en-US" sz="950" dirty="0"/>
          </a:p>
        </p:txBody>
      </p:sp>
      <p:sp>
        <p:nvSpPr>
          <p:cNvPr id="12" name="Text 9"/>
          <p:cNvSpPr/>
          <p:nvPr/>
        </p:nvSpPr>
        <p:spPr>
          <a:xfrm>
            <a:off x="1097280" y="2221992"/>
            <a:ext cx="2194560" cy="274320"/>
          </a:xfrm>
          <a:prstGeom prst="rect">
            <a:avLst/>
          </a:prstGeom>
          <a:noFill/>
          <a:ln/>
        </p:spPr>
        <p:txBody>
          <a:bodyPr wrap="square" lIns="0" tIns="0" rIns="0" bIns="0" rtlCol="0" anchor="t"/>
          <a:lstStyle/>
          <a:p>
            <a:pPr marL="0" indent="0" algn="l">
              <a:lnSpc>
                <a:spcPct val="105000"/>
              </a:lnSpc>
              <a:buNone/>
            </a:pPr>
            <a:r>
              <a:rPr lang="en-US" sz="1300" dirty="0">
                <a:solidFill>
                  <a:srgbClr val="7A5E16"/>
                </a:solidFill>
                <a:latin typeface="Calibri" pitchFamily="34" charset="0"/>
                <a:ea typeface="Calibri" pitchFamily="34" charset="-122"/>
                <a:cs typeface="Calibri" pitchFamily="34" charset="-120"/>
              </a:rPr>
              <a:t>Finalise design</a:t>
            </a:r>
            <a:endParaRPr lang="en-US" sz="1300" dirty="0"/>
          </a:p>
        </p:txBody>
      </p:sp>
      <p:sp>
        <p:nvSpPr>
          <p:cNvPr id="13" name="Text 10"/>
          <p:cNvSpPr/>
          <p:nvPr/>
        </p:nvSpPr>
        <p:spPr>
          <a:xfrm>
            <a:off x="1097280" y="2560320"/>
            <a:ext cx="2194560" cy="274320"/>
          </a:xfrm>
          <a:prstGeom prst="rect">
            <a:avLst/>
          </a:prstGeom>
          <a:noFill/>
          <a:ln/>
        </p:spPr>
        <p:txBody>
          <a:bodyPr wrap="square" lIns="0" tIns="0" rIns="0" bIns="0" rtlCol="0" anchor="t"/>
          <a:lstStyle/>
          <a:p>
            <a:pPr marL="0" indent="0" algn="l">
              <a:lnSpc>
                <a:spcPct val="105000"/>
              </a:lnSpc>
              <a:buNone/>
            </a:pPr>
            <a:r>
              <a:rPr lang="en-US" sz="1000" dirty="0">
                <a:solidFill>
                  <a:srgbClr val="7A5E16"/>
                </a:solidFill>
                <a:latin typeface="Calibri" pitchFamily="34" charset="0"/>
                <a:ea typeface="Calibri" pitchFamily="34" charset="-122"/>
                <a:cs typeface="Calibri" pitchFamily="34" charset="-120"/>
              </a:rPr>
              <a:t>Finalize sensor layout &amp; circuit design — Week 1</a:t>
            </a:r>
            <a:endParaRPr lang="en-US" sz="1000" dirty="0"/>
          </a:p>
        </p:txBody>
      </p:sp>
      <p:sp>
        <p:nvSpPr>
          <p:cNvPr id="14" name="Shape 11"/>
          <p:cNvSpPr/>
          <p:nvPr/>
        </p:nvSpPr>
        <p:spPr>
          <a:xfrm>
            <a:off x="4828032" y="3054096"/>
            <a:ext cx="384048" cy="384048"/>
          </a:xfrm>
          <a:prstGeom prst="ellipse">
            <a:avLst/>
          </a:prstGeom>
          <a:solidFill>
            <a:srgbClr val="071A45"/>
          </a:solidFill>
          <a:ln w="12700">
            <a:solidFill>
              <a:srgbClr val="071A45"/>
            </a:solidFill>
            <a:prstDash val="solid"/>
          </a:ln>
        </p:spPr>
      </p:sp>
      <p:sp>
        <p:nvSpPr>
          <p:cNvPr id="15" name="Text 12"/>
          <p:cNvSpPr/>
          <p:nvPr/>
        </p:nvSpPr>
        <p:spPr>
          <a:xfrm>
            <a:off x="4828032" y="305409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Shape 13"/>
          <p:cNvSpPr/>
          <p:nvPr/>
        </p:nvSpPr>
        <p:spPr>
          <a:xfrm>
            <a:off x="3657600" y="3611880"/>
            <a:ext cx="2651760" cy="1188720"/>
          </a:xfrm>
          <a:prstGeom prst="roundRect">
            <a:avLst>
              <a:gd name="adj" fmla="val 6154"/>
            </a:avLst>
          </a:prstGeom>
          <a:solidFill>
            <a:srgbClr val="E9EFFC"/>
          </a:solidFill>
          <a:ln w="12700">
            <a:solidFill>
              <a:srgbClr val="C3CDE8"/>
            </a:solidFill>
            <a:prstDash val="solid"/>
          </a:ln>
        </p:spPr>
      </p:sp>
      <p:sp>
        <p:nvSpPr>
          <p:cNvPr id="17" name="Text 14"/>
          <p:cNvSpPr/>
          <p:nvPr/>
        </p:nvSpPr>
        <p:spPr>
          <a:xfrm>
            <a:off x="3886200" y="3776472"/>
            <a:ext cx="2194560" cy="237744"/>
          </a:xfrm>
          <a:prstGeom prst="rect">
            <a:avLst/>
          </a:prstGeom>
          <a:noFill/>
          <a:ln/>
        </p:spPr>
        <p:txBody>
          <a:bodyPr wrap="square" lIns="0" tIns="0" rIns="0" bIns="0" rtlCol="0" anchor="ctr"/>
          <a:lstStyle/>
          <a:p>
            <a:pPr marL="0" indent="0" algn="l">
              <a:buNone/>
            </a:pPr>
            <a:r>
              <a:rPr lang="en-US" sz="950" b="1" kern="0" spc="60" dirty="0">
                <a:solidFill>
                  <a:srgbClr val="071A45"/>
                </a:solidFill>
                <a:latin typeface="Calibri" pitchFamily="34" charset="0"/>
                <a:ea typeface="Calibri" pitchFamily="34" charset="-122"/>
                <a:cs typeface="Calibri" pitchFamily="34" charset="-120"/>
              </a:rPr>
              <a:t>STEP 2</a:t>
            </a:r>
            <a:endParaRPr lang="en-US" sz="950" dirty="0"/>
          </a:p>
        </p:txBody>
      </p:sp>
      <p:sp>
        <p:nvSpPr>
          <p:cNvPr id="18" name="Text 15"/>
          <p:cNvSpPr/>
          <p:nvPr/>
        </p:nvSpPr>
        <p:spPr>
          <a:xfrm>
            <a:off x="3886200" y="4050792"/>
            <a:ext cx="2194560" cy="274320"/>
          </a:xfrm>
          <a:prstGeom prst="rect">
            <a:avLst/>
          </a:prstGeom>
          <a:noFill/>
          <a:ln/>
        </p:spPr>
        <p:txBody>
          <a:bodyPr wrap="square" lIns="0" tIns="0" rIns="0" bIns="0" rtlCol="0" anchor="t"/>
          <a:lstStyle/>
          <a:p>
            <a:pPr marL="0" indent="0" algn="l">
              <a:lnSpc>
                <a:spcPct val="105000"/>
              </a:lnSpc>
              <a:buNone/>
            </a:pPr>
            <a:r>
              <a:rPr lang="en-US" sz="1300" dirty="0">
                <a:solidFill>
                  <a:srgbClr val="071A45"/>
                </a:solidFill>
                <a:latin typeface="Calibri" pitchFamily="34" charset="0"/>
                <a:ea typeface="Calibri" pitchFamily="34" charset="-122"/>
                <a:cs typeface="Calibri" pitchFamily="34" charset="-120"/>
              </a:rPr>
              <a:t>Source materials</a:t>
            </a:r>
            <a:endParaRPr lang="en-US" sz="1300" dirty="0"/>
          </a:p>
        </p:txBody>
      </p:sp>
      <p:sp>
        <p:nvSpPr>
          <p:cNvPr id="19" name="Text 16"/>
          <p:cNvSpPr/>
          <p:nvPr/>
        </p:nvSpPr>
        <p:spPr>
          <a:xfrm>
            <a:off x="3886200" y="4389120"/>
            <a:ext cx="2194560" cy="274320"/>
          </a:xfrm>
          <a:prstGeom prst="rect">
            <a:avLst/>
          </a:prstGeom>
          <a:noFill/>
          <a:ln/>
        </p:spPr>
        <p:txBody>
          <a:bodyPr wrap="square" lIns="0" tIns="0" rIns="0" bIns="0" rtlCol="0" anchor="t"/>
          <a:lstStyle/>
          <a:p>
            <a:pPr marL="0" indent="0" algn="l">
              <a:lnSpc>
                <a:spcPct val="105000"/>
              </a:lnSpc>
              <a:buNone/>
            </a:pPr>
            <a:r>
              <a:rPr lang="en-US" sz="1000" dirty="0">
                <a:solidFill>
                  <a:srgbClr val="071A45"/>
                </a:solidFill>
                <a:latin typeface="Calibri" pitchFamily="34" charset="0"/>
                <a:ea typeface="Calibri" pitchFamily="34" charset="-122"/>
                <a:cs typeface="Calibri" pitchFamily="34" charset="-120"/>
              </a:rPr>
              <a:t>Procure sensors, microcontroller, servo motor &amp; display — Week 2</a:t>
            </a:r>
            <a:endParaRPr lang="en-US" sz="1000" dirty="0"/>
          </a:p>
        </p:txBody>
      </p:sp>
      <p:sp>
        <p:nvSpPr>
          <p:cNvPr id="20" name="Shape 17"/>
          <p:cNvSpPr/>
          <p:nvPr/>
        </p:nvSpPr>
        <p:spPr>
          <a:xfrm>
            <a:off x="7616952" y="3054096"/>
            <a:ext cx="384048" cy="384048"/>
          </a:xfrm>
          <a:prstGeom prst="ellipse">
            <a:avLst/>
          </a:prstGeom>
          <a:solidFill>
            <a:srgbClr val="071A45"/>
          </a:solidFill>
          <a:ln w="12700">
            <a:solidFill>
              <a:srgbClr val="071A45"/>
            </a:solidFill>
            <a:prstDash val="solid"/>
          </a:ln>
        </p:spPr>
      </p:sp>
      <p:sp>
        <p:nvSpPr>
          <p:cNvPr id="21" name="Text 18"/>
          <p:cNvSpPr/>
          <p:nvPr/>
        </p:nvSpPr>
        <p:spPr>
          <a:xfrm>
            <a:off x="7616952" y="305409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Shape 19"/>
          <p:cNvSpPr/>
          <p:nvPr/>
        </p:nvSpPr>
        <p:spPr>
          <a:xfrm>
            <a:off x="6446520" y="1783080"/>
            <a:ext cx="2651760" cy="1188720"/>
          </a:xfrm>
          <a:prstGeom prst="roundRect">
            <a:avLst>
              <a:gd name="adj" fmla="val 6154"/>
            </a:avLst>
          </a:prstGeom>
          <a:solidFill>
            <a:srgbClr val="F5F7FB"/>
          </a:solidFill>
          <a:ln w="12700">
            <a:solidFill>
              <a:srgbClr val="DFE4EE"/>
            </a:solidFill>
            <a:prstDash val="solid"/>
          </a:ln>
        </p:spPr>
      </p:sp>
      <p:sp>
        <p:nvSpPr>
          <p:cNvPr id="23" name="Text 20"/>
          <p:cNvSpPr/>
          <p:nvPr/>
        </p:nvSpPr>
        <p:spPr>
          <a:xfrm>
            <a:off x="6675120" y="1947672"/>
            <a:ext cx="2194560" cy="237744"/>
          </a:xfrm>
          <a:prstGeom prst="rect">
            <a:avLst/>
          </a:prstGeom>
          <a:noFill/>
          <a:ln/>
        </p:spPr>
        <p:txBody>
          <a:bodyPr wrap="square" lIns="0" tIns="0" rIns="0" bIns="0" rtlCol="0" anchor="ctr"/>
          <a:lstStyle/>
          <a:p>
            <a:pPr marL="0" indent="0" algn="l">
              <a:buNone/>
            </a:pPr>
            <a:r>
              <a:rPr lang="en-US" sz="950" b="1" kern="0" spc="60" dirty="0">
                <a:solidFill>
                  <a:srgbClr val="5B6685"/>
                </a:solidFill>
                <a:latin typeface="Calibri" pitchFamily="34" charset="0"/>
                <a:ea typeface="Calibri" pitchFamily="34" charset="-122"/>
                <a:cs typeface="Calibri" pitchFamily="34" charset="-120"/>
              </a:rPr>
              <a:t>STEP 3</a:t>
            </a:r>
            <a:endParaRPr lang="en-US" sz="950" dirty="0"/>
          </a:p>
        </p:txBody>
      </p:sp>
      <p:sp>
        <p:nvSpPr>
          <p:cNvPr id="24" name="Text 21"/>
          <p:cNvSpPr/>
          <p:nvPr/>
        </p:nvSpPr>
        <p:spPr>
          <a:xfrm>
            <a:off x="6675120" y="2221992"/>
            <a:ext cx="2194560" cy="274320"/>
          </a:xfrm>
          <a:prstGeom prst="rect">
            <a:avLst/>
          </a:prstGeom>
          <a:noFill/>
          <a:ln/>
        </p:spPr>
        <p:txBody>
          <a:bodyPr wrap="square" lIns="0" tIns="0" rIns="0" bIns="0" rtlCol="0" anchor="t"/>
          <a:lstStyle/>
          <a:p>
            <a:pPr marL="0" indent="0" algn="l">
              <a:lnSpc>
                <a:spcPct val="105000"/>
              </a:lnSpc>
              <a:buNone/>
            </a:pPr>
            <a:r>
              <a:rPr lang="en-US" sz="1300" dirty="0">
                <a:solidFill>
                  <a:srgbClr val="5B6685"/>
                </a:solidFill>
                <a:latin typeface="Calibri" pitchFamily="34" charset="0"/>
                <a:ea typeface="Calibri" pitchFamily="34" charset="-122"/>
                <a:cs typeface="Calibri" pitchFamily="34" charset="-120"/>
              </a:rPr>
              <a:t>Build first version</a:t>
            </a:r>
            <a:endParaRPr lang="en-US" sz="1300" dirty="0"/>
          </a:p>
        </p:txBody>
      </p:sp>
      <p:sp>
        <p:nvSpPr>
          <p:cNvPr id="25" name="Text 22"/>
          <p:cNvSpPr/>
          <p:nvPr/>
        </p:nvSpPr>
        <p:spPr>
          <a:xfrm>
            <a:off x="6675120" y="2560320"/>
            <a:ext cx="2194560" cy="274320"/>
          </a:xfrm>
          <a:prstGeom prst="rect">
            <a:avLst/>
          </a:prstGeom>
          <a:noFill/>
          <a:ln/>
        </p:spPr>
        <p:txBody>
          <a:bodyPr wrap="square" lIns="0" tIns="0" rIns="0" bIns="0" rtlCol="0" anchor="t"/>
          <a:lstStyle/>
          <a:p>
            <a:pPr marL="0" indent="0" algn="l">
              <a:lnSpc>
                <a:spcPct val="105000"/>
              </a:lnSpc>
              <a:buNone/>
            </a:pPr>
            <a:r>
              <a:rPr lang="en-US" sz="1000" dirty="0">
                <a:solidFill>
                  <a:srgbClr val="5B6685"/>
                </a:solidFill>
                <a:latin typeface="Calibri" pitchFamily="34" charset="0"/>
                <a:ea typeface="Calibri" pitchFamily="34" charset="-122"/>
                <a:cs typeface="Calibri" pitchFamily="34" charset="-120"/>
              </a:rPr>
              <a:t>Assemble and program the prototype with test slots — Week 3–4</a:t>
            </a:r>
            <a:endParaRPr lang="en-US" sz="1000" dirty="0"/>
          </a:p>
        </p:txBody>
      </p:sp>
      <p:sp>
        <p:nvSpPr>
          <p:cNvPr id="26" name="Shape 23"/>
          <p:cNvSpPr/>
          <p:nvPr/>
        </p:nvSpPr>
        <p:spPr>
          <a:xfrm>
            <a:off x="10405872" y="3054096"/>
            <a:ext cx="384048" cy="384048"/>
          </a:xfrm>
          <a:prstGeom prst="ellipse">
            <a:avLst/>
          </a:prstGeom>
          <a:solidFill>
            <a:srgbClr val="071A45"/>
          </a:solidFill>
          <a:ln w="12700">
            <a:solidFill>
              <a:srgbClr val="071A45"/>
            </a:solidFill>
            <a:prstDash val="solid"/>
          </a:ln>
        </p:spPr>
      </p:sp>
      <p:sp>
        <p:nvSpPr>
          <p:cNvPr id="27" name="Text 24"/>
          <p:cNvSpPr/>
          <p:nvPr/>
        </p:nvSpPr>
        <p:spPr>
          <a:xfrm>
            <a:off x="10405872" y="305409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Shape 25"/>
          <p:cNvSpPr/>
          <p:nvPr/>
        </p:nvSpPr>
        <p:spPr>
          <a:xfrm>
            <a:off x="9235440" y="3611880"/>
            <a:ext cx="2651760" cy="1188720"/>
          </a:xfrm>
          <a:prstGeom prst="roundRect">
            <a:avLst>
              <a:gd name="adj" fmla="val 6154"/>
            </a:avLst>
          </a:prstGeom>
          <a:solidFill>
            <a:srgbClr val="E9EFFC"/>
          </a:solidFill>
          <a:ln w="12700">
            <a:solidFill>
              <a:srgbClr val="C3CDE8"/>
            </a:solidFill>
            <a:prstDash val="solid"/>
          </a:ln>
        </p:spPr>
      </p:sp>
      <p:sp>
        <p:nvSpPr>
          <p:cNvPr id="29" name="Text 26"/>
          <p:cNvSpPr/>
          <p:nvPr/>
        </p:nvSpPr>
        <p:spPr>
          <a:xfrm>
            <a:off x="9464040" y="3776472"/>
            <a:ext cx="2194560" cy="237744"/>
          </a:xfrm>
          <a:prstGeom prst="rect">
            <a:avLst/>
          </a:prstGeom>
          <a:noFill/>
          <a:ln/>
        </p:spPr>
        <p:txBody>
          <a:bodyPr wrap="square" lIns="0" tIns="0" rIns="0" bIns="0" rtlCol="0" anchor="ctr"/>
          <a:lstStyle/>
          <a:p>
            <a:pPr marL="0" indent="0" algn="l">
              <a:buNone/>
            </a:pPr>
            <a:r>
              <a:rPr lang="en-US" sz="950" b="1" kern="0" spc="60" dirty="0">
                <a:solidFill>
                  <a:srgbClr val="071A45"/>
                </a:solidFill>
                <a:latin typeface="Calibri" pitchFamily="34" charset="0"/>
                <a:ea typeface="Calibri" pitchFamily="34" charset="-122"/>
                <a:cs typeface="Calibri" pitchFamily="34" charset="-120"/>
              </a:rPr>
              <a:t>STEP 4</a:t>
            </a:r>
            <a:endParaRPr lang="en-US" sz="950" dirty="0"/>
          </a:p>
        </p:txBody>
      </p:sp>
      <p:sp>
        <p:nvSpPr>
          <p:cNvPr id="30" name="Text 27"/>
          <p:cNvSpPr/>
          <p:nvPr/>
        </p:nvSpPr>
        <p:spPr>
          <a:xfrm>
            <a:off x="9464040" y="4050792"/>
            <a:ext cx="2194560" cy="274320"/>
          </a:xfrm>
          <a:prstGeom prst="rect">
            <a:avLst/>
          </a:prstGeom>
          <a:noFill/>
          <a:ln/>
        </p:spPr>
        <p:txBody>
          <a:bodyPr wrap="square" lIns="0" tIns="0" rIns="0" bIns="0" rtlCol="0" anchor="t"/>
          <a:lstStyle/>
          <a:p>
            <a:pPr marL="0" indent="0" algn="l">
              <a:lnSpc>
                <a:spcPct val="105000"/>
              </a:lnSpc>
              <a:buNone/>
            </a:pPr>
            <a:r>
              <a:rPr lang="en-US" sz="1300" dirty="0">
                <a:solidFill>
                  <a:srgbClr val="071A45"/>
                </a:solidFill>
                <a:latin typeface="Calibri" pitchFamily="34" charset="0"/>
                <a:ea typeface="Calibri" pitchFamily="34" charset="-122"/>
                <a:cs typeface="Calibri" pitchFamily="34" charset="-120"/>
              </a:rPr>
              <a:t>Test with the user</a:t>
            </a:r>
            <a:endParaRPr lang="en-US" sz="1300" dirty="0"/>
          </a:p>
        </p:txBody>
      </p:sp>
      <p:sp>
        <p:nvSpPr>
          <p:cNvPr id="31" name="Text 28"/>
          <p:cNvSpPr/>
          <p:nvPr/>
        </p:nvSpPr>
        <p:spPr>
          <a:xfrm>
            <a:off x="9464040" y="4389120"/>
            <a:ext cx="2194560" cy="274320"/>
          </a:xfrm>
          <a:prstGeom prst="rect">
            <a:avLst/>
          </a:prstGeom>
          <a:noFill/>
          <a:ln/>
        </p:spPr>
        <p:txBody>
          <a:bodyPr wrap="square" lIns="0" tIns="0" rIns="0" bIns="0" rtlCol="0" anchor="t"/>
          <a:lstStyle/>
          <a:p>
            <a:pPr marL="0" indent="0" algn="l">
              <a:lnSpc>
                <a:spcPct val="105000"/>
              </a:lnSpc>
              <a:buNone/>
            </a:pPr>
            <a:r>
              <a:rPr lang="en-US" sz="1000" dirty="0">
                <a:solidFill>
                  <a:srgbClr val="071A45"/>
                </a:solidFill>
                <a:latin typeface="Calibri" pitchFamily="34" charset="0"/>
                <a:ea typeface="Calibri" pitchFamily="34" charset="-122"/>
                <a:cs typeface="Calibri" pitchFamily="34" charset="-120"/>
              </a:rPr>
              <a:t>Test in a mock parking area with real users &amp; refine — Week 5</a:t>
            </a:r>
            <a:endParaRPr lang="en-US" sz="1000" dirty="0"/>
          </a:p>
        </p:txBody>
      </p:sp>
      <p:sp>
        <p:nvSpPr>
          <p:cNvPr id="32" name="Shape 29"/>
          <p:cNvSpPr/>
          <p:nvPr/>
        </p:nvSpPr>
        <p:spPr>
          <a:xfrm>
            <a:off x="502920" y="5212080"/>
            <a:ext cx="11183112" cy="868680"/>
          </a:xfrm>
          <a:prstGeom prst="roundRect">
            <a:avLst>
              <a:gd name="adj" fmla="val 8421"/>
            </a:avLst>
          </a:prstGeom>
          <a:solidFill>
            <a:srgbClr val="F5F7FB"/>
          </a:solidFill>
          <a:ln w="12700">
            <a:solidFill>
              <a:srgbClr val="DFE4EE"/>
            </a:solidFill>
            <a:prstDash val="solid"/>
          </a:ln>
        </p:spPr>
      </p:sp>
      <p:sp>
        <p:nvSpPr>
          <p:cNvPr id="33" name="Text 30"/>
          <p:cNvSpPr/>
          <p:nvPr/>
        </p:nvSpPr>
        <p:spPr>
          <a:xfrm>
            <a:off x="822960" y="5376672"/>
            <a:ext cx="4114800" cy="237744"/>
          </a:xfrm>
          <a:prstGeom prst="rect">
            <a:avLst/>
          </a:prstGeom>
          <a:noFill/>
          <a:ln/>
        </p:spPr>
        <p:txBody>
          <a:bodyPr wrap="square" lIns="0" tIns="0" rIns="0" bIns="0" rtlCol="0" anchor="ctr"/>
          <a:lstStyle/>
          <a:p>
            <a:pPr marL="0" indent="0" algn="l">
              <a:buNone/>
            </a:pPr>
            <a:r>
              <a:rPr lang="en-US" sz="1050" b="1" kern="0" spc="60" dirty="0">
                <a:solidFill>
                  <a:srgbClr val="071A45"/>
                </a:solidFill>
                <a:latin typeface="Calibri" pitchFamily="34" charset="0"/>
                <a:ea typeface="Calibri" pitchFamily="34" charset="-122"/>
                <a:cs typeface="Calibri" pitchFamily="34" charset="-120"/>
              </a:rPr>
              <a:t>WHAT WE NEED HELP WITH</a:t>
            </a:r>
            <a:endParaRPr lang="en-US" sz="1050" dirty="0"/>
          </a:p>
        </p:txBody>
      </p:sp>
      <p:sp>
        <p:nvSpPr>
          <p:cNvPr id="34" name="Text 31"/>
          <p:cNvSpPr/>
          <p:nvPr/>
        </p:nvSpPr>
        <p:spPr>
          <a:xfrm>
            <a:off x="822960" y="5669280"/>
            <a:ext cx="10515600" cy="320040"/>
          </a:xfrm>
          <a:prstGeom prst="rect">
            <a:avLst/>
          </a:prstGeom>
          <a:noFill/>
          <a:ln/>
        </p:spPr>
        <p:txBody>
          <a:bodyPr wrap="square" lIns="0" tIns="0" rIns="0" bIns="0" rtlCol="0" anchor="t"/>
          <a:lstStyle/>
          <a:p>
            <a:pPr marL="0" indent="0" algn="l">
              <a:lnSpc>
                <a:spcPct val="105000"/>
              </a:lnSpc>
              <a:buNone/>
            </a:pPr>
            <a:r>
              <a:rPr lang="en-US" sz="1250" dirty="0">
                <a:solidFill>
                  <a:srgbClr val="071A45"/>
                </a:solidFill>
                <a:latin typeface="Calibri" pitchFamily="34" charset="0"/>
                <a:ea typeface="Calibri" pitchFamily="34" charset="-122"/>
                <a:cs typeface="Calibri" pitchFamily="34" charset="-120"/>
              </a:rPr>
              <a:t>Guidance, </a:t>
            </a:r>
            <a:r>
              <a:rPr lang="en-US" sz="1250" dirty="0" err="1">
                <a:solidFill>
                  <a:srgbClr val="071A45"/>
                </a:solidFill>
                <a:latin typeface="Calibri" pitchFamily="34" charset="0"/>
                <a:ea typeface="Calibri" pitchFamily="34" charset="-122"/>
                <a:cs typeface="Calibri" pitchFamily="34" charset="-120"/>
              </a:rPr>
              <a:t>CoE</a:t>
            </a:r>
            <a:r>
              <a:rPr lang="en-US" sz="1250" dirty="0">
                <a:solidFill>
                  <a:srgbClr val="071A45"/>
                </a:solidFill>
                <a:latin typeface="Calibri" pitchFamily="34" charset="0"/>
                <a:ea typeface="Calibri" pitchFamily="34" charset="-122"/>
                <a:cs typeface="Calibri" pitchFamily="34" charset="-120"/>
              </a:rPr>
              <a:t>/ lab access, and mentor guidance on IoT cloud integration and mobile app development</a:t>
            </a:r>
            <a:endParaRPr lang="en-US" sz="1250" dirty="0"/>
          </a:p>
        </p:txBody>
      </p:sp>
      <p:sp>
        <p:nvSpPr>
          <p:cNvPr id="35" name="Date Placeholder"/>
          <p:cNvSpPr>
            <a:spLocks noGrp="1"/>
          </p:cNvSpPr>
          <p:nvPr>
            <p:ph type="dt" sz="quarter" idx="10"/>
          </p:nvPr>
        </p:nvSpPr>
        <p:spPr>
          <a:xfrm>
            <a:off x="502920" y="6382512"/>
            <a:ext cx="2926080" cy="256032"/>
          </a:xfrm>
          <a:prstGeom prst="rect">
            <a:avLst/>
          </a:prstGeom>
        </p:spPr>
        <p:txBody>
          <a:bodyPr vert="horz" lIns="0" tIns="0" rIns="0" bIns="0" rtlCol="0" anchor="ctr"/>
          <a:lstStyle>
            <a:lvl1pPr algn="l">
              <a:defRPr sz="900">
                <a:solidFill>
                  <a:srgbClr val="8A93A8"/>
                </a:solidFill>
                <a:latin typeface="Calibri" pitchFamily="34" charset="0"/>
                <a:cs typeface="Calibri" pitchFamily="34" charset="0"/>
              </a:defRPr>
            </a:lvl1pPr>
          </a:lstStyle>
          <a:p>
            <a:fld id="{071D1DDB-2F7E-4C64-99E1-1DC7917DD92A}" type="datetime1">
              <a:rPr lang="en-IN" smtClean="0"/>
              <a:t>25-07-2026</a:t>
            </a:fld>
            <a:endParaRPr lang="en-IN"/>
          </a:p>
        </p:txBody>
      </p:sp>
      <p:sp>
        <p:nvSpPr>
          <p:cNvPr id="36" name="Footer Placeholder"/>
          <p:cNvSpPr>
            <a:spLocks noGrp="1"/>
          </p:cNvSpPr>
          <p:nvPr>
            <p:ph type="ftr" sz="quarter" idx="11"/>
          </p:nvPr>
        </p:nvSpPr>
        <p:spPr>
          <a:xfrm>
            <a:off x="3657600" y="6382512"/>
            <a:ext cx="4873752" cy="256032"/>
          </a:xfrm>
          <a:prstGeom prst="rect">
            <a:avLst/>
          </a:prstGeom>
        </p:spPr>
        <p:txBody>
          <a:bodyPr vert="horz" lIns="0" tIns="0" rIns="0" bIns="0" rtlCol="0" anchor="ctr"/>
          <a:lstStyle>
            <a:lvl1pPr algn="ctr">
              <a:defRPr sz="900">
                <a:solidFill>
                  <a:srgbClr val="8A93A8"/>
                </a:solidFill>
                <a:latin typeface="Calibri" pitchFamily="34" charset="0"/>
                <a:cs typeface="Calibri" pitchFamily="34" charset="0"/>
              </a:defRPr>
            </a:lvl1pPr>
          </a:lstStyle>
          <a:p>
            <a:r>
              <a:rPr lang="en-IN"/>
              <a:t>Sri Eshwar College of Engineering  ·  Design Thinking &amp; Innovation</a:t>
            </a:r>
          </a:p>
        </p:txBody>
      </p:sp>
      <p:sp>
        <p:nvSpPr>
          <p:cNvPr id="37" name="Slide Number Placeholder"/>
          <p:cNvSpPr>
            <a:spLocks noGrp="1"/>
          </p:cNvSpPr>
          <p:nvPr>
            <p:ph type="sldNum" sz="quarter" idx="12"/>
          </p:nvPr>
        </p:nvSpPr>
        <p:spPr>
          <a:xfrm>
            <a:off x="10424160" y="6382512"/>
            <a:ext cx="1261872" cy="256032"/>
          </a:xfrm>
          <a:prstGeom prst="rect">
            <a:avLst/>
          </a:prstGeom>
        </p:spPr>
        <p:txBody>
          <a:bodyPr vert="horz" lIns="0" tIns="0" rIns="0" bIns="0" rtlCol="0" anchor="ctr"/>
          <a:lstStyle>
            <a:lvl1pPr algn="r">
              <a:defRPr sz="900">
                <a:solidFill>
                  <a:srgbClr val="8A93A8"/>
                </a:solidFill>
                <a:latin typeface="Calibri" pitchFamily="34" charset="0"/>
                <a:cs typeface="Calibri" pitchFamily="34" charset="0"/>
              </a:defRPr>
            </a:lvl1pPr>
          </a:lstStyle>
          <a:p>
            <a:fld id="{E57C6560-0134-4A33-9A70-89D55F08C8BE}" type="slidenum">
              <a:rPr lang="en-IN" smtClean="0"/>
              <a:t>13</a:t>
            </a:fld>
            <a:endParaRPr lang="en-IN"/>
          </a:p>
        </p:txBody>
      </p:sp>
      <p:pic>
        <p:nvPicPr>
          <p:cNvPr id="38" name="Picture 37">
            <a:extLst>
              <a:ext uri="{FF2B5EF4-FFF2-40B4-BE49-F238E27FC236}">
                <a16:creationId xmlns:a16="http://schemas.microsoft.com/office/drawing/2014/main" id="{5F6858B6-56EF-541B-2198-4A2398ED5DBD}"/>
              </a:ext>
            </a:extLst>
          </p:cNvPr>
          <p:cNvPicPr>
            <a:picLocks noChangeAspect="1"/>
          </p:cNvPicPr>
          <p:nvPr/>
        </p:nvPicPr>
        <p:blipFill>
          <a:blip r:embed="rId4"/>
          <a:stretch>
            <a:fillRect/>
          </a:stretch>
        </p:blipFill>
        <p:spPr>
          <a:xfrm>
            <a:off x="10363654" y="371776"/>
            <a:ext cx="1325426" cy="60350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1A45"/>
        </a:solidFill>
        <a:effectLst/>
      </p:bgPr>
    </p:bg>
    <p:spTree>
      <p:nvGrpSpPr>
        <p:cNvPr id="1" name=""/>
        <p:cNvGrpSpPr/>
        <p:nvPr/>
      </p:nvGrpSpPr>
      <p:grpSpPr>
        <a:xfrm>
          <a:off x="0" y="0"/>
          <a:ext cx="0" cy="0"/>
          <a:chOff x="0" y="0"/>
          <a:chExt cx="0" cy="0"/>
        </a:xfrm>
      </p:grpSpPr>
      <p:sp>
        <p:nvSpPr>
          <p:cNvPr id="2" name="Shape 0"/>
          <p:cNvSpPr/>
          <p:nvPr/>
        </p:nvSpPr>
        <p:spPr>
          <a:xfrm>
            <a:off x="8229600" y="-2194560"/>
            <a:ext cx="6583680" cy="6583680"/>
          </a:xfrm>
          <a:prstGeom prst="ellipse">
            <a:avLst/>
          </a:prstGeom>
          <a:solidFill>
            <a:srgbClr val="0D2F7A">
              <a:alpha val="50000"/>
            </a:srgbClr>
          </a:solidFill>
          <a:ln/>
        </p:spPr>
      </p:sp>
      <p:sp>
        <p:nvSpPr>
          <p:cNvPr id="3" name="Shape 1"/>
          <p:cNvSpPr/>
          <p:nvPr/>
        </p:nvSpPr>
        <p:spPr>
          <a:xfrm>
            <a:off x="-2377440" y="3474720"/>
            <a:ext cx="5852160" cy="5852160"/>
          </a:xfrm>
          <a:prstGeom prst="ellipse">
            <a:avLst/>
          </a:prstGeom>
          <a:solidFill>
            <a:srgbClr val="0D2F7A">
              <a:alpha val="42000"/>
            </a:srgbClr>
          </a:solidFill>
          <a:ln/>
        </p:spPr>
      </p:sp>
      <p:sp>
        <p:nvSpPr>
          <p:cNvPr id="4" name="Text 2"/>
          <p:cNvSpPr/>
          <p:nvPr/>
        </p:nvSpPr>
        <p:spPr>
          <a:xfrm>
            <a:off x="457200" y="2148840"/>
            <a:ext cx="11274552" cy="12801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FFC01E"/>
                </a:solidFill>
                <a:effectLst/>
                <a:uLnTx/>
                <a:uFillTx/>
                <a:latin typeface="Calibri" pitchFamily="34" charset="0"/>
                <a:ea typeface="Calibri" pitchFamily="34" charset="-122"/>
                <a:cs typeface="Calibri" pitchFamily="34" charset="-120"/>
              </a:rPr>
              <a:t>Thank You!</a:t>
            </a:r>
            <a:endParaRPr kumimoji="0" lang="en-US" sz="7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457200" y="3520440"/>
            <a:ext cx="1127455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0" cap="none" spc="50" normalizeH="0" baseline="0" noProof="0" dirty="0">
                <a:ln>
                  <a:noFill/>
                </a:ln>
                <a:solidFill>
                  <a:srgbClr val="FFFFFF"/>
                </a:solidFill>
                <a:effectLst/>
                <a:uLnTx/>
                <a:uFillTx/>
                <a:latin typeface="Calibri" pitchFamily="34" charset="0"/>
                <a:ea typeface="Calibri" pitchFamily="34" charset="-122"/>
                <a:cs typeface="Calibri" pitchFamily="34" charset="-120"/>
              </a:rPr>
              <a:t>Questions, feedback &amp; ideas are always welcome.</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4800600"/>
            <a:ext cx="1127455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CE4D"/>
                </a:solidFill>
                <a:effectLst/>
                <a:uLnTx/>
                <a:uFillTx/>
                <a:latin typeface="Calibri" pitchFamily="34" charset="0"/>
                <a:ea typeface="Calibri" pitchFamily="34" charset="-122"/>
                <a:cs typeface="Calibri" pitchFamily="34" charset="-120"/>
              </a:rPr>
              <a:t>Sri Eshwar College of Engineering</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 y="5212080"/>
            <a:ext cx="11274552"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100" normalizeH="0" baseline="0" noProof="0" dirty="0">
                <a:ln>
                  <a:noFill/>
                </a:ln>
                <a:solidFill>
                  <a:srgbClr val="C3CDE8"/>
                </a:solidFill>
                <a:effectLst/>
                <a:uLnTx/>
                <a:uFillTx/>
                <a:latin typeface="Calibri" pitchFamily="34" charset="0"/>
                <a:ea typeface="Calibri" pitchFamily="34" charset="-122"/>
                <a:cs typeface="Calibri" pitchFamily="34" charset="-120"/>
              </a:rPr>
              <a:t>Sri Eshwar Innovation Studio ·  Coimbatore | Tamilnadu</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472</TotalTime>
  <Words>2018</Words>
  <Application>Microsoft Office PowerPoint</Application>
  <PresentationFormat>Widescreen</PresentationFormat>
  <Paragraphs>266</Paragraphs>
  <Slides>14</Slides>
  <Notes>14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14</vt:i4>
      </vt:variant>
    </vt:vector>
  </HeadingPairs>
  <TitlesOfParts>
    <vt:vector size="19" baseType="lpstr">
      <vt:lpstr>Aptos</vt:lpstr>
      <vt:lpstr>Arial</vt:lpstr>
      <vt:lpstr>Calibri</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Thinking &amp; Innovation - Idea Showcase Template</dc:title>
  <dc:subject>PptxGenJS Presentation</dc:subject>
  <dc:creator>Sri Eshwar College of Engineering</dc:creator>
  <cp:lastModifiedBy>Sri dharan</cp:lastModifiedBy>
  <cp:revision>28</cp:revision>
  <dcterms:created xsi:type="dcterms:W3CDTF">2026-07-23T03:19:16Z</dcterms:created>
  <dcterms:modified xsi:type="dcterms:W3CDTF">2026-07-25T08:59:28Z</dcterms:modified>
</cp:coreProperties>
</file>